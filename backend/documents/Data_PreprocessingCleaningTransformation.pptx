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94" r:id="rId1"/>
  </p:sldMasterIdLst>
  <p:notesMasterIdLst>
    <p:notesMasterId r:id="rId119"/>
  </p:notesMasterIdLst>
  <p:sldIdLst>
    <p:sldId id="256" r:id="rId2"/>
    <p:sldId id="257" r:id="rId3"/>
    <p:sldId id="261" r:id="rId4"/>
    <p:sldId id="259" r:id="rId5"/>
    <p:sldId id="260" r:id="rId6"/>
    <p:sldId id="262" r:id="rId7"/>
    <p:sldId id="263" r:id="rId8"/>
    <p:sldId id="264" r:id="rId9"/>
    <p:sldId id="266" r:id="rId10"/>
    <p:sldId id="265" r:id="rId11"/>
    <p:sldId id="267" r:id="rId12"/>
    <p:sldId id="268" r:id="rId13"/>
    <p:sldId id="269" r:id="rId14"/>
    <p:sldId id="270" r:id="rId15"/>
    <p:sldId id="271" r:id="rId16"/>
    <p:sldId id="273" r:id="rId17"/>
    <p:sldId id="274" r:id="rId18"/>
    <p:sldId id="272" r:id="rId19"/>
    <p:sldId id="275" r:id="rId20"/>
    <p:sldId id="276" r:id="rId21"/>
    <p:sldId id="277" r:id="rId22"/>
    <p:sldId id="278" r:id="rId23"/>
    <p:sldId id="290" r:id="rId24"/>
    <p:sldId id="279" r:id="rId25"/>
    <p:sldId id="291" r:id="rId26"/>
    <p:sldId id="280" r:id="rId27"/>
    <p:sldId id="281" r:id="rId28"/>
    <p:sldId id="292" r:id="rId29"/>
    <p:sldId id="283" r:id="rId30"/>
    <p:sldId id="293" r:id="rId31"/>
    <p:sldId id="285" r:id="rId32"/>
    <p:sldId id="286" r:id="rId33"/>
    <p:sldId id="287" r:id="rId34"/>
    <p:sldId id="294" r:id="rId35"/>
    <p:sldId id="288" r:id="rId36"/>
    <p:sldId id="295" r:id="rId37"/>
    <p:sldId id="284" r:id="rId38"/>
    <p:sldId id="297" r:id="rId39"/>
    <p:sldId id="289" r:id="rId40"/>
    <p:sldId id="298" r:id="rId41"/>
    <p:sldId id="299" r:id="rId42"/>
    <p:sldId id="300" r:id="rId43"/>
    <p:sldId id="301" r:id="rId44"/>
    <p:sldId id="302" r:id="rId45"/>
    <p:sldId id="303" r:id="rId46"/>
    <p:sldId id="304" r:id="rId47"/>
    <p:sldId id="305" r:id="rId48"/>
    <p:sldId id="306" r:id="rId49"/>
    <p:sldId id="307" r:id="rId50"/>
    <p:sldId id="308" r:id="rId51"/>
    <p:sldId id="309" r:id="rId52"/>
    <p:sldId id="311" r:id="rId53"/>
    <p:sldId id="312" r:id="rId54"/>
    <p:sldId id="313" r:id="rId55"/>
    <p:sldId id="314" r:id="rId56"/>
    <p:sldId id="315" r:id="rId57"/>
    <p:sldId id="316" r:id="rId58"/>
    <p:sldId id="317" r:id="rId59"/>
    <p:sldId id="318" r:id="rId60"/>
    <p:sldId id="319" r:id="rId61"/>
    <p:sldId id="320" r:id="rId62"/>
    <p:sldId id="321" r:id="rId63"/>
    <p:sldId id="343" r:id="rId64"/>
    <p:sldId id="344" r:id="rId65"/>
    <p:sldId id="322" r:id="rId66"/>
    <p:sldId id="323" r:id="rId67"/>
    <p:sldId id="345" r:id="rId68"/>
    <p:sldId id="324" r:id="rId69"/>
    <p:sldId id="325" r:id="rId70"/>
    <p:sldId id="337" r:id="rId71"/>
    <p:sldId id="326" r:id="rId72"/>
    <p:sldId id="347" r:id="rId73"/>
    <p:sldId id="328" r:id="rId74"/>
    <p:sldId id="338" r:id="rId75"/>
    <p:sldId id="329" r:id="rId76"/>
    <p:sldId id="333" r:id="rId77"/>
    <p:sldId id="340" r:id="rId78"/>
    <p:sldId id="348" r:id="rId79"/>
    <p:sldId id="334" r:id="rId80"/>
    <p:sldId id="341" r:id="rId81"/>
    <p:sldId id="335" r:id="rId82"/>
    <p:sldId id="342" r:id="rId83"/>
    <p:sldId id="349" r:id="rId84"/>
    <p:sldId id="350" r:id="rId85"/>
    <p:sldId id="390" r:id="rId86"/>
    <p:sldId id="351" r:id="rId87"/>
    <p:sldId id="362" r:id="rId88"/>
    <p:sldId id="352" r:id="rId89"/>
    <p:sldId id="354" r:id="rId90"/>
    <p:sldId id="355" r:id="rId91"/>
    <p:sldId id="356" r:id="rId92"/>
    <p:sldId id="357" r:id="rId93"/>
    <p:sldId id="358" r:id="rId94"/>
    <p:sldId id="359" r:id="rId95"/>
    <p:sldId id="361" r:id="rId96"/>
    <p:sldId id="363" r:id="rId97"/>
    <p:sldId id="360" r:id="rId98"/>
    <p:sldId id="364" r:id="rId99"/>
    <p:sldId id="365" r:id="rId100"/>
    <p:sldId id="366" r:id="rId101"/>
    <p:sldId id="367" r:id="rId102"/>
    <p:sldId id="368" r:id="rId103"/>
    <p:sldId id="369" r:id="rId104"/>
    <p:sldId id="370" r:id="rId105"/>
    <p:sldId id="371" r:id="rId106"/>
    <p:sldId id="372" r:id="rId107"/>
    <p:sldId id="385" r:id="rId108"/>
    <p:sldId id="391" r:id="rId109"/>
    <p:sldId id="374" r:id="rId110"/>
    <p:sldId id="375" r:id="rId111"/>
    <p:sldId id="376" r:id="rId112"/>
    <p:sldId id="373" r:id="rId113"/>
    <p:sldId id="377" r:id="rId114"/>
    <p:sldId id="378" r:id="rId115"/>
    <p:sldId id="382" r:id="rId116"/>
    <p:sldId id="383" r:id="rId117"/>
    <p:sldId id="389" r:id="rId1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67" d="100"/>
          <a:sy n="67" d="100"/>
        </p:scale>
        <p:origin x="384" y="4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notesMaster" Target="notesMasters/notesMaster1.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9214D0-AF68-4821-97FF-5BC3D740DF63}" type="datetimeFigureOut">
              <a:rPr lang="en-US" smtClean="0"/>
              <a:t>8/5/2025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5FEF08-9FBB-470D-A492-2AD14C087967}" type="slidenum">
              <a:rPr lang="en-US" smtClean="0"/>
              <a:t>‹#›</a:t>
            </a:fld>
            <a:endParaRPr lang="en-US"/>
          </a:p>
        </p:txBody>
      </p:sp>
    </p:spTree>
    <p:extLst>
      <p:ext uri="{BB962C8B-B14F-4D97-AF65-F5344CB8AC3E}">
        <p14:creationId xmlns:p14="http://schemas.microsoft.com/office/powerpoint/2010/main" val="28380143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95A7F1F-7AA5-4CAC-BAD5-42FEAC8C6AEB}" type="datetime1">
              <a:rPr lang="en-US" smtClean="0"/>
              <a:t>8/5/2025</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85059901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C93EEE-D9EF-405B-B243-0BB37BF794C7}" type="datetime1">
              <a:rPr lang="en-US" smtClean="0"/>
              <a:t>8/5/2025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4671788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05F391-0A17-4B4D-90C5-72C09E6C0FCD}" type="datetime1">
              <a:rPr lang="en-US" smtClean="0"/>
              <a:t>8/5/2025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9592846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D10D6C8-ADD4-4FC6-8717-E3464DC2ACA0}" type="datetime1">
              <a:rPr lang="en-US" smtClean="0"/>
              <a:t>8/5/2025</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484036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992DFAA-4BDF-42F1-B5FC-9E8AFFC40105}" type="datetime1">
              <a:rPr lang="en-US" smtClean="0"/>
              <a:t>8/5/2025</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322156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2F8E947-5674-4C88-BE27-0347BD1E7630}" type="datetime1">
              <a:rPr lang="en-US" smtClean="0"/>
              <a:t>8/5/2025</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7473863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E8C5FF6-019F-4F0F-925F-AC410BFA1CE4}" type="datetime1">
              <a:rPr lang="en-US" smtClean="0"/>
              <a:t>8/5/2025</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500759555"/>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684F1A0-D741-4238-9A34-0B91B137BFBD}" type="datetime1">
              <a:rPr lang="en-US" smtClean="0"/>
              <a:t>8/5/2025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8029672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7D9BE00-6337-457F-B329-ED891FEF700D}" type="datetime1">
              <a:rPr lang="en-US" smtClean="0"/>
              <a:t>8/5/2025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5142513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9AA1FA8-AA60-43CC-B57C-890E64519F30}" type="datetime1">
              <a:rPr lang="en-US" smtClean="0"/>
              <a:t>8/5/2025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862225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EC7780D-D70D-4577-AAE9-EBF36654947D}" type="datetime1">
              <a:rPr lang="en-US" smtClean="0"/>
              <a:t>8/5/2025</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30EA680-D336-4FF7-8B7A-9848BB0A1C32}"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8092561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AFE13D6A-11B7-41BE-B28E-7C6C4C7F7915}" type="datetime1">
              <a:rPr lang="en-US" smtClean="0"/>
              <a:t>8/5/2025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463329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159EDEE-871C-4DF6-8C4A-0EE830B399CD}" type="datetime1">
              <a:rPr lang="en-US" smtClean="0"/>
              <a:t>8/5/2025</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30EA680-D336-4FF7-8B7A-9848BB0A1C32}"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2093273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C126A6F-FD43-4C00-8E49-61BC119D3E86}" type="datetime1">
              <a:rPr lang="en-US" smtClean="0"/>
              <a:t>8/5/2025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6219759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B7DF24-9F7C-47AB-992C-0E4EC7216313}" type="datetime1">
              <a:rPr lang="en-US" smtClean="0"/>
              <a:t>8/5/2025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6947217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386A06-954E-4D69-BAA2-15B17F4734AA}" type="datetime1">
              <a:rPr lang="en-US" smtClean="0"/>
              <a:t>8/5/2025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0519750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6777A57F-AF5F-4DDB-9504-F8E95178EF9B}" type="datetime1">
              <a:rPr lang="en-US" smtClean="0"/>
              <a:t>8/5/2025</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1440419381"/>
      </p:ext>
    </p:extLst>
  </p:cSld>
  <p:clrMap bg1="lt1" tx1="dk1" bg2="lt2" tx2="dk2" accent1="accent1" accent2="accent2" accent3="accent3" accent4="accent4" accent5="accent5" accent6="accent6" hlink="hlink" folHlink="folHlink"/>
  <p:sldLayoutIdLst>
    <p:sldLayoutId id="2147483895" r:id="rId1"/>
    <p:sldLayoutId id="2147483896" r:id="rId2"/>
    <p:sldLayoutId id="2147483897" r:id="rId3"/>
    <p:sldLayoutId id="2147483898" r:id="rId4"/>
    <p:sldLayoutId id="2147483899" r:id="rId5"/>
    <p:sldLayoutId id="2147483900" r:id="rId6"/>
    <p:sldLayoutId id="2147483901" r:id="rId7"/>
    <p:sldLayoutId id="2147483902" r:id="rId8"/>
    <p:sldLayoutId id="2147483903" r:id="rId9"/>
    <p:sldLayoutId id="2147483904" r:id="rId10"/>
    <p:sldLayoutId id="2147483905" r:id="rId11"/>
    <p:sldLayoutId id="2147483906" r:id="rId12"/>
    <p:sldLayoutId id="2147483907" r:id="rId13"/>
    <p:sldLayoutId id="2147483908" r:id="rId14"/>
    <p:sldLayoutId id="2147483909" r:id="rId15"/>
    <p:sldLayoutId id="2147483910" r:id="rId16"/>
  </p:sldLayoutIdLst>
  <p:hf hdr="0" ftr="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dataset.docx"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080622"/>
            <a:ext cx="8915399" cy="2120318"/>
          </a:xfrm>
        </p:spPr>
        <p:txBody>
          <a:bodyPr/>
          <a:lstStyle/>
          <a:p>
            <a:r>
              <a:rPr lang="en-US" dirty="0"/>
              <a:t>Data Preprocessing</a:t>
            </a:r>
            <a:endParaRPr lang="en-US" sz="3600" dirty="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CA8BD-0994-4C00-9BFA-8D58F55E6A5E}"/>
              </a:ext>
            </a:extLst>
          </p:cNvPr>
          <p:cNvSpPr>
            <a:spLocks noGrp="1"/>
          </p:cNvSpPr>
          <p:nvPr>
            <p:ph type="title"/>
          </p:nvPr>
        </p:nvSpPr>
        <p:spPr>
          <a:xfrm>
            <a:off x="838200" y="365125"/>
            <a:ext cx="10515600" cy="315912"/>
          </a:xfrm>
        </p:spPr>
        <p:txBody>
          <a:bodyPr>
            <a:normAutofit fontScale="90000"/>
          </a:bodyPr>
          <a:lstStyle/>
          <a:p>
            <a:endParaRPr lang="en-US" b="1" dirty="0"/>
          </a:p>
        </p:txBody>
      </p:sp>
      <p:sp>
        <p:nvSpPr>
          <p:cNvPr id="3" name="Content Placeholder 2">
            <a:extLst>
              <a:ext uri="{FF2B5EF4-FFF2-40B4-BE49-F238E27FC236}">
                <a16:creationId xmlns:a16="http://schemas.microsoft.com/office/drawing/2014/main" id="{0047B471-E377-403E-986A-65AF2CA67780}"/>
              </a:ext>
            </a:extLst>
          </p:cNvPr>
          <p:cNvSpPr>
            <a:spLocks noGrp="1"/>
          </p:cNvSpPr>
          <p:nvPr>
            <p:ph idx="1"/>
          </p:nvPr>
        </p:nvSpPr>
        <p:spPr>
          <a:xfrm>
            <a:off x="838200" y="1273745"/>
            <a:ext cx="10515600" cy="4903218"/>
          </a:xfrm>
        </p:spPr>
        <p:txBody>
          <a:bodyPr vert="horz" lIns="91440" tIns="45720" rIns="91440" bIns="45720" rtlCol="0" anchor="t">
            <a:normAutofit/>
          </a:bodyPr>
          <a:lstStyle/>
          <a:p>
            <a:pPr algn="just"/>
            <a:r>
              <a:rPr lang="en-US" sz="2800" b="1" dirty="0"/>
              <a:t>What Is Data Mining?</a:t>
            </a:r>
          </a:p>
          <a:p>
            <a:pPr algn="just"/>
            <a:r>
              <a:rPr lang="en-US" sz="2000" dirty="0"/>
              <a:t>Many people treat data mining as a synonym for another popularly used term, knowledge discovery from data, or KDD, while others view data mining as merely an essential step in the process of knowledge discovery. </a:t>
            </a:r>
          </a:p>
        </p:txBody>
      </p:sp>
      <p:sp>
        <p:nvSpPr>
          <p:cNvPr id="4" name="Date Placeholder 3">
            <a:extLst>
              <a:ext uri="{FF2B5EF4-FFF2-40B4-BE49-F238E27FC236}">
                <a16:creationId xmlns:a16="http://schemas.microsoft.com/office/drawing/2014/main" id="{01BDB144-045B-4748-BDD5-34BCD4360C5A}"/>
              </a:ext>
            </a:extLst>
          </p:cNvPr>
          <p:cNvSpPr>
            <a:spLocks noGrp="1"/>
          </p:cNvSpPr>
          <p:nvPr>
            <p:ph type="dt" sz="half" idx="10"/>
          </p:nvPr>
        </p:nvSpPr>
        <p:spPr/>
        <p:txBody>
          <a:bodyPr/>
          <a:lstStyle/>
          <a:p>
            <a:fld id="{84B70591-F60D-4FB8-9BB0-8D8C39E77923}" type="datetime1">
              <a:rPr lang="en-US" smtClean="0"/>
              <a:t>8/5/2025</a:t>
            </a:fld>
            <a:endParaRPr lang="en-US" dirty="0"/>
          </a:p>
        </p:txBody>
      </p:sp>
      <p:sp>
        <p:nvSpPr>
          <p:cNvPr id="5" name="Slide Number Placeholder 4">
            <a:extLst>
              <a:ext uri="{FF2B5EF4-FFF2-40B4-BE49-F238E27FC236}">
                <a16:creationId xmlns:a16="http://schemas.microsoft.com/office/drawing/2014/main" id="{451ED40F-38B1-45A2-97BA-DD48DD9DFD10}"/>
              </a:ext>
            </a:extLst>
          </p:cNvPr>
          <p:cNvSpPr>
            <a:spLocks noGrp="1"/>
          </p:cNvSpPr>
          <p:nvPr>
            <p:ph type="sldNum" sz="quarter" idx="12"/>
          </p:nvPr>
        </p:nvSpPr>
        <p:spPr/>
        <p:txBody>
          <a:bodyPr/>
          <a:lstStyle/>
          <a:p>
            <a:fld id="{330EA680-D336-4FF7-8B7A-9848BB0A1C32}" type="slidenum">
              <a:rPr lang="en-US" smtClean="0"/>
              <a:t>2</a:t>
            </a:fld>
            <a:endParaRPr lang="en-US"/>
          </a:p>
        </p:txBody>
      </p:sp>
    </p:spTree>
    <p:extLst>
      <p:ext uri="{BB962C8B-B14F-4D97-AF65-F5344CB8AC3E}">
        <p14:creationId xmlns:p14="http://schemas.microsoft.com/office/powerpoint/2010/main" val="21372741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56A4C-F7F3-4626-BD7C-3B0C0F25716E}"/>
              </a:ext>
            </a:extLst>
          </p:cNvPr>
          <p:cNvSpPr>
            <a:spLocks noGrp="1"/>
          </p:cNvSpPr>
          <p:nvPr>
            <p:ph type="title"/>
          </p:nvPr>
        </p:nvSpPr>
        <p:spPr>
          <a:xfrm>
            <a:off x="1285461" y="624110"/>
            <a:ext cx="10219151" cy="322667"/>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C8E1E40C-9791-416F-B740-CC7606B61E30}"/>
              </a:ext>
            </a:extLst>
          </p:cNvPr>
          <p:cNvSpPr>
            <a:spLocks noGrp="1"/>
          </p:cNvSpPr>
          <p:nvPr>
            <p:ph idx="1"/>
          </p:nvPr>
        </p:nvSpPr>
        <p:spPr>
          <a:xfrm>
            <a:off x="719529" y="1094282"/>
            <a:ext cx="10785084" cy="4816941"/>
          </a:xfrm>
        </p:spPr>
        <p:txBody>
          <a:bodyPr/>
          <a:lstStyle/>
          <a:p>
            <a:pPr algn="just"/>
            <a:r>
              <a:rPr lang="en-US" sz="2000" dirty="0"/>
              <a:t>The knowledge discovery process is shown in Figure below as an iterative sequence  </a:t>
            </a:r>
          </a:p>
          <a:p>
            <a:pPr algn="just"/>
            <a:endParaRPr lang="en-US" sz="2000" dirty="0"/>
          </a:p>
          <a:p>
            <a:endParaRPr lang="en-US" dirty="0"/>
          </a:p>
        </p:txBody>
      </p:sp>
      <p:pic>
        <p:nvPicPr>
          <p:cNvPr id="5" name="Picture 4">
            <a:extLst>
              <a:ext uri="{FF2B5EF4-FFF2-40B4-BE49-F238E27FC236}">
                <a16:creationId xmlns:a16="http://schemas.microsoft.com/office/drawing/2014/main" id="{CA887BF3-0A15-4769-8E48-98F07D1535E9}"/>
              </a:ext>
            </a:extLst>
          </p:cNvPr>
          <p:cNvPicPr>
            <a:picLocks noChangeAspect="1"/>
          </p:cNvPicPr>
          <p:nvPr/>
        </p:nvPicPr>
        <p:blipFill>
          <a:blip r:embed="rId2"/>
          <a:stretch>
            <a:fillRect/>
          </a:stretch>
        </p:blipFill>
        <p:spPr>
          <a:xfrm>
            <a:off x="2878111" y="1543986"/>
            <a:ext cx="5951095" cy="4689903"/>
          </a:xfrm>
          <a:prstGeom prst="rect">
            <a:avLst/>
          </a:prstGeom>
        </p:spPr>
      </p:pic>
      <p:sp>
        <p:nvSpPr>
          <p:cNvPr id="4" name="Date Placeholder 3">
            <a:extLst>
              <a:ext uri="{FF2B5EF4-FFF2-40B4-BE49-F238E27FC236}">
                <a16:creationId xmlns:a16="http://schemas.microsoft.com/office/drawing/2014/main" id="{B8F5CCD9-4522-4181-90EF-D8FC017B14E9}"/>
              </a:ext>
            </a:extLst>
          </p:cNvPr>
          <p:cNvSpPr>
            <a:spLocks noGrp="1"/>
          </p:cNvSpPr>
          <p:nvPr>
            <p:ph type="dt" sz="half" idx="10"/>
          </p:nvPr>
        </p:nvSpPr>
        <p:spPr/>
        <p:txBody>
          <a:bodyPr/>
          <a:lstStyle/>
          <a:p>
            <a:fld id="{721D012B-0614-41B2-8A5E-20A9B415C2ED}" type="datetime1">
              <a:rPr lang="en-US" smtClean="0"/>
              <a:t>8/5/2025</a:t>
            </a:fld>
            <a:endParaRPr lang="en-US" dirty="0"/>
          </a:p>
        </p:txBody>
      </p:sp>
      <p:sp>
        <p:nvSpPr>
          <p:cNvPr id="6" name="Slide Number Placeholder 5">
            <a:extLst>
              <a:ext uri="{FF2B5EF4-FFF2-40B4-BE49-F238E27FC236}">
                <a16:creationId xmlns:a16="http://schemas.microsoft.com/office/drawing/2014/main" id="{D1757F4C-FC79-45B0-A729-85486370BFC8}"/>
              </a:ext>
            </a:extLst>
          </p:cNvPr>
          <p:cNvSpPr>
            <a:spLocks noGrp="1"/>
          </p:cNvSpPr>
          <p:nvPr>
            <p:ph type="sldNum" sz="quarter" idx="12"/>
          </p:nvPr>
        </p:nvSpPr>
        <p:spPr/>
        <p:txBody>
          <a:bodyPr/>
          <a:lstStyle/>
          <a:p>
            <a:fld id="{330EA680-D336-4FF7-8B7A-9848BB0A1C32}" type="slidenum">
              <a:rPr lang="en-US" smtClean="0"/>
              <a:t>3</a:t>
            </a:fld>
            <a:endParaRPr lang="en-US"/>
          </a:p>
        </p:txBody>
      </p:sp>
    </p:spTree>
    <p:extLst>
      <p:ext uri="{BB962C8B-B14F-4D97-AF65-F5344CB8AC3E}">
        <p14:creationId xmlns:p14="http://schemas.microsoft.com/office/powerpoint/2010/main" val="15531712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20018-25B3-45B2-B2D5-105ABE397BC3}"/>
              </a:ext>
            </a:extLst>
          </p:cNvPr>
          <p:cNvSpPr>
            <a:spLocks noGrp="1"/>
          </p:cNvSpPr>
          <p:nvPr>
            <p:ph type="title"/>
          </p:nvPr>
        </p:nvSpPr>
        <p:spPr>
          <a:xfrm>
            <a:off x="838200" y="365125"/>
            <a:ext cx="10515600" cy="232884"/>
          </a:xfrm>
        </p:spPr>
        <p:txBody>
          <a:bodyPr>
            <a:normAutofit fontScale="90000"/>
          </a:bodyPr>
          <a:lstStyle/>
          <a:p>
            <a:endParaRPr lang="en-US"/>
          </a:p>
        </p:txBody>
      </p:sp>
      <p:sp>
        <p:nvSpPr>
          <p:cNvPr id="3" name="Content Placeholder 2">
            <a:extLst>
              <a:ext uri="{FF2B5EF4-FFF2-40B4-BE49-F238E27FC236}">
                <a16:creationId xmlns:a16="http://schemas.microsoft.com/office/drawing/2014/main" id="{242637C7-35B4-4852-9EAA-49AC6E4F611A}"/>
              </a:ext>
            </a:extLst>
          </p:cNvPr>
          <p:cNvSpPr>
            <a:spLocks noGrp="1"/>
          </p:cNvSpPr>
          <p:nvPr>
            <p:ph idx="1"/>
          </p:nvPr>
        </p:nvSpPr>
        <p:spPr>
          <a:xfrm>
            <a:off x="838200" y="1351722"/>
            <a:ext cx="10515600" cy="4825240"/>
          </a:xfrm>
        </p:spPr>
        <p:txBody>
          <a:bodyPr vert="horz" lIns="91440" tIns="45720" rIns="91440" bIns="45720" rtlCol="0" anchor="t">
            <a:normAutofit lnSpcReduction="10000"/>
          </a:bodyPr>
          <a:lstStyle/>
          <a:p>
            <a:pPr algn="just"/>
            <a:r>
              <a:rPr lang="en-US" sz="2000" dirty="0"/>
              <a:t>The knowledge discovery process has the following steps:</a:t>
            </a:r>
          </a:p>
          <a:p>
            <a:pPr algn="just"/>
            <a:r>
              <a:rPr lang="en-US" sz="2000" dirty="0"/>
              <a:t>1. Data cleaning (to remove noise and inconsistent data) </a:t>
            </a:r>
          </a:p>
          <a:p>
            <a:pPr algn="just"/>
            <a:r>
              <a:rPr lang="en-US" sz="2000" dirty="0"/>
              <a:t>2. Data integration (where multiple data sources may be combined)</a:t>
            </a:r>
          </a:p>
          <a:p>
            <a:pPr algn="just"/>
            <a:r>
              <a:rPr lang="en-US" sz="2000" dirty="0"/>
              <a:t>3. Data selection (where data relevant to the analysis task are retrieved from the database) </a:t>
            </a:r>
          </a:p>
          <a:p>
            <a:pPr algn="just"/>
            <a:r>
              <a:rPr lang="en-US" sz="2000" dirty="0"/>
              <a:t>4. Data transformation (where data are transformed and consolidated into forms appropriate for mining by performing summary or aggregation operations)</a:t>
            </a:r>
          </a:p>
          <a:p>
            <a:pPr algn="just"/>
            <a:r>
              <a:rPr lang="en-US" sz="2000" dirty="0"/>
              <a:t> 5. Data mining (an essential process where intelligent methods are applied to extract data patterns) </a:t>
            </a:r>
          </a:p>
          <a:p>
            <a:pPr algn="just"/>
            <a:r>
              <a:rPr lang="en-US" sz="2000" dirty="0"/>
              <a:t>6. Pattern evaluation (to identify the truly interesting patterns representing knowledge based on interestingness measures)</a:t>
            </a:r>
          </a:p>
          <a:p>
            <a:pPr algn="just"/>
            <a:r>
              <a:rPr lang="en-US" sz="2000" dirty="0"/>
              <a:t>7. Knowledge presentation (where visualization and knowledge representation techniques are used to present mined knowledge to users)</a:t>
            </a:r>
            <a:endParaRPr lang="en-US" sz="2000" dirty="0">
              <a:cs typeface="Calibri"/>
            </a:endParaRPr>
          </a:p>
        </p:txBody>
      </p:sp>
      <p:sp>
        <p:nvSpPr>
          <p:cNvPr id="4" name="Date Placeholder 3">
            <a:extLst>
              <a:ext uri="{FF2B5EF4-FFF2-40B4-BE49-F238E27FC236}">
                <a16:creationId xmlns:a16="http://schemas.microsoft.com/office/drawing/2014/main" id="{E4CBC3D3-2E64-411F-99BB-C45BAAA779D7}"/>
              </a:ext>
            </a:extLst>
          </p:cNvPr>
          <p:cNvSpPr>
            <a:spLocks noGrp="1"/>
          </p:cNvSpPr>
          <p:nvPr>
            <p:ph type="dt" sz="half" idx="10"/>
          </p:nvPr>
        </p:nvSpPr>
        <p:spPr/>
        <p:txBody>
          <a:bodyPr/>
          <a:lstStyle/>
          <a:p>
            <a:fld id="{CF22D9A8-689F-4D42-BED4-BFC5F4BD6F48}" type="datetime1">
              <a:rPr lang="en-US" smtClean="0"/>
              <a:t>8/5/2025</a:t>
            </a:fld>
            <a:endParaRPr lang="en-US"/>
          </a:p>
        </p:txBody>
      </p:sp>
      <p:sp>
        <p:nvSpPr>
          <p:cNvPr id="5" name="Slide Number Placeholder 4">
            <a:extLst>
              <a:ext uri="{FF2B5EF4-FFF2-40B4-BE49-F238E27FC236}">
                <a16:creationId xmlns:a16="http://schemas.microsoft.com/office/drawing/2014/main" id="{B3D8C203-6B10-4E78-BEF9-FB3C6F825EA9}"/>
              </a:ext>
            </a:extLst>
          </p:cNvPr>
          <p:cNvSpPr>
            <a:spLocks noGrp="1"/>
          </p:cNvSpPr>
          <p:nvPr>
            <p:ph type="sldNum" sz="quarter" idx="12"/>
          </p:nvPr>
        </p:nvSpPr>
        <p:spPr/>
        <p:txBody>
          <a:bodyPr/>
          <a:lstStyle/>
          <a:p>
            <a:fld id="{330EA680-D336-4FF7-8B7A-9848BB0A1C32}" type="slidenum">
              <a:rPr lang="en-US" smtClean="0"/>
              <a:t>4</a:t>
            </a:fld>
            <a:endParaRPr lang="en-US"/>
          </a:p>
        </p:txBody>
      </p:sp>
    </p:spTree>
    <p:extLst>
      <p:ext uri="{BB962C8B-B14F-4D97-AF65-F5344CB8AC3E}">
        <p14:creationId xmlns:p14="http://schemas.microsoft.com/office/powerpoint/2010/main" val="24078593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BEF1A-7D4A-4F0B-B95B-4795E6808E3C}"/>
              </a:ext>
            </a:extLst>
          </p:cNvPr>
          <p:cNvSpPr>
            <a:spLocks noGrp="1"/>
          </p:cNvSpPr>
          <p:nvPr>
            <p:ph type="title"/>
          </p:nvPr>
        </p:nvSpPr>
        <p:spPr>
          <a:xfrm>
            <a:off x="838200" y="365125"/>
            <a:ext cx="10515600" cy="462922"/>
          </a:xfrm>
        </p:spPr>
        <p:txBody>
          <a:bodyPr>
            <a:normAutofit fontScale="90000"/>
          </a:bodyPr>
          <a:lstStyle/>
          <a:p>
            <a:endParaRPr lang="en-US"/>
          </a:p>
        </p:txBody>
      </p:sp>
      <p:sp>
        <p:nvSpPr>
          <p:cNvPr id="3" name="Content Placeholder 2">
            <a:extLst>
              <a:ext uri="{FF2B5EF4-FFF2-40B4-BE49-F238E27FC236}">
                <a16:creationId xmlns:a16="http://schemas.microsoft.com/office/drawing/2014/main" id="{47551592-CC7A-4D17-A99C-4049F29C839C}"/>
              </a:ext>
            </a:extLst>
          </p:cNvPr>
          <p:cNvSpPr>
            <a:spLocks noGrp="1"/>
          </p:cNvSpPr>
          <p:nvPr>
            <p:ph idx="1"/>
          </p:nvPr>
        </p:nvSpPr>
        <p:spPr>
          <a:xfrm>
            <a:off x="838200" y="1106758"/>
            <a:ext cx="10515600" cy="5070205"/>
          </a:xfrm>
        </p:spPr>
        <p:txBody>
          <a:bodyPr vert="horz" lIns="91440" tIns="45720" rIns="91440" bIns="45720" rtlCol="0" anchor="t">
            <a:normAutofit/>
          </a:bodyPr>
          <a:lstStyle/>
          <a:p>
            <a:pPr algn="just"/>
            <a:endParaRPr lang="en-US" sz="2000" dirty="0">
              <a:cs typeface="Calibri"/>
            </a:endParaRPr>
          </a:p>
          <a:p>
            <a:pPr algn="just"/>
            <a:r>
              <a:rPr lang="en-US" sz="2000" dirty="0"/>
              <a:t>Steps 1 through 4 are different forms of data preprocessing, where data are prepared for mining.</a:t>
            </a:r>
          </a:p>
          <a:p>
            <a:pPr algn="just"/>
            <a:r>
              <a:rPr lang="en-US" sz="2000" dirty="0"/>
              <a:t>The data mining step may interact with the user or a knowledge base.</a:t>
            </a:r>
          </a:p>
          <a:p>
            <a:pPr algn="just"/>
            <a:r>
              <a:rPr lang="en-US" sz="2000" dirty="0"/>
              <a:t>The interesting patterns are presented to the user and may be stored as new knowledge in the knowledge base.</a:t>
            </a:r>
          </a:p>
          <a:p>
            <a:pPr algn="just"/>
            <a:r>
              <a:rPr lang="en-US" sz="2000" b="1" dirty="0"/>
              <a:t>“Data mining is the process of discovering interesting patterns and knowledge from large amounts of data. The data sources can include databases, data warehouses, the Web, other information repositories, or data that are streamed into the system dynamically”</a:t>
            </a:r>
            <a:r>
              <a:rPr lang="en-US" sz="2000" b="1" dirty="0">
                <a:cs typeface="Calibri"/>
              </a:rPr>
              <a:t> .</a:t>
            </a:r>
          </a:p>
          <a:p>
            <a:endParaRPr lang="en-US" dirty="0">
              <a:cs typeface="Calibri"/>
            </a:endParaRPr>
          </a:p>
        </p:txBody>
      </p:sp>
      <p:sp>
        <p:nvSpPr>
          <p:cNvPr id="4" name="Date Placeholder 3">
            <a:extLst>
              <a:ext uri="{FF2B5EF4-FFF2-40B4-BE49-F238E27FC236}">
                <a16:creationId xmlns:a16="http://schemas.microsoft.com/office/drawing/2014/main" id="{43382A8A-92B0-4CDC-A983-B99D92972EFE}"/>
              </a:ext>
            </a:extLst>
          </p:cNvPr>
          <p:cNvSpPr>
            <a:spLocks noGrp="1"/>
          </p:cNvSpPr>
          <p:nvPr>
            <p:ph type="dt" sz="half" idx="10"/>
          </p:nvPr>
        </p:nvSpPr>
        <p:spPr/>
        <p:txBody>
          <a:bodyPr/>
          <a:lstStyle/>
          <a:p>
            <a:fld id="{BF71AD23-174F-44EE-8825-4B80CB33C404}" type="datetime1">
              <a:rPr lang="en-US" smtClean="0"/>
              <a:t>8/5/2025</a:t>
            </a:fld>
            <a:endParaRPr lang="en-US"/>
          </a:p>
        </p:txBody>
      </p:sp>
      <p:sp>
        <p:nvSpPr>
          <p:cNvPr id="5" name="Slide Number Placeholder 4">
            <a:extLst>
              <a:ext uri="{FF2B5EF4-FFF2-40B4-BE49-F238E27FC236}">
                <a16:creationId xmlns:a16="http://schemas.microsoft.com/office/drawing/2014/main" id="{FD97D056-B5E3-45D0-8AA4-1F9630EAFB19}"/>
              </a:ext>
            </a:extLst>
          </p:cNvPr>
          <p:cNvSpPr>
            <a:spLocks noGrp="1"/>
          </p:cNvSpPr>
          <p:nvPr>
            <p:ph type="sldNum" sz="quarter" idx="12"/>
          </p:nvPr>
        </p:nvSpPr>
        <p:spPr/>
        <p:txBody>
          <a:bodyPr/>
          <a:lstStyle/>
          <a:p>
            <a:fld id="{330EA680-D336-4FF7-8B7A-9848BB0A1C32}" type="slidenum">
              <a:rPr lang="en-US" smtClean="0"/>
              <a:t>5</a:t>
            </a:fld>
            <a:endParaRPr lang="en-US"/>
          </a:p>
        </p:txBody>
      </p:sp>
    </p:spTree>
    <p:extLst>
      <p:ext uri="{BB962C8B-B14F-4D97-AF65-F5344CB8AC3E}">
        <p14:creationId xmlns:p14="http://schemas.microsoft.com/office/powerpoint/2010/main" val="20934748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D9EED-ADFE-47E6-9A18-453BE70C7E7D}"/>
              </a:ext>
            </a:extLst>
          </p:cNvPr>
          <p:cNvSpPr>
            <a:spLocks noGrp="1"/>
          </p:cNvSpPr>
          <p:nvPr>
            <p:ph type="title"/>
          </p:nvPr>
        </p:nvSpPr>
        <p:spPr>
          <a:xfrm>
            <a:off x="1510749" y="624110"/>
            <a:ext cx="9993864" cy="157768"/>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1C7C4AF5-F017-4361-97FA-5B3DF9E73910}"/>
              </a:ext>
            </a:extLst>
          </p:cNvPr>
          <p:cNvSpPr>
            <a:spLocks noGrp="1"/>
          </p:cNvSpPr>
          <p:nvPr>
            <p:ph idx="1"/>
          </p:nvPr>
        </p:nvSpPr>
        <p:spPr>
          <a:xfrm>
            <a:off x="1060174" y="1073426"/>
            <a:ext cx="10444438" cy="5160463"/>
          </a:xfrm>
        </p:spPr>
        <p:txBody>
          <a:bodyPr>
            <a:normAutofit/>
          </a:bodyPr>
          <a:lstStyle/>
          <a:p>
            <a:pPr algn="just"/>
            <a:r>
              <a:rPr lang="en-US" sz="2800" b="1" dirty="0"/>
              <a:t>Data Preprocessing-</a:t>
            </a:r>
          </a:p>
          <a:p>
            <a:pPr algn="just"/>
            <a:r>
              <a:rPr lang="en-US" sz="2000" dirty="0"/>
              <a:t>Today’s real-world databases are highly susceptible to noisy, missing, and inconsistent data due to their typically huge size and their origin from multiple, heterogenous sources. </a:t>
            </a:r>
          </a:p>
          <a:p>
            <a:pPr algn="just"/>
            <a:r>
              <a:rPr lang="en-US" sz="2000" dirty="0"/>
              <a:t>Low-quality data will lead to low-quality mining results. </a:t>
            </a:r>
          </a:p>
          <a:p>
            <a:pPr algn="just"/>
            <a:r>
              <a:rPr lang="en-US" sz="2000" dirty="0"/>
              <a:t>“How can the data be preprocessed in order to help improve the quality of the data and, consequently, of the mining results? </a:t>
            </a:r>
          </a:p>
          <a:p>
            <a:pPr algn="just"/>
            <a:r>
              <a:rPr lang="en-US" sz="2000" dirty="0"/>
              <a:t>How can the data be preprocessed so as to improve the efficiency and ease of the mining process?” </a:t>
            </a:r>
          </a:p>
          <a:p>
            <a:pPr algn="just"/>
            <a:r>
              <a:rPr lang="en-US" sz="2000" dirty="0"/>
              <a:t>There are several data preprocessing techniques. </a:t>
            </a:r>
          </a:p>
          <a:p>
            <a:pPr algn="just"/>
            <a:r>
              <a:rPr lang="en-US" sz="2000" dirty="0"/>
              <a:t>Data cleaning can be applied to remove noise and correct inconsistencies in data. </a:t>
            </a:r>
          </a:p>
        </p:txBody>
      </p:sp>
      <p:sp>
        <p:nvSpPr>
          <p:cNvPr id="4" name="Date Placeholder 3">
            <a:extLst>
              <a:ext uri="{FF2B5EF4-FFF2-40B4-BE49-F238E27FC236}">
                <a16:creationId xmlns:a16="http://schemas.microsoft.com/office/drawing/2014/main" id="{7FF62AD3-4D6A-49FE-8604-77B35DB16D15}"/>
              </a:ext>
            </a:extLst>
          </p:cNvPr>
          <p:cNvSpPr>
            <a:spLocks noGrp="1"/>
          </p:cNvSpPr>
          <p:nvPr>
            <p:ph type="dt" sz="half" idx="10"/>
          </p:nvPr>
        </p:nvSpPr>
        <p:spPr/>
        <p:txBody>
          <a:bodyPr/>
          <a:lstStyle/>
          <a:p>
            <a:fld id="{B6EB4746-165F-4527-BEA1-DC68FB2C09AE}" type="datetime1">
              <a:rPr lang="en-US" smtClean="0"/>
              <a:t>8/5/2025</a:t>
            </a:fld>
            <a:endParaRPr lang="en-US"/>
          </a:p>
        </p:txBody>
      </p:sp>
      <p:sp>
        <p:nvSpPr>
          <p:cNvPr id="5" name="Slide Number Placeholder 4">
            <a:extLst>
              <a:ext uri="{FF2B5EF4-FFF2-40B4-BE49-F238E27FC236}">
                <a16:creationId xmlns:a16="http://schemas.microsoft.com/office/drawing/2014/main" id="{57DC4ECF-7A8F-4F78-A63D-2924644F814B}"/>
              </a:ext>
            </a:extLst>
          </p:cNvPr>
          <p:cNvSpPr>
            <a:spLocks noGrp="1"/>
          </p:cNvSpPr>
          <p:nvPr>
            <p:ph type="sldNum" sz="quarter" idx="12"/>
          </p:nvPr>
        </p:nvSpPr>
        <p:spPr/>
        <p:txBody>
          <a:bodyPr/>
          <a:lstStyle/>
          <a:p>
            <a:fld id="{330EA680-D336-4FF7-8B7A-9848BB0A1C32}" type="slidenum">
              <a:rPr lang="en-US" smtClean="0"/>
              <a:t>6</a:t>
            </a:fld>
            <a:endParaRPr lang="en-US"/>
          </a:p>
        </p:txBody>
      </p:sp>
    </p:spTree>
    <p:extLst>
      <p:ext uri="{BB962C8B-B14F-4D97-AF65-F5344CB8AC3E}">
        <p14:creationId xmlns:p14="http://schemas.microsoft.com/office/powerpoint/2010/main" val="21755421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F1C1F-EC93-4081-A30A-CDAD1C50C19B}"/>
              </a:ext>
            </a:extLst>
          </p:cNvPr>
          <p:cNvSpPr>
            <a:spLocks noGrp="1"/>
          </p:cNvSpPr>
          <p:nvPr>
            <p:ph type="title"/>
          </p:nvPr>
        </p:nvSpPr>
        <p:spPr>
          <a:xfrm>
            <a:off x="2592925" y="624110"/>
            <a:ext cx="8911687" cy="322668"/>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95BFEB23-6AD3-4092-967A-346B8B8E0FB4}"/>
              </a:ext>
            </a:extLst>
          </p:cNvPr>
          <p:cNvSpPr>
            <a:spLocks noGrp="1"/>
          </p:cNvSpPr>
          <p:nvPr>
            <p:ph idx="1"/>
          </p:nvPr>
        </p:nvSpPr>
        <p:spPr>
          <a:xfrm>
            <a:off x="1086678" y="1524000"/>
            <a:ext cx="10417934" cy="4387222"/>
          </a:xfrm>
        </p:spPr>
        <p:txBody>
          <a:bodyPr/>
          <a:lstStyle/>
          <a:p>
            <a:pPr algn="just"/>
            <a:r>
              <a:rPr lang="en-US" sz="2000" dirty="0"/>
              <a:t>Data integration merges data from multiple sources into a coherent data store such as a data warehouse. </a:t>
            </a:r>
          </a:p>
          <a:p>
            <a:pPr algn="just"/>
            <a:r>
              <a:rPr lang="en-US" sz="2000" dirty="0"/>
              <a:t>Data reduction can reduce data size by, aggregating, eliminating redundant features, or clustering.</a:t>
            </a:r>
          </a:p>
          <a:p>
            <a:pPr algn="just"/>
            <a:r>
              <a:rPr lang="en-US" sz="2000" dirty="0"/>
              <a:t> Data transformations (e.g., normalization) may be applied, where data are scaled to fall within a smaller range like 0.0 to 1.0. </a:t>
            </a:r>
          </a:p>
          <a:p>
            <a:pPr algn="just"/>
            <a:r>
              <a:rPr lang="en-US" sz="2000" dirty="0"/>
              <a:t>This can improve the accuracy and efficiency of mining algorithms.</a:t>
            </a:r>
          </a:p>
          <a:p>
            <a:endParaRPr lang="en-US" dirty="0"/>
          </a:p>
        </p:txBody>
      </p:sp>
      <p:sp>
        <p:nvSpPr>
          <p:cNvPr id="4" name="Date Placeholder 3">
            <a:extLst>
              <a:ext uri="{FF2B5EF4-FFF2-40B4-BE49-F238E27FC236}">
                <a16:creationId xmlns:a16="http://schemas.microsoft.com/office/drawing/2014/main" id="{6683CC28-F2ED-4877-BE84-9BC14DDBEDBF}"/>
              </a:ext>
            </a:extLst>
          </p:cNvPr>
          <p:cNvSpPr>
            <a:spLocks noGrp="1"/>
          </p:cNvSpPr>
          <p:nvPr>
            <p:ph type="dt" sz="half" idx="10"/>
          </p:nvPr>
        </p:nvSpPr>
        <p:spPr/>
        <p:txBody>
          <a:bodyPr/>
          <a:lstStyle/>
          <a:p>
            <a:fld id="{006C1333-2A0E-4325-A43C-63744097CA92}" type="datetime1">
              <a:rPr lang="en-US" smtClean="0"/>
              <a:t>8/5/2025</a:t>
            </a:fld>
            <a:endParaRPr lang="en-US"/>
          </a:p>
        </p:txBody>
      </p:sp>
      <p:sp>
        <p:nvSpPr>
          <p:cNvPr id="5" name="Slide Number Placeholder 4">
            <a:extLst>
              <a:ext uri="{FF2B5EF4-FFF2-40B4-BE49-F238E27FC236}">
                <a16:creationId xmlns:a16="http://schemas.microsoft.com/office/drawing/2014/main" id="{4A9E3489-3F5F-49B2-A2FF-8FE95E0AA78E}"/>
              </a:ext>
            </a:extLst>
          </p:cNvPr>
          <p:cNvSpPr>
            <a:spLocks noGrp="1"/>
          </p:cNvSpPr>
          <p:nvPr>
            <p:ph type="sldNum" sz="quarter" idx="12"/>
          </p:nvPr>
        </p:nvSpPr>
        <p:spPr/>
        <p:txBody>
          <a:bodyPr/>
          <a:lstStyle/>
          <a:p>
            <a:fld id="{330EA680-D336-4FF7-8B7A-9848BB0A1C32}" type="slidenum">
              <a:rPr lang="en-US" smtClean="0"/>
              <a:t>7</a:t>
            </a:fld>
            <a:endParaRPr lang="en-US"/>
          </a:p>
        </p:txBody>
      </p:sp>
    </p:spTree>
    <p:extLst>
      <p:ext uri="{BB962C8B-B14F-4D97-AF65-F5344CB8AC3E}">
        <p14:creationId xmlns:p14="http://schemas.microsoft.com/office/powerpoint/2010/main" val="23892777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5AD9E-F8D1-4A70-B409-B461F9D4BC0E}"/>
              </a:ext>
            </a:extLst>
          </p:cNvPr>
          <p:cNvSpPr>
            <a:spLocks noGrp="1"/>
          </p:cNvSpPr>
          <p:nvPr>
            <p:ph type="title"/>
          </p:nvPr>
        </p:nvSpPr>
        <p:spPr>
          <a:xfrm>
            <a:off x="2592925" y="624110"/>
            <a:ext cx="8911687" cy="197525"/>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4E23FFA4-58D1-4647-9D6D-FEE1CB2F5F41}"/>
              </a:ext>
            </a:extLst>
          </p:cNvPr>
          <p:cNvSpPr>
            <a:spLocks noGrp="1"/>
          </p:cNvSpPr>
          <p:nvPr>
            <p:ph idx="1"/>
          </p:nvPr>
        </p:nvSpPr>
        <p:spPr>
          <a:xfrm>
            <a:off x="980661" y="1219201"/>
            <a:ext cx="10523951" cy="4692022"/>
          </a:xfrm>
        </p:spPr>
        <p:txBody>
          <a:bodyPr>
            <a:normAutofit/>
          </a:bodyPr>
          <a:lstStyle/>
          <a:p>
            <a:r>
              <a:rPr lang="en-US" sz="2600" b="1" dirty="0"/>
              <a:t>Data Quality: Why Preprocess the Data? </a:t>
            </a:r>
          </a:p>
          <a:p>
            <a:pPr algn="just"/>
            <a:r>
              <a:rPr lang="en-US" sz="2000" dirty="0"/>
              <a:t>Data have quality if they satisfy the requirements of the intended use. </a:t>
            </a:r>
          </a:p>
          <a:p>
            <a:pPr algn="just"/>
            <a:r>
              <a:rPr lang="en-US" sz="2000" dirty="0"/>
              <a:t>There are many factors comprising data quality, including accuracy, completeness, consistency, timeliness, believability, and interpretability.</a:t>
            </a:r>
          </a:p>
          <a:p>
            <a:pPr algn="just"/>
            <a:r>
              <a:rPr lang="en-US" sz="2000" dirty="0"/>
              <a:t>Imagine that you are a manager at </a:t>
            </a:r>
            <a:r>
              <a:rPr lang="en-US" sz="2000" dirty="0" err="1"/>
              <a:t>AllElectronics</a:t>
            </a:r>
            <a:r>
              <a:rPr lang="en-US" sz="2000" dirty="0"/>
              <a:t> and have been charged with analyzing the company’s data with respect to your branch’s sales. </a:t>
            </a:r>
          </a:p>
          <a:p>
            <a:pPr algn="just"/>
            <a:r>
              <a:rPr lang="en-US" sz="2000" dirty="0"/>
              <a:t>You immediately set out to perform this task. </a:t>
            </a:r>
          </a:p>
          <a:p>
            <a:pPr algn="just"/>
            <a:r>
              <a:rPr lang="en-US" sz="2000" dirty="0"/>
              <a:t>You carefully inspect the company’s database and data warehouse, identifying and selecting the attributes or dimensions (e.g., item, price, and units sold) to be included in your analysis.</a:t>
            </a:r>
          </a:p>
          <a:p>
            <a:pPr algn="just"/>
            <a:r>
              <a:rPr lang="en-US" sz="2000" dirty="0"/>
              <a:t> You notice that several of the attributes for various tuples have no recorded value. </a:t>
            </a:r>
          </a:p>
          <a:p>
            <a:endParaRPr lang="en-US" dirty="0"/>
          </a:p>
        </p:txBody>
      </p:sp>
      <p:sp>
        <p:nvSpPr>
          <p:cNvPr id="4" name="Date Placeholder 3">
            <a:extLst>
              <a:ext uri="{FF2B5EF4-FFF2-40B4-BE49-F238E27FC236}">
                <a16:creationId xmlns:a16="http://schemas.microsoft.com/office/drawing/2014/main" id="{4CA5B259-B292-45D0-A1A0-DE0E890148AC}"/>
              </a:ext>
            </a:extLst>
          </p:cNvPr>
          <p:cNvSpPr>
            <a:spLocks noGrp="1"/>
          </p:cNvSpPr>
          <p:nvPr>
            <p:ph type="dt" sz="half" idx="10"/>
          </p:nvPr>
        </p:nvSpPr>
        <p:spPr/>
        <p:txBody>
          <a:bodyPr/>
          <a:lstStyle/>
          <a:p>
            <a:fld id="{AF561735-C1E6-418B-866E-CCDE038D717D}" type="datetime1">
              <a:rPr lang="en-US" smtClean="0"/>
              <a:t>8/5/2025</a:t>
            </a:fld>
            <a:endParaRPr lang="en-US"/>
          </a:p>
        </p:txBody>
      </p:sp>
      <p:sp>
        <p:nvSpPr>
          <p:cNvPr id="5" name="Slide Number Placeholder 4">
            <a:extLst>
              <a:ext uri="{FF2B5EF4-FFF2-40B4-BE49-F238E27FC236}">
                <a16:creationId xmlns:a16="http://schemas.microsoft.com/office/drawing/2014/main" id="{A9162194-1C1F-4456-BCD7-662609A4FDAD}"/>
              </a:ext>
            </a:extLst>
          </p:cNvPr>
          <p:cNvSpPr>
            <a:spLocks noGrp="1"/>
          </p:cNvSpPr>
          <p:nvPr>
            <p:ph type="sldNum" sz="quarter" idx="12"/>
          </p:nvPr>
        </p:nvSpPr>
        <p:spPr/>
        <p:txBody>
          <a:bodyPr/>
          <a:lstStyle/>
          <a:p>
            <a:fld id="{330EA680-D336-4FF7-8B7A-9848BB0A1C32}" type="slidenum">
              <a:rPr lang="en-US" smtClean="0"/>
              <a:t>8</a:t>
            </a:fld>
            <a:endParaRPr lang="en-US"/>
          </a:p>
        </p:txBody>
      </p:sp>
    </p:spTree>
    <p:extLst>
      <p:ext uri="{BB962C8B-B14F-4D97-AF65-F5344CB8AC3E}">
        <p14:creationId xmlns:p14="http://schemas.microsoft.com/office/powerpoint/2010/main" val="41703779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7006C-B868-46F2-A8CC-9CDD72FB9054}"/>
              </a:ext>
            </a:extLst>
          </p:cNvPr>
          <p:cNvSpPr>
            <a:spLocks noGrp="1"/>
          </p:cNvSpPr>
          <p:nvPr>
            <p:ph type="title"/>
          </p:nvPr>
        </p:nvSpPr>
        <p:spPr>
          <a:xfrm>
            <a:off x="2592925" y="624110"/>
            <a:ext cx="8911687" cy="322668"/>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63B7CA5A-FEE9-4B32-ADC2-9B722B77B6A5}"/>
              </a:ext>
            </a:extLst>
          </p:cNvPr>
          <p:cNvSpPr>
            <a:spLocks noGrp="1"/>
          </p:cNvSpPr>
          <p:nvPr>
            <p:ph idx="1"/>
          </p:nvPr>
        </p:nvSpPr>
        <p:spPr>
          <a:xfrm>
            <a:off x="901148" y="1298713"/>
            <a:ext cx="10603464" cy="4612509"/>
          </a:xfrm>
        </p:spPr>
        <p:txBody>
          <a:bodyPr>
            <a:normAutofit/>
          </a:bodyPr>
          <a:lstStyle/>
          <a:p>
            <a:pPr algn="just"/>
            <a:r>
              <a:rPr lang="en-US" sz="2000" dirty="0"/>
              <a:t>For your analysis, you would like to include information as to whether each item purchased was advertised as on sale, yet you discover that this information has not been recorded. </a:t>
            </a:r>
          </a:p>
          <a:p>
            <a:pPr algn="just"/>
            <a:r>
              <a:rPr lang="en-US" sz="2000" dirty="0"/>
              <a:t>Furthermore, users of your database system have reported errors, unusual values, and inconsistencies in the data recorded for some transactions.</a:t>
            </a:r>
          </a:p>
          <a:p>
            <a:pPr algn="just"/>
            <a:r>
              <a:rPr lang="en-US" sz="2000" dirty="0"/>
              <a:t>In other words, the data you wish to analyze by data mining techniques are </a:t>
            </a:r>
            <a:r>
              <a:rPr lang="en-US" sz="2000" b="1" dirty="0"/>
              <a:t>incomplete</a:t>
            </a:r>
            <a:r>
              <a:rPr lang="en-US" sz="2000" dirty="0"/>
              <a:t> (lacking attribute values of certain attributes of interest, or containing only aggregate data); </a:t>
            </a:r>
            <a:r>
              <a:rPr lang="en-US" sz="2000" b="1" dirty="0"/>
              <a:t>inaccurate</a:t>
            </a:r>
            <a:r>
              <a:rPr lang="en-US" sz="2000" dirty="0"/>
              <a:t> or noisy (containing errors, or values that deviate from the expected); and </a:t>
            </a:r>
            <a:r>
              <a:rPr lang="en-US" sz="2000" b="1" dirty="0"/>
              <a:t>inconsistent</a:t>
            </a:r>
            <a:r>
              <a:rPr lang="en-US" sz="2000" dirty="0"/>
              <a:t> (e.g., containing discrepancies in the department codes used to categorize items). </a:t>
            </a:r>
          </a:p>
        </p:txBody>
      </p:sp>
      <p:sp>
        <p:nvSpPr>
          <p:cNvPr id="4" name="Date Placeholder 3">
            <a:extLst>
              <a:ext uri="{FF2B5EF4-FFF2-40B4-BE49-F238E27FC236}">
                <a16:creationId xmlns:a16="http://schemas.microsoft.com/office/drawing/2014/main" id="{8C79CCCC-A605-4030-A8B1-BD7DAAB1A785}"/>
              </a:ext>
            </a:extLst>
          </p:cNvPr>
          <p:cNvSpPr>
            <a:spLocks noGrp="1"/>
          </p:cNvSpPr>
          <p:nvPr>
            <p:ph type="dt" sz="half" idx="10"/>
          </p:nvPr>
        </p:nvSpPr>
        <p:spPr/>
        <p:txBody>
          <a:bodyPr/>
          <a:lstStyle/>
          <a:p>
            <a:fld id="{5E3D24E1-CA10-4A94-B261-EBE96C358133}" type="datetime1">
              <a:rPr lang="en-US" smtClean="0"/>
              <a:t>8/5/2025</a:t>
            </a:fld>
            <a:endParaRPr lang="en-US"/>
          </a:p>
        </p:txBody>
      </p:sp>
      <p:sp>
        <p:nvSpPr>
          <p:cNvPr id="5" name="Slide Number Placeholder 4">
            <a:extLst>
              <a:ext uri="{FF2B5EF4-FFF2-40B4-BE49-F238E27FC236}">
                <a16:creationId xmlns:a16="http://schemas.microsoft.com/office/drawing/2014/main" id="{8C9E59BE-704F-4022-9AB6-D57B90F2FFB5}"/>
              </a:ext>
            </a:extLst>
          </p:cNvPr>
          <p:cNvSpPr>
            <a:spLocks noGrp="1"/>
          </p:cNvSpPr>
          <p:nvPr>
            <p:ph type="sldNum" sz="quarter" idx="12"/>
          </p:nvPr>
        </p:nvSpPr>
        <p:spPr/>
        <p:txBody>
          <a:bodyPr/>
          <a:lstStyle/>
          <a:p>
            <a:fld id="{330EA680-D336-4FF7-8B7A-9848BB0A1C32}" type="slidenum">
              <a:rPr lang="en-US" smtClean="0"/>
              <a:t>9</a:t>
            </a:fld>
            <a:endParaRPr lang="en-US"/>
          </a:p>
        </p:txBody>
      </p:sp>
    </p:spTree>
    <p:extLst>
      <p:ext uri="{BB962C8B-B14F-4D97-AF65-F5344CB8AC3E}">
        <p14:creationId xmlns:p14="http://schemas.microsoft.com/office/powerpoint/2010/main" val="36789365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3C30B-B354-429D-8F42-9C6115D7CE9D}"/>
              </a:ext>
            </a:extLst>
          </p:cNvPr>
          <p:cNvSpPr>
            <a:spLocks noGrp="1"/>
          </p:cNvSpPr>
          <p:nvPr>
            <p:ph type="title"/>
          </p:nvPr>
        </p:nvSpPr>
        <p:spPr>
          <a:xfrm>
            <a:off x="2592925" y="624110"/>
            <a:ext cx="8911687" cy="322668"/>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D0E30EFE-3D21-40F5-9D72-3CA2D8B3F19E}"/>
              </a:ext>
            </a:extLst>
          </p:cNvPr>
          <p:cNvSpPr>
            <a:spLocks noGrp="1"/>
          </p:cNvSpPr>
          <p:nvPr>
            <p:ph idx="1"/>
          </p:nvPr>
        </p:nvSpPr>
        <p:spPr>
          <a:xfrm>
            <a:off x="980661" y="1205948"/>
            <a:ext cx="10523951" cy="4705275"/>
          </a:xfrm>
        </p:spPr>
        <p:txBody>
          <a:bodyPr>
            <a:normAutofit/>
          </a:bodyPr>
          <a:lstStyle/>
          <a:p>
            <a:pPr algn="just"/>
            <a:r>
              <a:rPr lang="en-US" sz="2000" dirty="0"/>
              <a:t>This scenario illustrates three of the elements defining data quality: accuracy, completeness, and consistency.</a:t>
            </a:r>
          </a:p>
          <a:p>
            <a:pPr algn="just"/>
            <a:r>
              <a:rPr lang="en-US" sz="2000" dirty="0"/>
              <a:t>Inaccurate, incomplete, and inconsistent data are commonplace properties of large real-world databases and data warehouses. </a:t>
            </a:r>
          </a:p>
          <a:p>
            <a:pPr algn="just"/>
            <a:r>
              <a:rPr lang="en-US" sz="2000" dirty="0"/>
              <a:t>There are many possible reasons for </a:t>
            </a:r>
            <a:r>
              <a:rPr lang="en-US" sz="2000" b="1" dirty="0"/>
              <a:t>inaccurate</a:t>
            </a:r>
            <a:r>
              <a:rPr lang="en-US" sz="2000" dirty="0"/>
              <a:t> data (i.e., having incorrect attribute values). </a:t>
            </a:r>
          </a:p>
          <a:p>
            <a:pPr algn="just"/>
            <a:r>
              <a:rPr lang="en-US" sz="2000" dirty="0"/>
              <a:t>The data collection instruments used may be faulty. </a:t>
            </a:r>
          </a:p>
          <a:p>
            <a:pPr algn="just"/>
            <a:r>
              <a:rPr lang="en-US" sz="2000" dirty="0"/>
              <a:t>There may have been human or computer errors occurring at data entry. </a:t>
            </a:r>
          </a:p>
          <a:p>
            <a:pPr algn="just"/>
            <a:r>
              <a:rPr lang="en-US" sz="2000" dirty="0"/>
              <a:t>Users may purposely submit incorrect data values for mandatory fields when they do not wish to submit personal information (e.g., by choosing the default value “January 1” displayed for birthday). </a:t>
            </a:r>
          </a:p>
          <a:p>
            <a:pPr algn="just"/>
            <a:r>
              <a:rPr lang="en-US" sz="2000" dirty="0"/>
              <a:t>This is known as disguised missing data. </a:t>
            </a:r>
          </a:p>
        </p:txBody>
      </p:sp>
      <p:sp>
        <p:nvSpPr>
          <p:cNvPr id="4" name="Date Placeholder 3">
            <a:extLst>
              <a:ext uri="{FF2B5EF4-FFF2-40B4-BE49-F238E27FC236}">
                <a16:creationId xmlns:a16="http://schemas.microsoft.com/office/drawing/2014/main" id="{E556224F-321B-4674-A106-C03F1BE62BA3}"/>
              </a:ext>
            </a:extLst>
          </p:cNvPr>
          <p:cNvSpPr>
            <a:spLocks noGrp="1"/>
          </p:cNvSpPr>
          <p:nvPr>
            <p:ph type="dt" sz="half" idx="10"/>
          </p:nvPr>
        </p:nvSpPr>
        <p:spPr/>
        <p:txBody>
          <a:bodyPr/>
          <a:lstStyle/>
          <a:p>
            <a:fld id="{34761AF3-6AB0-40A2-9E09-209A3FB74A45}" type="datetime1">
              <a:rPr lang="en-US" smtClean="0"/>
              <a:t>8/5/2025</a:t>
            </a:fld>
            <a:endParaRPr lang="en-US"/>
          </a:p>
        </p:txBody>
      </p:sp>
      <p:sp>
        <p:nvSpPr>
          <p:cNvPr id="5" name="Slide Number Placeholder 4">
            <a:extLst>
              <a:ext uri="{FF2B5EF4-FFF2-40B4-BE49-F238E27FC236}">
                <a16:creationId xmlns:a16="http://schemas.microsoft.com/office/drawing/2014/main" id="{4B33A118-041A-4BD0-B245-4EBF48E67259}"/>
              </a:ext>
            </a:extLst>
          </p:cNvPr>
          <p:cNvSpPr>
            <a:spLocks noGrp="1"/>
          </p:cNvSpPr>
          <p:nvPr>
            <p:ph type="sldNum" sz="quarter" idx="12"/>
          </p:nvPr>
        </p:nvSpPr>
        <p:spPr/>
        <p:txBody>
          <a:bodyPr/>
          <a:lstStyle/>
          <a:p>
            <a:fld id="{330EA680-D336-4FF7-8B7A-9848BB0A1C32}" type="slidenum">
              <a:rPr lang="en-US" smtClean="0"/>
              <a:t>10</a:t>
            </a:fld>
            <a:endParaRPr lang="en-US"/>
          </a:p>
        </p:txBody>
      </p:sp>
    </p:spTree>
    <p:extLst>
      <p:ext uri="{BB962C8B-B14F-4D97-AF65-F5344CB8AC3E}">
        <p14:creationId xmlns:p14="http://schemas.microsoft.com/office/powerpoint/2010/main" val="21786293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8E644-F807-4945-A8BC-FD527ACB367D}"/>
              </a:ext>
            </a:extLst>
          </p:cNvPr>
          <p:cNvSpPr>
            <a:spLocks noGrp="1"/>
          </p:cNvSpPr>
          <p:nvPr>
            <p:ph type="title"/>
          </p:nvPr>
        </p:nvSpPr>
        <p:spPr>
          <a:xfrm>
            <a:off x="2592925" y="624110"/>
            <a:ext cx="8911687" cy="322668"/>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BDDECE8F-4D29-4306-8917-E3CBC87CA961}"/>
              </a:ext>
            </a:extLst>
          </p:cNvPr>
          <p:cNvSpPr>
            <a:spLocks noGrp="1"/>
          </p:cNvSpPr>
          <p:nvPr>
            <p:ph idx="1"/>
          </p:nvPr>
        </p:nvSpPr>
        <p:spPr>
          <a:xfrm>
            <a:off x="848139" y="1205948"/>
            <a:ext cx="10656473" cy="4876799"/>
          </a:xfrm>
        </p:spPr>
        <p:txBody>
          <a:bodyPr>
            <a:noAutofit/>
          </a:bodyPr>
          <a:lstStyle/>
          <a:p>
            <a:pPr algn="just"/>
            <a:r>
              <a:rPr lang="en-US" sz="2000" dirty="0"/>
              <a:t>Errors in data transmission can also occur. </a:t>
            </a:r>
          </a:p>
          <a:p>
            <a:pPr algn="just"/>
            <a:r>
              <a:rPr lang="en-US" sz="2000" dirty="0"/>
              <a:t>Incorrect data may also result from inconsistencies in naming conventions or data codes, or inconsistent formats for input fields (e.g., date). </a:t>
            </a:r>
          </a:p>
          <a:p>
            <a:pPr algn="just"/>
            <a:r>
              <a:rPr lang="en-US" sz="2000" dirty="0"/>
              <a:t>Duplicate tuples also require data cleaning.</a:t>
            </a:r>
          </a:p>
          <a:p>
            <a:pPr algn="just"/>
            <a:r>
              <a:rPr lang="en-US" sz="2000" b="1" dirty="0"/>
              <a:t>Incomplete</a:t>
            </a:r>
            <a:r>
              <a:rPr lang="en-US" sz="2000" dirty="0"/>
              <a:t> data can occur for a number of reasons. </a:t>
            </a:r>
          </a:p>
          <a:p>
            <a:pPr algn="just"/>
            <a:r>
              <a:rPr lang="en-US" sz="2000" dirty="0"/>
              <a:t>Attributes of interest may not always be available, such as customer information for sales transaction data. </a:t>
            </a:r>
          </a:p>
          <a:p>
            <a:pPr algn="just"/>
            <a:r>
              <a:rPr lang="en-US" sz="2000" dirty="0"/>
              <a:t>Other data may not be included simply because they were not considered important at the time of entry.</a:t>
            </a:r>
          </a:p>
          <a:p>
            <a:pPr algn="just"/>
            <a:r>
              <a:rPr lang="en-US" sz="2000" dirty="0"/>
              <a:t> Relevant data may not be recorded due to a misunderstanding or because of equipment malfunctions.</a:t>
            </a:r>
          </a:p>
          <a:p>
            <a:r>
              <a:rPr lang="en-US" sz="2000" dirty="0"/>
              <a:t> </a:t>
            </a:r>
          </a:p>
        </p:txBody>
      </p:sp>
      <p:sp>
        <p:nvSpPr>
          <p:cNvPr id="4" name="Date Placeholder 3">
            <a:extLst>
              <a:ext uri="{FF2B5EF4-FFF2-40B4-BE49-F238E27FC236}">
                <a16:creationId xmlns:a16="http://schemas.microsoft.com/office/drawing/2014/main" id="{F007B87F-21B4-41C7-BECC-0F793BECD835}"/>
              </a:ext>
            </a:extLst>
          </p:cNvPr>
          <p:cNvSpPr>
            <a:spLocks noGrp="1"/>
          </p:cNvSpPr>
          <p:nvPr>
            <p:ph type="dt" sz="half" idx="10"/>
          </p:nvPr>
        </p:nvSpPr>
        <p:spPr/>
        <p:txBody>
          <a:bodyPr/>
          <a:lstStyle/>
          <a:p>
            <a:fld id="{81E7E81E-9794-4A24-A798-AAA30E0CADBB}" type="datetime1">
              <a:rPr lang="en-US" smtClean="0"/>
              <a:t>8/5/2025</a:t>
            </a:fld>
            <a:endParaRPr lang="en-US"/>
          </a:p>
        </p:txBody>
      </p:sp>
      <p:sp>
        <p:nvSpPr>
          <p:cNvPr id="5" name="Slide Number Placeholder 4">
            <a:extLst>
              <a:ext uri="{FF2B5EF4-FFF2-40B4-BE49-F238E27FC236}">
                <a16:creationId xmlns:a16="http://schemas.microsoft.com/office/drawing/2014/main" id="{D084F5BC-841C-47A1-B3AD-ED6B9F56E8E7}"/>
              </a:ext>
            </a:extLst>
          </p:cNvPr>
          <p:cNvSpPr>
            <a:spLocks noGrp="1"/>
          </p:cNvSpPr>
          <p:nvPr>
            <p:ph type="sldNum" sz="quarter" idx="12"/>
          </p:nvPr>
        </p:nvSpPr>
        <p:spPr/>
        <p:txBody>
          <a:bodyPr/>
          <a:lstStyle/>
          <a:p>
            <a:fld id="{330EA680-D336-4FF7-8B7A-9848BB0A1C32}" type="slidenum">
              <a:rPr lang="en-US" smtClean="0"/>
              <a:t>11</a:t>
            </a:fld>
            <a:endParaRPr lang="en-US"/>
          </a:p>
        </p:txBody>
      </p:sp>
    </p:spTree>
    <p:extLst>
      <p:ext uri="{BB962C8B-B14F-4D97-AF65-F5344CB8AC3E}">
        <p14:creationId xmlns:p14="http://schemas.microsoft.com/office/powerpoint/2010/main" val="4726459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73CC1-BDB1-4405-AB37-EED96C8AD1A0}"/>
              </a:ext>
            </a:extLst>
          </p:cNvPr>
          <p:cNvSpPr>
            <a:spLocks noGrp="1"/>
          </p:cNvSpPr>
          <p:nvPr>
            <p:ph type="title"/>
          </p:nvPr>
        </p:nvSpPr>
        <p:spPr>
          <a:xfrm>
            <a:off x="2592925" y="624110"/>
            <a:ext cx="8911687" cy="674603"/>
          </a:xfrm>
        </p:spPr>
        <p:txBody>
          <a:bodyPr/>
          <a:lstStyle/>
          <a:p>
            <a:endParaRPr lang="en-US" dirty="0"/>
          </a:p>
        </p:txBody>
      </p:sp>
      <p:sp>
        <p:nvSpPr>
          <p:cNvPr id="3" name="Content Placeholder 2">
            <a:extLst>
              <a:ext uri="{FF2B5EF4-FFF2-40B4-BE49-F238E27FC236}">
                <a16:creationId xmlns:a16="http://schemas.microsoft.com/office/drawing/2014/main" id="{23DB6DA8-35F3-4F7B-B494-F24C35FD723A}"/>
              </a:ext>
            </a:extLst>
          </p:cNvPr>
          <p:cNvSpPr>
            <a:spLocks noGrp="1"/>
          </p:cNvSpPr>
          <p:nvPr>
            <p:ph idx="1"/>
          </p:nvPr>
        </p:nvSpPr>
        <p:spPr>
          <a:xfrm>
            <a:off x="848139" y="1298713"/>
            <a:ext cx="10660186" cy="4935177"/>
          </a:xfrm>
        </p:spPr>
        <p:txBody>
          <a:bodyPr>
            <a:normAutofit/>
          </a:bodyPr>
          <a:lstStyle/>
          <a:p>
            <a:pPr algn="just"/>
            <a:r>
              <a:rPr lang="en-US" sz="2000" dirty="0"/>
              <a:t>Data that were inconsistent with other recorded data may have been deleted.</a:t>
            </a:r>
          </a:p>
          <a:p>
            <a:pPr algn="just"/>
            <a:r>
              <a:rPr lang="en-US" sz="2000" dirty="0"/>
              <a:t> Furthermore, the recording of the data history or modifications may have been overlooked. </a:t>
            </a:r>
          </a:p>
          <a:p>
            <a:pPr algn="just"/>
            <a:r>
              <a:rPr lang="en-US" sz="2000" dirty="0"/>
              <a:t>Missing data, particularly for tuples with missing values for some attributes, may need to be inferred. </a:t>
            </a:r>
          </a:p>
          <a:p>
            <a:pPr algn="just"/>
            <a:r>
              <a:rPr lang="en-US" sz="2000" dirty="0"/>
              <a:t>Other factors affecting the data quality are: </a:t>
            </a:r>
            <a:r>
              <a:rPr lang="en-US" sz="2000" b="1" dirty="0"/>
              <a:t>timeliness, believability and interpretability.</a:t>
            </a:r>
          </a:p>
          <a:p>
            <a:pPr algn="just"/>
            <a:r>
              <a:rPr lang="en-US" sz="2000" dirty="0"/>
              <a:t>Suppose that you are overseeing the distribution of monthly sales bonuses to the top sales representatives at </a:t>
            </a:r>
            <a:r>
              <a:rPr lang="en-US" sz="2000" dirty="0" err="1"/>
              <a:t>AllElectronics</a:t>
            </a:r>
            <a:r>
              <a:rPr lang="en-US" sz="2000" dirty="0"/>
              <a:t>.</a:t>
            </a:r>
          </a:p>
          <a:p>
            <a:pPr algn="just"/>
            <a:r>
              <a:rPr lang="en-US" sz="2000" dirty="0"/>
              <a:t>Several sales representatives, however, fail to submit their sales records on time at the end of the month.</a:t>
            </a:r>
          </a:p>
          <a:p>
            <a:pPr algn="just"/>
            <a:r>
              <a:rPr lang="en-US" sz="2000" dirty="0"/>
              <a:t>The fact that the month-end data are not updated in a timely fashion has a negative impact on the data quality.</a:t>
            </a:r>
          </a:p>
        </p:txBody>
      </p:sp>
      <p:sp>
        <p:nvSpPr>
          <p:cNvPr id="4" name="Date Placeholder 3">
            <a:extLst>
              <a:ext uri="{FF2B5EF4-FFF2-40B4-BE49-F238E27FC236}">
                <a16:creationId xmlns:a16="http://schemas.microsoft.com/office/drawing/2014/main" id="{097EEFB4-0F29-49DD-B7B6-D47B1F2BCB5F}"/>
              </a:ext>
            </a:extLst>
          </p:cNvPr>
          <p:cNvSpPr>
            <a:spLocks noGrp="1"/>
          </p:cNvSpPr>
          <p:nvPr>
            <p:ph type="dt" sz="half" idx="10"/>
          </p:nvPr>
        </p:nvSpPr>
        <p:spPr/>
        <p:txBody>
          <a:bodyPr/>
          <a:lstStyle/>
          <a:p>
            <a:fld id="{B2EEF752-B122-4685-BEC1-247016C86321}" type="datetime1">
              <a:rPr lang="en-US" smtClean="0"/>
              <a:t>8/5/2025</a:t>
            </a:fld>
            <a:endParaRPr lang="en-US"/>
          </a:p>
        </p:txBody>
      </p:sp>
      <p:sp>
        <p:nvSpPr>
          <p:cNvPr id="5" name="Slide Number Placeholder 4">
            <a:extLst>
              <a:ext uri="{FF2B5EF4-FFF2-40B4-BE49-F238E27FC236}">
                <a16:creationId xmlns:a16="http://schemas.microsoft.com/office/drawing/2014/main" id="{13D2A73D-8CDA-4AB6-91BD-5822B022D9AB}"/>
              </a:ext>
            </a:extLst>
          </p:cNvPr>
          <p:cNvSpPr>
            <a:spLocks noGrp="1"/>
          </p:cNvSpPr>
          <p:nvPr>
            <p:ph type="sldNum" sz="quarter" idx="12"/>
          </p:nvPr>
        </p:nvSpPr>
        <p:spPr/>
        <p:txBody>
          <a:bodyPr/>
          <a:lstStyle/>
          <a:p>
            <a:fld id="{330EA680-D336-4FF7-8B7A-9848BB0A1C32}" type="slidenum">
              <a:rPr lang="en-US" smtClean="0"/>
              <a:t>12</a:t>
            </a:fld>
            <a:endParaRPr lang="en-US"/>
          </a:p>
        </p:txBody>
      </p:sp>
    </p:spTree>
    <p:extLst>
      <p:ext uri="{BB962C8B-B14F-4D97-AF65-F5344CB8AC3E}">
        <p14:creationId xmlns:p14="http://schemas.microsoft.com/office/powerpoint/2010/main" val="6609047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5F062-0796-4EE5-9D25-9FFF629892EA}"/>
              </a:ext>
            </a:extLst>
          </p:cNvPr>
          <p:cNvSpPr>
            <a:spLocks noGrp="1"/>
          </p:cNvSpPr>
          <p:nvPr>
            <p:ph type="title"/>
          </p:nvPr>
        </p:nvSpPr>
        <p:spPr>
          <a:xfrm>
            <a:off x="2592925" y="624110"/>
            <a:ext cx="8911687" cy="322668"/>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CE0CF4B2-8A21-404F-90AA-093C29B4C5F0}"/>
              </a:ext>
            </a:extLst>
          </p:cNvPr>
          <p:cNvSpPr>
            <a:spLocks noGrp="1"/>
          </p:cNvSpPr>
          <p:nvPr>
            <p:ph idx="1"/>
          </p:nvPr>
        </p:nvSpPr>
        <p:spPr>
          <a:xfrm>
            <a:off x="768626" y="1510747"/>
            <a:ext cx="10735986" cy="4400475"/>
          </a:xfrm>
        </p:spPr>
        <p:txBody>
          <a:bodyPr>
            <a:normAutofit/>
          </a:bodyPr>
          <a:lstStyle/>
          <a:p>
            <a:r>
              <a:rPr lang="en-US" sz="2000" dirty="0"/>
              <a:t>Believability reflects how much the data are trusted by users, while interpretability reflects how easy the data are understood.</a:t>
            </a:r>
          </a:p>
          <a:p>
            <a:r>
              <a:rPr lang="en-US" sz="2000" dirty="0"/>
              <a:t>Suppose that a database, at one point, had several errors, all of which have since been corrected. </a:t>
            </a:r>
          </a:p>
          <a:p>
            <a:r>
              <a:rPr lang="en-US" sz="2000" dirty="0"/>
              <a:t>The past errors, however, had caused many problems for sales department users, and so they no longer trust the data. </a:t>
            </a:r>
          </a:p>
          <a:p>
            <a:r>
              <a:rPr lang="en-US" sz="2000" dirty="0"/>
              <a:t>The data also use many accounting codes, which the sales department does not know how to interpret.</a:t>
            </a:r>
          </a:p>
        </p:txBody>
      </p:sp>
      <p:sp>
        <p:nvSpPr>
          <p:cNvPr id="4" name="Date Placeholder 3">
            <a:extLst>
              <a:ext uri="{FF2B5EF4-FFF2-40B4-BE49-F238E27FC236}">
                <a16:creationId xmlns:a16="http://schemas.microsoft.com/office/drawing/2014/main" id="{4D07630A-92AE-4EA7-B4B1-3AE9AE49AB35}"/>
              </a:ext>
            </a:extLst>
          </p:cNvPr>
          <p:cNvSpPr>
            <a:spLocks noGrp="1"/>
          </p:cNvSpPr>
          <p:nvPr>
            <p:ph type="dt" sz="half" idx="10"/>
          </p:nvPr>
        </p:nvSpPr>
        <p:spPr/>
        <p:txBody>
          <a:bodyPr/>
          <a:lstStyle/>
          <a:p>
            <a:fld id="{4ED968C3-C249-498A-9FB4-4F7E2CE382D1}" type="datetime1">
              <a:rPr lang="en-US" smtClean="0"/>
              <a:t>8/5/2025</a:t>
            </a:fld>
            <a:endParaRPr lang="en-US"/>
          </a:p>
        </p:txBody>
      </p:sp>
      <p:sp>
        <p:nvSpPr>
          <p:cNvPr id="5" name="Slide Number Placeholder 4">
            <a:extLst>
              <a:ext uri="{FF2B5EF4-FFF2-40B4-BE49-F238E27FC236}">
                <a16:creationId xmlns:a16="http://schemas.microsoft.com/office/drawing/2014/main" id="{15FEFACC-D762-4267-9F8D-8352C2AA18E9}"/>
              </a:ext>
            </a:extLst>
          </p:cNvPr>
          <p:cNvSpPr>
            <a:spLocks noGrp="1"/>
          </p:cNvSpPr>
          <p:nvPr>
            <p:ph type="sldNum" sz="quarter" idx="12"/>
          </p:nvPr>
        </p:nvSpPr>
        <p:spPr/>
        <p:txBody>
          <a:bodyPr/>
          <a:lstStyle/>
          <a:p>
            <a:fld id="{330EA680-D336-4FF7-8B7A-9848BB0A1C32}" type="slidenum">
              <a:rPr lang="en-US" smtClean="0"/>
              <a:t>13</a:t>
            </a:fld>
            <a:endParaRPr lang="en-US"/>
          </a:p>
        </p:txBody>
      </p:sp>
    </p:spTree>
    <p:extLst>
      <p:ext uri="{BB962C8B-B14F-4D97-AF65-F5344CB8AC3E}">
        <p14:creationId xmlns:p14="http://schemas.microsoft.com/office/powerpoint/2010/main" val="40965523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C8132-EC80-4780-96FE-E391D7D503AE}"/>
              </a:ext>
            </a:extLst>
          </p:cNvPr>
          <p:cNvSpPr>
            <a:spLocks noGrp="1"/>
          </p:cNvSpPr>
          <p:nvPr>
            <p:ph type="title"/>
          </p:nvPr>
        </p:nvSpPr>
        <p:spPr>
          <a:xfrm>
            <a:off x="2592925" y="624110"/>
            <a:ext cx="8911687" cy="322668"/>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31868613-5864-4466-9015-6D8ABD9939D3}"/>
              </a:ext>
            </a:extLst>
          </p:cNvPr>
          <p:cNvSpPr>
            <a:spLocks noGrp="1"/>
          </p:cNvSpPr>
          <p:nvPr>
            <p:ph idx="1"/>
          </p:nvPr>
        </p:nvSpPr>
        <p:spPr>
          <a:xfrm>
            <a:off x="768626" y="1192697"/>
            <a:ext cx="10735986" cy="5208104"/>
          </a:xfrm>
        </p:spPr>
        <p:txBody>
          <a:bodyPr>
            <a:normAutofit fontScale="85000" lnSpcReduction="20000"/>
          </a:bodyPr>
          <a:lstStyle/>
          <a:p>
            <a:pPr algn="just"/>
            <a:r>
              <a:rPr lang="en-US" sz="2400" b="1" dirty="0"/>
              <a:t>Major Tasks in Data Preprocessing</a:t>
            </a:r>
          </a:p>
          <a:p>
            <a:pPr algn="just"/>
            <a:r>
              <a:rPr lang="en-US" sz="2400" dirty="0"/>
              <a:t>The major steps involved in data preprocessing are: data cleaning, data integration, data reduction, and data transformation. </a:t>
            </a:r>
          </a:p>
          <a:p>
            <a:pPr algn="just"/>
            <a:r>
              <a:rPr lang="en-US" sz="2400" dirty="0"/>
              <a:t>Data cleaning routines work to “clean” the data by filling in missing values, smoothing noisy data, identifying or removing outliers, and resolving inconsistencies. </a:t>
            </a:r>
          </a:p>
          <a:p>
            <a:pPr algn="just"/>
            <a:r>
              <a:rPr lang="en-US" sz="2400" dirty="0"/>
              <a:t>If users believe the data are dirty, they are unlikely to trust the results of any data mining that has been applied. </a:t>
            </a:r>
          </a:p>
          <a:p>
            <a:pPr algn="just"/>
            <a:r>
              <a:rPr lang="en-US" sz="2400" dirty="0"/>
              <a:t>Furthermore, dirty data can cause confusion for the mining procedure, resulting in unreliable output. </a:t>
            </a:r>
          </a:p>
          <a:p>
            <a:pPr algn="just"/>
            <a:r>
              <a:rPr lang="en-US" sz="2400" dirty="0"/>
              <a:t>Although most mining routines have some procedures for dealing with incomplete or noisy data, they are not always robust. </a:t>
            </a:r>
          </a:p>
          <a:p>
            <a:pPr algn="just"/>
            <a:r>
              <a:rPr lang="en-US" sz="2400" dirty="0"/>
              <a:t>Instead, they may concentrate on avoiding overfitting the data to the function being modeled.</a:t>
            </a:r>
          </a:p>
          <a:p>
            <a:pPr algn="just"/>
            <a:r>
              <a:rPr lang="en-US" sz="2400" dirty="0"/>
              <a:t>Therefore, a useful preprocessing step is to run your data through some data cleaning routines.</a:t>
            </a:r>
            <a:endParaRPr lang="en-US" sz="2400" b="1" dirty="0"/>
          </a:p>
        </p:txBody>
      </p:sp>
      <p:sp>
        <p:nvSpPr>
          <p:cNvPr id="4" name="Date Placeholder 3">
            <a:extLst>
              <a:ext uri="{FF2B5EF4-FFF2-40B4-BE49-F238E27FC236}">
                <a16:creationId xmlns:a16="http://schemas.microsoft.com/office/drawing/2014/main" id="{DFCA5F2D-E98F-4EE5-8798-1A635AB04571}"/>
              </a:ext>
            </a:extLst>
          </p:cNvPr>
          <p:cNvSpPr>
            <a:spLocks noGrp="1"/>
          </p:cNvSpPr>
          <p:nvPr>
            <p:ph type="dt" sz="half" idx="10"/>
          </p:nvPr>
        </p:nvSpPr>
        <p:spPr/>
        <p:txBody>
          <a:bodyPr/>
          <a:lstStyle/>
          <a:p>
            <a:fld id="{9DCBFA66-49D4-40CB-B6E0-2E7A5241A5C8}" type="datetime1">
              <a:rPr lang="en-US" smtClean="0"/>
              <a:t>8/5/2025</a:t>
            </a:fld>
            <a:endParaRPr lang="en-US"/>
          </a:p>
        </p:txBody>
      </p:sp>
      <p:sp>
        <p:nvSpPr>
          <p:cNvPr id="5" name="Slide Number Placeholder 4">
            <a:extLst>
              <a:ext uri="{FF2B5EF4-FFF2-40B4-BE49-F238E27FC236}">
                <a16:creationId xmlns:a16="http://schemas.microsoft.com/office/drawing/2014/main" id="{08D80D9E-C246-43C3-80AB-6354307063D0}"/>
              </a:ext>
            </a:extLst>
          </p:cNvPr>
          <p:cNvSpPr>
            <a:spLocks noGrp="1"/>
          </p:cNvSpPr>
          <p:nvPr>
            <p:ph type="sldNum" sz="quarter" idx="12"/>
          </p:nvPr>
        </p:nvSpPr>
        <p:spPr/>
        <p:txBody>
          <a:bodyPr/>
          <a:lstStyle/>
          <a:p>
            <a:fld id="{330EA680-D336-4FF7-8B7A-9848BB0A1C32}" type="slidenum">
              <a:rPr lang="en-US" smtClean="0"/>
              <a:t>14</a:t>
            </a:fld>
            <a:endParaRPr lang="en-US"/>
          </a:p>
        </p:txBody>
      </p:sp>
    </p:spTree>
    <p:extLst>
      <p:ext uri="{BB962C8B-B14F-4D97-AF65-F5344CB8AC3E}">
        <p14:creationId xmlns:p14="http://schemas.microsoft.com/office/powerpoint/2010/main" val="20083349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8A9CF-2D24-4720-9224-2709E0E975A7}"/>
              </a:ext>
            </a:extLst>
          </p:cNvPr>
          <p:cNvSpPr>
            <a:spLocks noGrp="1"/>
          </p:cNvSpPr>
          <p:nvPr>
            <p:ph type="title"/>
          </p:nvPr>
        </p:nvSpPr>
        <p:spPr>
          <a:xfrm>
            <a:off x="2592925" y="624110"/>
            <a:ext cx="8911687" cy="157768"/>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5B31A5A4-A1E5-428C-92C0-ACD8C7434F3D}"/>
              </a:ext>
            </a:extLst>
          </p:cNvPr>
          <p:cNvSpPr>
            <a:spLocks noGrp="1"/>
          </p:cNvSpPr>
          <p:nvPr>
            <p:ph idx="1"/>
          </p:nvPr>
        </p:nvSpPr>
        <p:spPr>
          <a:xfrm>
            <a:off x="848139" y="1448972"/>
            <a:ext cx="10656473" cy="4462250"/>
          </a:xfrm>
        </p:spPr>
        <p:txBody>
          <a:bodyPr>
            <a:normAutofit/>
          </a:bodyPr>
          <a:lstStyle/>
          <a:p>
            <a:pPr algn="just"/>
            <a:r>
              <a:rPr lang="en-US" sz="2000" dirty="0"/>
              <a:t>Suppose that you would like to include data from multiple sources in your analysis. This would involve integrating multiple databases, data cubes, or files (i.e., data integration). </a:t>
            </a:r>
          </a:p>
          <a:p>
            <a:pPr algn="just"/>
            <a:r>
              <a:rPr lang="en-US" sz="2000" dirty="0"/>
              <a:t>Yet some attributes representing a given concept may have different names in different databases, causing inconsistencies and redundancies.</a:t>
            </a:r>
          </a:p>
          <a:p>
            <a:pPr algn="just"/>
            <a:r>
              <a:rPr lang="en-US" sz="2000" dirty="0"/>
              <a:t> For example, the attribute for customer identification may be referred to as customer id in one data store and </a:t>
            </a:r>
            <a:r>
              <a:rPr lang="en-US" sz="2000" dirty="0" err="1"/>
              <a:t>cust</a:t>
            </a:r>
            <a:r>
              <a:rPr lang="en-US" sz="2000" dirty="0"/>
              <a:t> id in another. </a:t>
            </a:r>
          </a:p>
          <a:p>
            <a:pPr algn="just"/>
            <a:r>
              <a:rPr lang="en-US" sz="2000" dirty="0"/>
              <a:t>Naming inconsistencies may also occur for attribute values. </a:t>
            </a:r>
          </a:p>
          <a:p>
            <a:pPr algn="just"/>
            <a:r>
              <a:rPr lang="en-US" sz="2000" dirty="0"/>
              <a:t>For example, the same first name could be registered as “Bill” in one database, “William” in another, and “B.” in a third.</a:t>
            </a:r>
          </a:p>
        </p:txBody>
      </p:sp>
      <p:sp>
        <p:nvSpPr>
          <p:cNvPr id="4" name="Date Placeholder 3">
            <a:extLst>
              <a:ext uri="{FF2B5EF4-FFF2-40B4-BE49-F238E27FC236}">
                <a16:creationId xmlns:a16="http://schemas.microsoft.com/office/drawing/2014/main" id="{0DB9D4FA-04AB-4F38-B61E-A1278067E9F0}"/>
              </a:ext>
            </a:extLst>
          </p:cNvPr>
          <p:cNvSpPr>
            <a:spLocks noGrp="1"/>
          </p:cNvSpPr>
          <p:nvPr>
            <p:ph type="dt" sz="half" idx="10"/>
          </p:nvPr>
        </p:nvSpPr>
        <p:spPr/>
        <p:txBody>
          <a:bodyPr/>
          <a:lstStyle/>
          <a:p>
            <a:fld id="{7C6AE077-DFCD-4DD6-9BFA-BEF9C948B17E}" type="datetime1">
              <a:rPr lang="en-US" smtClean="0"/>
              <a:t>8/5/2025</a:t>
            </a:fld>
            <a:endParaRPr lang="en-US"/>
          </a:p>
        </p:txBody>
      </p:sp>
      <p:sp>
        <p:nvSpPr>
          <p:cNvPr id="5" name="Slide Number Placeholder 4">
            <a:extLst>
              <a:ext uri="{FF2B5EF4-FFF2-40B4-BE49-F238E27FC236}">
                <a16:creationId xmlns:a16="http://schemas.microsoft.com/office/drawing/2014/main" id="{E6A73327-1C49-4CD0-84AC-10E932D18E7A}"/>
              </a:ext>
            </a:extLst>
          </p:cNvPr>
          <p:cNvSpPr>
            <a:spLocks noGrp="1"/>
          </p:cNvSpPr>
          <p:nvPr>
            <p:ph type="sldNum" sz="quarter" idx="12"/>
          </p:nvPr>
        </p:nvSpPr>
        <p:spPr/>
        <p:txBody>
          <a:bodyPr/>
          <a:lstStyle/>
          <a:p>
            <a:fld id="{330EA680-D336-4FF7-8B7A-9848BB0A1C32}" type="slidenum">
              <a:rPr lang="en-US" smtClean="0"/>
              <a:t>15</a:t>
            </a:fld>
            <a:endParaRPr lang="en-US"/>
          </a:p>
        </p:txBody>
      </p:sp>
    </p:spTree>
    <p:extLst>
      <p:ext uri="{BB962C8B-B14F-4D97-AF65-F5344CB8AC3E}">
        <p14:creationId xmlns:p14="http://schemas.microsoft.com/office/powerpoint/2010/main" val="39779288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867E4-FD1E-49AC-9EF5-B0F0CE753C65}"/>
              </a:ext>
            </a:extLst>
          </p:cNvPr>
          <p:cNvSpPr>
            <a:spLocks noGrp="1"/>
          </p:cNvSpPr>
          <p:nvPr>
            <p:ph type="title"/>
          </p:nvPr>
        </p:nvSpPr>
        <p:spPr>
          <a:xfrm>
            <a:off x="2592925" y="624110"/>
            <a:ext cx="8911687" cy="595090"/>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7A6DAC93-E921-43FD-ACFB-125639E21FF1}"/>
              </a:ext>
            </a:extLst>
          </p:cNvPr>
          <p:cNvSpPr>
            <a:spLocks noGrp="1"/>
          </p:cNvSpPr>
          <p:nvPr>
            <p:ph idx="1"/>
          </p:nvPr>
        </p:nvSpPr>
        <p:spPr>
          <a:xfrm>
            <a:off x="914400" y="1510748"/>
            <a:ext cx="10590212" cy="4400474"/>
          </a:xfrm>
        </p:spPr>
        <p:txBody>
          <a:bodyPr>
            <a:normAutofit/>
          </a:bodyPr>
          <a:lstStyle/>
          <a:p>
            <a:pPr algn="just"/>
            <a:r>
              <a:rPr lang="en-US" sz="2000" dirty="0"/>
              <a:t>Having a large amount of redundant data may slow down or confuse the knowledge discovery process. </a:t>
            </a:r>
          </a:p>
          <a:p>
            <a:pPr algn="just"/>
            <a:r>
              <a:rPr lang="en-US" sz="2000" dirty="0"/>
              <a:t>Clearly, in addition to data cleaning, steps must be taken to help avoid redundancies during data integration. </a:t>
            </a:r>
          </a:p>
          <a:p>
            <a:pPr algn="just"/>
            <a:r>
              <a:rPr lang="en-US" sz="2000" dirty="0"/>
              <a:t>Typically, data cleaning and data integration are performed as a preprocessing step when preparing data for a data warehouse. </a:t>
            </a:r>
          </a:p>
          <a:p>
            <a:pPr algn="just"/>
            <a:r>
              <a:rPr lang="en-US" sz="2000" dirty="0"/>
              <a:t>Additional data cleaning can be performed to detect and remove redundancies that may have resulted from data integration.</a:t>
            </a:r>
          </a:p>
          <a:p>
            <a:pPr algn="just"/>
            <a:r>
              <a:rPr lang="en-US" sz="2000" dirty="0">
                <a:hlinkClick r:id="rId2" action="ppaction://hlinkfile"/>
              </a:rPr>
              <a:t>Erroneous data and Missing data in data set</a:t>
            </a:r>
            <a:endParaRPr lang="en-US" sz="2000" dirty="0"/>
          </a:p>
        </p:txBody>
      </p:sp>
      <p:sp>
        <p:nvSpPr>
          <p:cNvPr id="4" name="Date Placeholder 3">
            <a:extLst>
              <a:ext uri="{FF2B5EF4-FFF2-40B4-BE49-F238E27FC236}">
                <a16:creationId xmlns:a16="http://schemas.microsoft.com/office/drawing/2014/main" id="{386B1941-B414-400E-B792-B8100E51F244}"/>
              </a:ext>
            </a:extLst>
          </p:cNvPr>
          <p:cNvSpPr>
            <a:spLocks noGrp="1"/>
          </p:cNvSpPr>
          <p:nvPr>
            <p:ph type="dt" sz="half" idx="10"/>
          </p:nvPr>
        </p:nvSpPr>
        <p:spPr/>
        <p:txBody>
          <a:bodyPr/>
          <a:lstStyle/>
          <a:p>
            <a:fld id="{EC54B4E0-0062-4326-A2AB-7425B3B94E52}" type="datetime1">
              <a:rPr lang="en-US" smtClean="0"/>
              <a:t>8/5/2025</a:t>
            </a:fld>
            <a:endParaRPr lang="en-US"/>
          </a:p>
        </p:txBody>
      </p:sp>
      <p:sp>
        <p:nvSpPr>
          <p:cNvPr id="5" name="Slide Number Placeholder 4">
            <a:extLst>
              <a:ext uri="{FF2B5EF4-FFF2-40B4-BE49-F238E27FC236}">
                <a16:creationId xmlns:a16="http://schemas.microsoft.com/office/drawing/2014/main" id="{D137DA78-AA1F-485E-B0D3-F9FA104708A5}"/>
              </a:ext>
            </a:extLst>
          </p:cNvPr>
          <p:cNvSpPr>
            <a:spLocks noGrp="1"/>
          </p:cNvSpPr>
          <p:nvPr>
            <p:ph type="sldNum" sz="quarter" idx="12"/>
          </p:nvPr>
        </p:nvSpPr>
        <p:spPr/>
        <p:txBody>
          <a:bodyPr/>
          <a:lstStyle/>
          <a:p>
            <a:fld id="{330EA680-D336-4FF7-8B7A-9848BB0A1C32}" type="slidenum">
              <a:rPr lang="en-US" smtClean="0"/>
              <a:t>16</a:t>
            </a:fld>
            <a:endParaRPr lang="en-US"/>
          </a:p>
        </p:txBody>
      </p:sp>
    </p:spTree>
    <p:extLst>
      <p:ext uri="{BB962C8B-B14F-4D97-AF65-F5344CB8AC3E}">
        <p14:creationId xmlns:p14="http://schemas.microsoft.com/office/powerpoint/2010/main" val="42677910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C7360-0DA3-4351-8951-2398B265E1A2}"/>
              </a:ext>
            </a:extLst>
          </p:cNvPr>
          <p:cNvSpPr>
            <a:spLocks noGrp="1"/>
          </p:cNvSpPr>
          <p:nvPr>
            <p:ph type="title"/>
          </p:nvPr>
        </p:nvSpPr>
        <p:spPr>
          <a:xfrm>
            <a:off x="2592925" y="624110"/>
            <a:ext cx="8911687" cy="462568"/>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3EC07D50-4F28-4506-AB9D-B95D0413C2E2}"/>
              </a:ext>
            </a:extLst>
          </p:cNvPr>
          <p:cNvSpPr>
            <a:spLocks noGrp="1"/>
          </p:cNvSpPr>
          <p:nvPr>
            <p:ph idx="1"/>
          </p:nvPr>
        </p:nvSpPr>
        <p:spPr>
          <a:xfrm>
            <a:off x="768626" y="1192695"/>
            <a:ext cx="10735986" cy="5041195"/>
          </a:xfrm>
        </p:spPr>
        <p:txBody>
          <a:bodyPr>
            <a:noAutofit/>
          </a:bodyPr>
          <a:lstStyle/>
          <a:p>
            <a:pPr algn="just"/>
            <a:r>
              <a:rPr lang="en-US" sz="2000" dirty="0"/>
              <a:t>If the data set selected is too large, it will slow down the data mining process. </a:t>
            </a:r>
          </a:p>
          <a:p>
            <a:pPr algn="just"/>
            <a:r>
              <a:rPr lang="en-US" sz="2000" dirty="0"/>
              <a:t>“Is there a way to reduce the size of  data set without risking the data mining results?”</a:t>
            </a:r>
          </a:p>
          <a:p>
            <a:pPr algn="just"/>
            <a:r>
              <a:rPr lang="en-US" sz="2000" dirty="0"/>
              <a:t>Data reduction obtains a reduced representation of the data set that is much smaller in volume, yet produces the same (or almost the same) analytical results.</a:t>
            </a:r>
          </a:p>
          <a:p>
            <a:pPr algn="just"/>
            <a:r>
              <a:rPr lang="en-US" sz="2000" dirty="0"/>
              <a:t> Data reduction strategies include dimensionality reduction and numerosity reduction. </a:t>
            </a:r>
          </a:p>
          <a:p>
            <a:pPr algn="just"/>
            <a:r>
              <a:rPr lang="en-US" sz="2000" dirty="0"/>
              <a:t>In dimensionality reduction, data encoding schemes are applied so as to obtain a reduced or “compressed” representation of the original data.</a:t>
            </a:r>
          </a:p>
          <a:p>
            <a:pPr algn="just"/>
            <a:r>
              <a:rPr lang="en-US" sz="2000" dirty="0"/>
              <a:t> Examples include data compression techniques (e.g., wavelet transforms and principal components analysis), attribute subset selection (e.g., removing irrelevant attributes), and attribute construction (e.g., where a small set of more useful attributes is derived from the original set). </a:t>
            </a:r>
          </a:p>
        </p:txBody>
      </p:sp>
      <p:sp>
        <p:nvSpPr>
          <p:cNvPr id="4" name="Date Placeholder 3">
            <a:extLst>
              <a:ext uri="{FF2B5EF4-FFF2-40B4-BE49-F238E27FC236}">
                <a16:creationId xmlns:a16="http://schemas.microsoft.com/office/drawing/2014/main" id="{50F218BA-DC23-40C4-8322-B159DE9513C2}"/>
              </a:ext>
            </a:extLst>
          </p:cNvPr>
          <p:cNvSpPr>
            <a:spLocks noGrp="1"/>
          </p:cNvSpPr>
          <p:nvPr>
            <p:ph type="dt" sz="half" idx="10"/>
          </p:nvPr>
        </p:nvSpPr>
        <p:spPr/>
        <p:txBody>
          <a:bodyPr/>
          <a:lstStyle/>
          <a:p>
            <a:fld id="{F0A48285-D1FD-441F-81CF-46EC4BC5A55C}" type="datetime1">
              <a:rPr lang="en-US" smtClean="0"/>
              <a:t>8/5/2025</a:t>
            </a:fld>
            <a:endParaRPr lang="en-US"/>
          </a:p>
        </p:txBody>
      </p:sp>
      <p:sp>
        <p:nvSpPr>
          <p:cNvPr id="5" name="Slide Number Placeholder 4">
            <a:extLst>
              <a:ext uri="{FF2B5EF4-FFF2-40B4-BE49-F238E27FC236}">
                <a16:creationId xmlns:a16="http://schemas.microsoft.com/office/drawing/2014/main" id="{1DC23DB7-DB55-4F4D-B21A-3E6E09848D1E}"/>
              </a:ext>
            </a:extLst>
          </p:cNvPr>
          <p:cNvSpPr>
            <a:spLocks noGrp="1"/>
          </p:cNvSpPr>
          <p:nvPr>
            <p:ph type="sldNum" sz="quarter" idx="12"/>
          </p:nvPr>
        </p:nvSpPr>
        <p:spPr/>
        <p:txBody>
          <a:bodyPr/>
          <a:lstStyle/>
          <a:p>
            <a:fld id="{330EA680-D336-4FF7-8B7A-9848BB0A1C32}" type="slidenum">
              <a:rPr lang="en-US" smtClean="0"/>
              <a:t>17</a:t>
            </a:fld>
            <a:endParaRPr lang="en-US"/>
          </a:p>
        </p:txBody>
      </p:sp>
    </p:spTree>
    <p:extLst>
      <p:ext uri="{BB962C8B-B14F-4D97-AF65-F5344CB8AC3E}">
        <p14:creationId xmlns:p14="http://schemas.microsoft.com/office/powerpoint/2010/main" val="36903749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F1FD1-6C15-4210-A235-9765D1D1F4D6}"/>
              </a:ext>
            </a:extLst>
          </p:cNvPr>
          <p:cNvSpPr>
            <a:spLocks noGrp="1"/>
          </p:cNvSpPr>
          <p:nvPr>
            <p:ph type="title"/>
          </p:nvPr>
        </p:nvSpPr>
        <p:spPr>
          <a:xfrm>
            <a:off x="2592925" y="624110"/>
            <a:ext cx="8911687" cy="322668"/>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E891BA7A-3A20-48BE-B26E-2A45836E248F}"/>
              </a:ext>
            </a:extLst>
          </p:cNvPr>
          <p:cNvSpPr>
            <a:spLocks noGrp="1"/>
          </p:cNvSpPr>
          <p:nvPr>
            <p:ph idx="1"/>
          </p:nvPr>
        </p:nvSpPr>
        <p:spPr>
          <a:xfrm>
            <a:off x="861391" y="1232452"/>
            <a:ext cx="10643221" cy="5001438"/>
          </a:xfrm>
        </p:spPr>
        <p:txBody>
          <a:bodyPr>
            <a:noAutofit/>
          </a:bodyPr>
          <a:lstStyle/>
          <a:p>
            <a:pPr algn="just"/>
            <a:r>
              <a:rPr lang="en-US" sz="2000" dirty="0"/>
              <a:t>In numerosity reduction, the data are replaced by alternative, smaller representations using parametric models (e.g., regression or log-linear models) or nonparametric models (e.g., histograms, clusters, sampling, or data aggregation).</a:t>
            </a:r>
          </a:p>
          <a:p>
            <a:pPr algn="just"/>
            <a:r>
              <a:rPr lang="en-US" sz="2000" dirty="0"/>
              <a:t>Data mining methods provide better results if the data to be analyzed have been normalized, that is, scaled to a smaller range such as [0.0, 1.0].</a:t>
            </a:r>
          </a:p>
          <a:p>
            <a:pPr algn="just"/>
            <a:r>
              <a:rPr lang="en-US" sz="2000" dirty="0"/>
              <a:t>Discretization and concept hierarchy generation can also be useful, where raw data values for attributes are replaced by ranges or higher conceptual levels. </a:t>
            </a:r>
          </a:p>
          <a:p>
            <a:pPr algn="just"/>
            <a:r>
              <a:rPr lang="en-US" sz="2000" dirty="0"/>
              <a:t>For example, raw values for age may be replaced by higher-level concepts, such as youth, adult, or senior. </a:t>
            </a:r>
          </a:p>
          <a:p>
            <a:pPr algn="just"/>
            <a:r>
              <a:rPr lang="en-US" sz="2000" dirty="0"/>
              <a:t>Discretization and concept hierarchy generation are powerful tools for data mining in that they allow data mining at multiple abstraction levels. </a:t>
            </a:r>
          </a:p>
          <a:p>
            <a:pPr algn="just"/>
            <a:r>
              <a:rPr lang="en-US" sz="2000" dirty="0"/>
              <a:t>Normalization, data discretization, and concept hierarchy generation are forms of data transformation.</a:t>
            </a:r>
          </a:p>
        </p:txBody>
      </p:sp>
      <p:sp>
        <p:nvSpPr>
          <p:cNvPr id="4" name="Date Placeholder 3">
            <a:extLst>
              <a:ext uri="{FF2B5EF4-FFF2-40B4-BE49-F238E27FC236}">
                <a16:creationId xmlns:a16="http://schemas.microsoft.com/office/drawing/2014/main" id="{3CA1DAD6-E7A7-420C-BC33-E4595917D1E2}"/>
              </a:ext>
            </a:extLst>
          </p:cNvPr>
          <p:cNvSpPr>
            <a:spLocks noGrp="1"/>
          </p:cNvSpPr>
          <p:nvPr>
            <p:ph type="dt" sz="half" idx="10"/>
          </p:nvPr>
        </p:nvSpPr>
        <p:spPr/>
        <p:txBody>
          <a:bodyPr/>
          <a:lstStyle/>
          <a:p>
            <a:fld id="{18161B0F-418E-43DC-8935-730BFA0A2369}" type="datetime1">
              <a:rPr lang="en-US" smtClean="0"/>
              <a:t>8/5/2025</a:t>
            </a:fld>
            <a:endParaRPr lang="en-US"/>
          </a:p>
        </p:txBody>
      </p:sp>
      <p:sp>
        <p:nvSpPr>
          <p:cNvPr id="5" name="Slide Number Placeholder 4">
            <a:extLst>
              <a:ext uri="{FF2B5EF4-FFF2-40B4-BE49-F238E27FC236}">
                <a16:creationId xmlns:a16="http://schemas.microsoft.com/office/drawing/2014/main" id="{5FFA5B3A-F0D8-48C7-BA4E-CF2FF76B5584}"/>
              </a:ext>
            </a:extLst>
          </p:cNvPr>
          <p:cNvSpPr>
            <a:spLocks noGrp="1"/>
          </p:cNvSpPr>
          <p:nvPr>
            <p:ph type="sldNum" sz="quarter" idx="12"/>
          </p:nvPr>
        </p:nvSpPr>
        <p:spPr/>
        <p:txBody>
          <a:bodyPr/>
          <a:lstStyle/>
          <a:p>
            <a:fld id="{330EA680-D336-4FF7-8B7A-9848BB0A1C32}" type="slidenum">
              <a:rPr lang="en-US" smtClean="0"/>
              <a:t>18</a:t>
            </a:fld>
            <a:endParaRPr lang="en-US"/>
          </a:p>
        </p:txBody>
      </p:sp>
    </p:spTree>
    <p:extLst>
      <p:ext uri="{BB962C8B-B14F-4D97-AF65-F5344CB8AC3E}">
        <p14:creationId xmlns:p14="http://schemas.microsoft.com/office/powerpoint/2010/main" val="28410022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4AE50-425A-466E-B54A-8473EC455E6A}"/>
              </a:ext>
            </a:extLst>
          </p:cNvPr>
          <p:cNvSpPr>
            <a:spLocks noGrp="1"/>
          </p:cNvSpPr>
          <p:nvPr>
            <p:ph type="title"/>
          </p:nvPr>
        </p:nvSpPr>
        <p:spPr>
          <a:xfrm>
            <a:off x="2592925" y="624110"/>
            <a:ext cx="8911687" cy="224029"/>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5D7C9C16-E648-4A0A-9F06-44E446D1B3FC}"/>
              </a:ext>
            </a:extLst>
          </p:cNvPr>
          <p:cNvSpPr>
            <a:spLocks noGrp="1"/>
          </p:cNvSpPr>
          <p:nvPr>
            <p:ph idx="1"/>
          </p:nvPr>
        </p:nvSpPr>
        <p:spPr>
          <a:xfrm>
            <a:off x="543339" y="1219201"/>
            <a:ext cx="10961273" cy="4692022"/>
          </a:xfrm>
        </p:spPr>
        <p:txBody>
          <a:bodyPr/>
          <a:lstStyle/>
          <a:p>
            <a:r>
              <a:rPr lang="en-US" dirty="0"/>
              <a:t>Figure below summarizes the data preprocessing steps described here</a:t>
            </a:r>
          </a:p>
        </p:txBody>
      </p:sp>
      <p:pic>
        <p:nvPicPr>
          <p:cNvPr id="4" name="Picture 3">
            <a:extLst>
              <a:ext uri="{FF2B5EF4-FFF2-40B4-BE49-F238E27FC236}">
                <a16:creationId xmlns:a16="http://schemas.microsoft.com/office/drawing/2014/main" id="{40CE9A5B-472F-4CCB-8EF1-7D8EB9ACCCC7}"/>
              </a:ext>
            </a:extLst>
          </p:cNvPr>
          <p:cNvPicPr>
            <a:picLocks noChangeAspect="1"/>
          </p:cNvPicPr>
          <p:nvPr/>
        </p:nvPicPr>
        <p:blipFill>
          <a:blip r:embed="rId2"/>
          <a:stretch>
            <a:fillRect/>
          </a:stretch>
        </p:blipFill>
        <p:spPr>
          <a:xfrm>
            <a:off x="1049311" y="1768839"/>
            <a:ext cx="9713627" cy="4692022"/>
          </a:xfrm>
          <a:prstGeom prst="rect">
            <a:avLst/>
          </a:prstGeom>
        </p:spPr>
      </p:pic>
      <p:sp>
        <p:nvSpPr>
          <p:cNvPr id="5" name="Date Placeholder 4">
            <a:extLst>
              <a:ext uri="{FF2B5EF4-FFF2-40B4-BE49-F238E27FC236}">
                <a16:creationId xmlns:a16="http://schemas.microsoft.com/office/drawing/2014/main" id="{D2696220-30C6-4162-8A19-0165589573AA}"/>
              </a:ext>
            </a:extLst>
          </p:cNvPr>
          <p:cNvSpPr>
            <a:spLocks noGrp="1"/>
          </p:cNvSpPr>
          <p:nvPr>
            <p:ph type="dt" sz="half" idx="10"/>
          </p:nvPr>
        </p:nvSpPr>
        <p:spPr/>
        <p:txBody>
          <a:bodyPr/>
          <a:lstStyle/>
          <a:p>
            <a:fld id="{BB4CAC0C-7FAB-451F-91EF-CFEF38599B86}" type="datetime1">
              <a:rPr lang="en-US" smtClean="0"/>
              <a:t>8/5/2025</a:t>
            </a:fld>
            <a:endParaRPr lang="en-US"/>
          </a:p>
        </p:txBody>
      </p:sp>
      <p:sp>
        <p:nvSpPr>
          <p:cNvPr id="6" name="Slide Number Placeholder 5">
            <a:extLst>
              <a:ext uri="{FF2B5EF4-FFF2-40B4-BE49-F238E27FC236}">
                <a16:creationId xmlns:a16="http://schemas.microsoft.com/office/drawing/2014/main" id="{3F9B9E24-8498-4F50-9E64-2CD43E86A7CD}"/>
              </a:ext>
            </a:extLst>
          </p:cNvPr>
          <p:cNvSpPr>
            <a:spLocks noGrp="1"/>
          </p:cNvSpPr>
          <p:nvPr>
            <p:ph type="sldNum" sz="quarter" idx="12"/>
          </p:nvPr>
        </p:nvSpPr>
        <p:spPr/>
        <p:txBody>
          <a:bodyPr/>
          <a:lstStyle/>
          <a:p>
            <a:fld id="{330EA680-D336-4FF7-8B7A-9848BB0A1C32}" type="slidenum">
              <a:rPr lang="en-US" smtClean="0"/>
              <a:t>19</a:t>
            </a:fld>
            <a:endParaRPr lang="en-US"/>
          </a:p>
        </p:txBody>
      </p:sp>
    </p:spTree>
    <p:extLst>
      <p:ext uri="{BB962C8B-B14F-4D97-AF65-F5344CB8AC3E}">
        <p14:creationId xmlns:p14="http://schemas.microsoft.com/office/powerpoint/2010/main" val="16071077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27891-135A-4D88-8FA9-6525E1BC91FC}"/>
              </a:ext>
            </a:extLst>
          </p:cNvPr>
          <p:cNvSpPr>
            <a:spLocks noGrp="1"/>
          </p:cNvSpPr>
          <p:nvPr>
            <p:ph type="title"/>
          </p:nvPr>
        </p:nvSpPr>
        <p:spPr>
          <a:xfrm>
            <a:off x="2592925" y="624110"/>
            <a:ext cx="8911687" cy="322668"/>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46F07CDD-BC22-4BC2-B185-BAC04BAF9BEC}"/>
              </a:ext>
            </a:extLst>
          </p:cNvPr>
          <p:cNvSpPr>
            <a:spLocks noGrp="1"/>
          </p:cNvSpPr>
          <p:nvPr>
            <p:ph idx="1"/>
          </p:nvPr>
        </p:nvSpPr>
        <p:spPr>
          <a:xfrm>
            <a:off x="1046922" y="1540476"/>
            <a:ext cx="10457690" cy="4370746"/>
          </a:xfrm>
        </p:spPr>
        <p:txBody>
          <a:bodyPr>
            <a:normAutofit/>
          </a:bodyPr>
          <a:lstStyle/>
          <a:p>
            <a:pPr algn="just"/>
            <a:r>
              <a:rPr lang="en-US" sz="2400" b="1" dirty="0"/>
              <a:t>Data Cleaning</a:t>
            </a:r>
          </a:p>
          <a:p>
            <a:pPr algn="just"/>
            <a:r>
              <a:rPr lang="en-US" sz="2000" dirty="0"/>
              <a:t>Real-world data tend to be incomplete, noisy, and inconsistent.  </a:t>
            </a:r>
          </a:p>
          <a:p>
            <a:pPr algn="just"/>
            <a:r>
              <a:rPr lang="en-US" sz="2000" dirty="0"/>
              <a:t>Data cleaning routines attempt to fill in missing values, smooth out noise while identifying outliers, and correct inconsistencies in the data. </a:t>
            </a:r>
          </a:p>
        </p:txBody>
      </p:sp>
      <p:sp>
        <p:nvSpPr>
          <p:cNvPr id="4" name="Date Placeholder 3">
            <a:extLst>
              <a:ext uri="{FF2B5EF4-FFF2-40B4-BE49-F238E27FC236}">
                <a16:creationId xmlns:a16="http://schemas.microsoft.com/office/drawing/2014/main" id="{C55FE4C9-D9B1-4894-8E43-98E6790588ED}"/>
              </a:ext>
            </a:extLst>
          </p:cNvPr>
          <p:cNvSpPr>
            <a:spLocks noGrp="1"/>
          </p:cNvSpPr>
          <p:nvPr>
            <p:ph type="dt" sz="half" idx="10"/>
          </p:nvPr>
        </p:nvSpPr>
        <p:spPr/>
        <p:txBody>
          <a:bodyPr/>
          <a:lstStyle/>
          <a:p>
            <a:fld id="{163EB8AA-A5DB-4A99-9FB4-4CC40BF726B4}" type="datetime1">
              <a:rPr lang="en-US" smtClean="0"/>
              <a:t>8/5/2025</a:t>
            </a:fld>
            <a:endParaRPr lang="en-US"/>
          </a:p>
        </p:txBody>
      </p:sp>
      <p:sp>
        <p:nvSpPr>
          <p:cNvPr id="5" name="Slide Number Placeholder 4">
            <a:extLst>
              <a:ext uri="{FF2B5EF4-FFF2-40B4-BE49-F238E27FC236}">
                <a16:creationId xmlns:a16="http://schemas.microsoft.com/office/drawing/2014/main" id="{09C0B780-89A9-4A92-B651-BBE43507D545}"/>
              </a:ext>
            </a:extLst>
          </p:cNvPr>
          <p:cNvSpPr>
            <a:spLocks noGrp="1"/>
          </p:cNvSpPr>
          <p:nvPr>
            <p:ph type="sldNum" sz="quarter" idx="12"/>
          </p:nvPr>
        </p:nvSpPr>
        <p:spPr/>
        <p:txBody>
          <a:bodyPr/>
          <a:lstStyle/>
          <a:p>
            <a:fld id="{330EA680-D336-4FF7-8B7A-9848BB0A1C32}" type="slidenum">
              <a:rPr lang="en-US" smtClean="0"/>
              <a:t>20</a:t>
            </a:fld>
            <a:endParaRPr lang="en-US"/>
          </a:p>
        </p:txBody>
      </p:sp>
    </p:spTree>
    <p:extLst>
      <p:ext uri="{BB962C8B-B14F-4D97-AF65-F5344CB8AC3E}">
        <p14:creationId xmlns:p14="http://schemas.microsoft.com/office/powerpoint/2010/main" val="3311749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C6395-B1E2-4C44-B507-48C8F667545D}"/>
              </a:ext>
            </a:extLst>
          </p:cNvPr>
          <p:cNvSpPr>
            <a:spLocks noGrp="1"/>
          </p:cNvSpPr>
          <p:nvPr>
            <p:ph type="title"/>
          </p:nvPr>
        </p:nvSpPr>
        <p:spPr>
          <a:xfrm>
            <a:off x="2592925" y="624110"/>
            <a:ext cx="8911687" cy="224029"/>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DE08A0CF-543F-4CD8-AE78-305D250812AE}"/>
              </a:ext>
            </a:extLst>
          </p:cNvPr>
          <p:cNvSpPr>
            <a:spLocks noGrp="1"/>
          </p:cNvSpPr>
          <p:nvPr>
            <p:ph idx="1"/>
          </p:nvPr>
        </p:nvSpPr>
        <p:spPr>
          <a:xfrm>
            <a:off x="848139" y="1258957"/>
            <a:ext cx="10656473" cy="4974933"/>
          </a:xfrm>
        </p:spPr>
        <p:txBody>
          <a:bodyPr>
            <a:normAutofit lnSpcReduction="10000"/>
          </a:bodyPr>
          <a:lstStyle/>
          <a:p>
            <a:pPr algn="just"/>
            <a:r>
              <a:rPr lang="en-US" sz="2000" b="1" dirty="0"/>
              <a:t>Missing Values </a:t>
            </a:r>
          </a:p>
          <a:p>
            <a:pPr algn="just"/>
            <a:r>
              <a:rPr lang="en-US" sz="2000" dirty="0"/>
              <a:t>Imagine that you need to analyze </a:t>
            </a:r>
            <a:r>
              <a:rPr lang="en-US" sz="2000" dirty="0" err="1"/>
              <a:t>AllElectronics</a:t>
            </a:r>
            <a:r>
              <a:rPr lang="en-US" sz="2000" dirty="0"/>
              <a:t> sales and customer data. </a:t>
            </a:r>
          </a:p>
          <a:p>
            <a:pPr algn="just"/>
            <a:r>
              <a:rPr lang="en-US" sz="2000" dirty="0"/>
              <a:t>You note that many tuples have no recorded value for several attributes such as customer income. How can you go about filling in the missing values for this attribute?</a:t>
            </a:r>
          </a:p>
          <a:p>
            <a:pPr algn="just"/>
            <a:r>
              <a:rPr lang="en-US" sz="2000" dirty="0"/>
              <a:t> Let’s look at the following methods. </a:t>
            </a:r>
          </a:p>
          <a:p>
            <a:pPr marL="520700" indent="-352425" algn="just">
              <a:buNone/>
            </a:pPr>
            <a:r>
              <a:rPr lang="en-US" sz="2000" b="1" dirty="0"/>
              <a:t>1. Ignore the tuple: </a:t>
            </a:r>
            <a:r>
              <a:rPr lang="en-US" sz="2000" dirty="0"/>
              <a:t>This is usually done when the class label is missing (assuming the mining task involves classification). This method is not very effective, unless the tuple contains several attributes with missing values. It is especially poor when the percentage of missing values per attribute varies considerably. By ignoring the tuple, we do not make use of the remaining attributes’ values in the tuple. Such data could have been useful to the task at hand.</a:t>
            </a:r>
          </a:p>
          <a:p>
            <a:pPr marL="576263" indent="-407988" algn="just">
              <a:buNone/>
            </a:pPr>
            <a:r>
              <a:rPr lang="en-US" sz="2000" dirty="0"/>
              <a:t>2. </a:t>
            </a:r>
            <a:r>
              <a:rPr lang="en-US" sz="2000" b="1" dirty="0"/>
              <a:t>Fill in the missing value manually: </a:t>
            </a:r>
            <a:r>
              <a:rPr lang="en-US" sz="2000" dirty="0"/>
              <a:t>In general, this approach is time consuming and may not be feasible given a large data set with many missing values</a:t>
            </a:r>
          </a:p>
          <a:p>
            <a:endParaRPr lang="en-US" dirty="0"/>
          </a:p>
        </p:txBody>
      </p:sp>
      <p:sp>
        <p:nvSpPr>
          <p:cNvPr id="4" name="Date Placeholder 3">
            <a:extLst>
              <a:ext uri="{FF2B5EF4-FFF2-40B4-BE49-F238E27FC236}">
                <a16:creationId xmlns:a16="http://schemas.microsoft.com/office/drawing/2014/main" id="{15155D5D-BA01-4475-AECB-F07F17F8A007}"/>
              </a:ext>
            </a:extLst>
          </p:cNvPr>
          <p:cNvSpPr>
            <a:spLocks noGrp="1"/>
          </p:cNvSpPr>
          <p:nvPr>
            <p:ph type="dt" sz="half" idx="10"/>
          </p:nvPr>
        </p:nvSpPr>
        <p:spPr/>
        <p:txBody>
          <a:bodyPr/>
          <a:lstStyle/>
          <a:p>
            <a:fld id="{A82141C3-784F-4320-9D67-E68F34123365}" type="datetime1">
              <a:rPr lang="en-US" smtClean="0"/>
              <a:t>8/5/2025</a:t>
            </a:fld>
            <a:endParaRPr lang="en-US"/>
          </a:p>
        </p:txBody>
      </p:sp>
      <p:sp>
        <p:nvSpPr>
          <p:cNvPr id="5" name="Slide Number Placeholder 4">
            <a:extLst>
              <a:ext uri="{FF2B5EF4-FFF2-40B4-BE49-F238E27FC236}">
                <a16:creationId xmlns:a16="http://schemas.microsoft.com/office/drawing/2014/main" id="{E3611925-F7EC-4E84-9A1A-83C959BB0F24}"/>
              </a:ext>
            </a:extLst>
          </p:cNvPr>
          <p:cNvSpPr>
            <a:spLocks noGrp="1"/>
          </p:cNvSpPr>
          <p:nvPr>
            <p:ph type="sldNum" sz="quarter" idx="12"/>
          </p:nvPr>
        </p:nvSpPr>
        <p:spPr/>
        <p:txBody>
          <a:bodyPr/>
          <a:lstStyle/>
          <a:p>
            <a:fld id="{330EA680-D336-4FF7-8B7A-9848BB0A1C32}" type="slidenum">
              <a:rPr lang="en-US" smtClean="0"/>
              <a:t>21</a:t>
            </a:fld>
            <a:endParaRPr lang="en-US"/>
          </a:p>
        </p:txBody>
      </p:sp>
    </p:spTree>
    <p:extLst>
      <p:ext uri="{BB962C8B-B14F-4D97-AF65-F5344CB8AC3E}">
        <p14:creationId xmlns:p14="http://schemas.microsoft.com/office/powerpoint/2010/main" val="19947852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E9D66-D28F-4685-8815-50280238BC4E}"/>
              </a:ext>
            </a:extLst>
          </p:cNvPr>
          <p:cNvSpPr>
            <a:spLocks noGrp="1"/>
          </p:cNvSpPr>
          <p:nvPr>
            <p:ph type="title"/>
          </p:nvPr>
        </p:nvSpPr>
        <p:spPr>
          <a:xfrm>
            <a:off x="2592925" y="624110"/>
            <a:ext cx="8911687" cy="322668"/>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72BD399A-0396-4F03-862A-A027445E30D0}"/>
              </a:ext>
            </a:extLst>
          </p:cNvPr>
          <p:cNvSpPr>
            <a:spLocks noGrp="1"/>
          </p:cNvSpPr>
          <p:nvPr>
            <p:ph idx="1"/>
          </p:nvPr>
        </p:nvSpPr>
        <p:spPr>
          <a:xfrm>
            <a:off x="636104" y="1680518"/>
            <a:ext cx="10868508" cy="4230703"/>
          </a:xfrm>
        </p:spPr>
        <p:txBody>
          <a:bodyPr>
            <a:normAutofit/>
          </a:bodyPr>
          <a:lstStyle/>
          <a:p>
            <a:pPr marL="520700" indent="-407988" algn="just">
              <a:buNone/>
            </a:pPr>
            <a:r>
              <a:rPr lang="en-US" sz="2000" b="1" dirty="0"/>
              <a:t>3. Use a global constant to fill in the missing value: </a:t>
            </a:r>
            <a:r>
              <a:rPr lang="en-US" sz="2000" dirty="0"/>
              <a:t>Replace all missing attribute values by the same constant such as a label like “Unknown” or −∞. If missing values are replaced by, say, “Unknown,” then the mining program may mistakenly think that they form an interesting concept, since they all have a value in common—that of “Unknown.” Hence, although this method is simple, it is not foolproof. </a:t>
            </a:r>
          </a:p>
          <a:p>
            <a:pPr marL="463550" indent="-407988" algn="just">
              <a:buNone/>
            </a:pPr>
            <a:r>
              <a:rPr lang="en-US" sz="2000" b="1" dirty="0"/>
              <a:t>4. Use a measure of central tendency for the attribute (e.g., the mean or median) to fill in the missing value: </a:t>
            </a:r>
            <a:r>
              <a:rPr lang="en-US" sz="2000" dirty="0"/>
              <a:t>measures of central tendency, which indicate the “middle” value of a data distribution. For normal (symmetric) data distributions, the mean can be used, while skewed data distribution should employ the median.  </a:t>
            </a:r>
          </a:p>
        </p:txBody>
      </p:sp>
      <p:sp>
        <p:nvSpPr>
          <p:cNvPr id="4" name="Date Placeholder 3">
            <a:extLst>
              <a:ext uri="{FF2B5EF4-FFF2-40B4-BE49-F238E27FC236}">
                <a16:creationId xmlns:a16="http://schemas.microsoft.com/office/drawing/2014/main" id="{952088FB-C9A1-4F8C-B994-E264FDF2685A}"/>
              </a:ext>
            </a:extLst>
          </p:cNvPr>
          <p:cNvSpPr>
            <a:spLocks noGrp="1"/>
          </p:cNvSpPr>
          <p:nvPr>
            <p:ph type="dt" sz="half" idx="10"/>
          </p:nvPr>
        </p:nvSpPr>
        <p:spPr/>
        <p:txBody>
          <a:bodyPr/>
          <a:lstStyle/>
          <a:p>
            <a:fld id="{8F3FF726-748F-4AE2-8566-7A4476598C44}" type="datetime1">
              <a:rPr lang="en-US" smtClean="0"/>
              <a:t>8/5/2025</a:t>
            </a:fld>
            <a:endParaRPr lang="en-US"/>
          </a:p>
        </p:txBody>
      </p:sp>
      <p:sp>
        <p:nvSpPr>
          <p:cNvPr id="5" name="Slide Number Placeholder 4">
            <a:extLst>
              <a:ext uri="{FF2B5EF4-FFF2-40B4-BE49-F238E27FC236}">
                <a16:creationId xmlns:a16="http://schemas.microsoft.com/office/drawing/2014/main" id="{05E119A4-7E32-44BC-BE67-D27B00140BBA}"/>
              </a:ext>
            </a:extLst>
          </p:cNvPr>
          <p:cNvSpPr>
            <a:spLocks noGrp="1"/>
          </p:cNvSpPr>
          <p:nvPr>
            <p:ph type="sldNum" sz="quarter" idx="12"/>
          </p:nvPr>
        </p:nvSpPr>
        <p:spPr/>
        <p:txBody>
          <a:bodyPr/>
          <a:lstStyle/>
          <a:p>
            <a:fld id="{330EA680-D336-4FF7-8B7A-9848BB0A1C32}" type="slidenum">
              <a:rPr lang="en-US" smtClean="0"/>
              <a:t>22</a:t>
            </a:fld>
            <a:endParaRPr lang="en-US"/>
          </a:p>
        </p:txBody>
      </p:sp>
    </p:spTree>
    <p:extLst>
      <p:ext uri="{BB962C8B-B14F-4D97-AF65-F5344CB8AC3E}">
        <p14:creationId xmlns:p14="http://schemas.microsoft.com/office/powerpoint/2010/main" val="31775675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27DE4-B4FC-4F1F-AFC0-40AF4BFC804B}"/>
              </a:ext>
            </a:extLst>
          </p:cNvPr>
          <p:cNvSpPr>
            <a:spLocks noGrp="1"/>
          </p:cNvSpPr>
          <p:nvPr>
            <p:ph type="title"/>
          </p:nvPr>
        </p:nvSpPr>
        <p:spPr>
          <a:xfrm>
            <a:off x="2592925" y="624110"/>
            <a:ext cx="8911687" cy="149613"/>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E73BEF3F-FBAA-4160-83D9-B3A80AC06E7A}"/>
              </a:ext>
            </a:extLst>
          </p:cNvPr>
          <p:cNvSpPr>
            <a:spLocks noGrp="1"/>
          </p:cNvSpPr>
          <p:nvPr>
            <p:ph idx="1"/>
          </p:nvPr>
        </p:nvSpPr>
        <p:spPr>
          <a:xfrm>
            <a:off x="872197" y="1589903"/>
            <a:ext cx="10632415" cy="4321319"/>
          </a:xfrm>
        </p:spPr>
        <p:txBody>
          <a:bodyPr/>
          <a:lstStyle/>
          <a:p>
            <a:pPr marL="463550" indent="-350838" algn="just">
              <a:buNone/>
            </a:pPr>
            <a:r>
              <a:rPr lang="en-US" sz="2000" b="1" dirty="0"/>
              <a:t>5. Use the attribute mean or median for all samples belonging to the same class as the given tuple:</a:t>
            </a:r>
            <a:r>
              <a:rPr lang="en-US" sz="2000" dirty="0"/>
              <a:t> For example, if classifying customers according to credit risk, we may replace the missing value with the mean income value for customers in the same credit risk category as that of the given tuple. If the data distribution for a given class is skewed, the median value is a better choice. </a:t>
            </a:r>
          </a:p>
          <a:p>
            <a:pPr marL="463550" indent="-350838" algn="just">
              <a:buNone/>
            </a:pPr>
            <a:r>
              <a:rPr lang="en-US" sz="2000" b="1" dirty="0"/>
              <a:t>6. Use the most probable value to fill in the missing value: </a:t>
            </a:r>
            <a:r>
              <a:rPr lang="en-US" sz="2000" dirty="0"/>
              <a:t>This may be determined with regression, inference-based tools using a Bayesian formalism, or decision tree induction. For example, using the other customer attributes in your data set, you may construct a decision tree to predict the missing values for income.</a:t>
            </a:r>
          </a:p>
          <a:p>
            <a:endParaRPr lang="en-US" dirty="0"/>
          </a:p>
        </p:txBody>
      </p:sp>
      <p:sp>
        <p:nvSpPr>
          <p:cNvPr id="4" name="Date Placeholder 3">
            <a:extLst>
              <a:ext uri="{FF2B5EF4-FFF2-40B4-BE49-F238E27FC236}">
                <a16:creationId xmlns:a16="http://schemas.microsoft.com/office/drawing/2014/main" id="{B9FCB660-A1CF-4EA6-9DCA-21D86DEFBEC7}"/>
              </a:ext>
            </a:extLst>
          </p:cNvPr>
          <p:cNvSpPr>
            <a:spLocks noGrp="1"/>
          </p:cNvSpPr>
          <p:nvPr>
            <p:ph type="dt" sz="half" idx="10"/>
          </p:nvPr>
        </p:nvSpPr>
        <p:spPr/>
        <p:txBody>
          <a:bodyPr/>
          <a:lstStyle/>
          <a:p>
            <a:fld id="{BAFF7CA6-1B44-4FD1-AF22-3BBAE66F5C4D}" type="datetime1">
              <a:rPr lang="en-US" smtClean="0"/>
              <a:t>8/5/2025</a:t>
            </a:fld>
            <a:endParaRPr lang="en-US"/>
          </a:p>
        </p:txBody>
      </p:sp>
      <p:sp>
        <p:nvSpPr>
          <p:cNvPr id="5" name="Slide Number Placeholder 4">
            <a:extLst>
              <a:ext uri="{FF2B5EF4-FFF2-40B4-BE49-F238E27FC236}">
                <a16:creationId xmlns:a16="http://schemas.microsoft.com/office/drawing/2014/main" id="{56AC17A3-E430-414D-9773-270DE5C1CB6F}"/>
              </a:ext>
            </a:extLst>
          </p:cNvPr>
          <p:cNvSpPr>
            <a:spLocks noGrp="1"/>
          </p:cNvSpPr>
          <p:nvPr>
            <p:ph type="sldNum" sz="quarter" idx="12"/>
          </p:nvPr>
        </p:nvSpPr>
        <p:spPr/>
        <p:txBody>
          <a:bodyPr/>
          <a:lstStyle/>
          <a:p>
            <a:fld id="{330EA680-D336-4FF7-8B7A-9848BB0A1C32}" type="slidenum">
              <a:rPr lang="en-US" smtClean="0"/>
              <a:t>23</a:t>
            </a:fld>
            <a:endParaRPr lang="en-US"/>
          </a:p>
        </p:txBody>
      </p:sp>
    </p:spTree>
    <p:extLst>
      <p:ext uri="{BB962C8B-B14F-4D97-AF65-F5344CB8AC3E}">
        <p14:creationId xmlns:p14="http://schemas.microsoft.com/office/powerpoint/2010/main" val="19106484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BBA23-F0E4-46B2-8DDF-715A71A4D68A}"/>
              </a:ext>
            </a:extLst>
          </p:cNvPr>
          <p:cNvSpPr>
            <a:spLocks noGrp="1"/>
          </p:cNvSpPr>
          <p:nvPr>
            <p:ph type="title"/>
          </p:nvPr>
        </p:nvSpPr>
        <p:spPr>
          <a:xfrm>
            <a:off x="2592925" y="624110"/>
            <a:ext cx="8911687" cy="322668"/>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03D497B8-9457-4EC4-AC81-BC453837D76D}"/>
              </a:ext>
            </a:extLst>
          </p:cNvPr>
          <p:cNvSpPr>
            <a:spLocks noGrp="1"/>
          </p:cNvSpPr>
          <p:nvPr>
            <p:ph idx="1"/>
          </p:nvPr>
        </p:nvSpPr>
        <p:spPr>
          <a:xfrm>
            <a:off x="998806" y="1451782"/>
            <a:ext cx="10505806" cy="4469600"/>
          </a:xfrm>
        </p:spPr>
        <p:txBody>
          <a:bodyPr>
            <a:normAutofit/>
          </a:bodyPr>
          <a:lstStyle/>
          <a:p>
            <a:pPr algn="just"/>
            <a:r>
              <a:rPr lang="en-US" sz="2000" b="1" dirty="0"/>
              <a:t>Noisy Data</a:t>
            </a:r>
          </a:p>
          <a:p>
            <a:pPr algn="just"/>
            <a:r>
              <a:rPr lang="en-US" sz="2000" dirty="0"/>
              <a:t>“What is noise?” Noise is a random error or variance in a measured variable. </a:t>
            </a:r>
          </a:p>
          <a:p>
            <a:pPr algn="just"/>
            <a:r>
              <a:rPr lang="en-US" sz="2000" dirty="0"/>
              <a:t>Given a numeric attribute such as, price, how can we “smooth” out the data to remove the noise? </a:t>
            </a:r>
          </a:p>
          <a:p>
            <a:pPr algn="just"/>
            <a:r>
              <a:rPr lang="en-US" sz="2000" dirty="0"/>
              <a:t>Let’s look at the following data smoothing techniques. </a:t>
            </a:r>
          </a:p>
          <a:p>
            <a:pPr algn="just"/>
            <a:r>
              <a:rPr lang="en-US" sz="2000" b="1" dirty="0"/>
              <a:t>Binning:</a:t>
            </a:r>
            <a:r>
              <a:rPr lang="en-US" sz="2000" dirty="0"/>
              <a:t> Binning methods smooth a sorted data value by consulting its “neighborhood,” that is, the values around it. </a:t>
            </a:r>
          </a:p>
          <a:p>
            <a:pPr algn="just"/>
            <a:r>
              <a:rPr lang="en-US" sz="2000" dirty="0"/>
              <a:t>The sorted values are distributed into a number of “buckets,” or bins. </a:t>
            </a:r>
          </a:p>
          <a:p>
            <a:pPr algn="just"/>
            <a:r>
              <a:rPr lang="en-US" sz="2000" dirty="0"/>
              <a:t>Because binning methods consult the neighborhood of values, they perform local smoothing.</a:t>
            </a:r>
          </a:p>
        </p:txBody>
      </p:sp>
      <p:sp>
        <p:nvSpPr>
          <p:cNvPr id="4" name="Date Placeholder 3">
            <a:extLst>
              <a:ext uri="{FF2B5EF4-FFF2-40B4-BE49-F238E27FC236}">
                <a16:creationId xmlns:a16="http://schemas.microsoft.com/office/drawing/2014/main" id="{659F5FD5-2C29-47A2-AAEC-3E1D66E795CB}"/>
              </a:ext>
            </a:extLst>
          </p:cNvPr>
          <p:cNvSpPr>
            <a:spLocks noGrp="1"/>
          </p:cNvSpPr>
          <p:nvPr>
            <p:ph type="dt" sz="half" idx="10"/>
          </p:nvPr>
        </p:nvSpPr>
        <p:spPr/>
        <p:txBody>
          <a:bodyPr/>
          <a:lstStyle/>
          <a:p>
            <a:fld id="{7A98D042-2D88-464A-9436-49633FB18814}" type="datetime1">
              <a:rPr lang="en-US" smtClean="0"/>
              <a:t>8/5/2025</a:t>
            </a:fld>
            <a:endParaRPr lang="en-US"/>
          </a:p>
        </p:txBody>
      </p:sp>
      <p:sp>
        <p:nvSpPr>
          <p:cNvPr id="5" name="Slide Number Placeholder 4">
            <a:extLst>
              <a:ext uri="{FF2B5EF4-FFF2-40B4-BE49-F238E27FC236}">
                <a16:creationId xmlns:a16="http://schemas.microsoft.com/office/drawing/2014/main" id="{487C14CF-5076-4A40-9AEC-E4812D3F8CBD}"/>
              </a:ext>
            </a:extLst>
          </p:cNvPr>
          <p:cNvSpPr>
            <a:spLocks noGrp="1"/>
          </p:cNvSpPr>
          <p:nvPr>
            <p:ph type="sldNum" sz="quarter" idx="12"/>
          </p:nvPr>
        </p:nvSpPr>
        <p:spPr/>
        <p:txBody>
          <a:bodyPr/>
          <a:lstStyle/>
          <a:p>
            <a:fld id="{330EA680-D336-4FF7-8B7A-9848BB0A1C32}" type="slidenum">
              <a:rPr lang="en-US" smtClean="0"/>
              <a:t>24</a:t>
            </a:fld>
            <a:endParaRPr lang="en-US"/>
          </a:p>
        </p:txBody>
      </p:sp>
    </p:spTree>
    <p:extLst>
      <p:ext uri="{BB962C8B-B14F-4D97-AF65-F5344CB8AC3E}">
        <p14:creationId xmlns:p14="http://schemas.microsoft.com/office/powerpoint/2010/main" val="25391474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489D1-CE60-4D3A-8C4B-5BF04AD798F0}"/>
              </a:ext>
            </a:extLst>
          </p:cNvPr>
          <p:cNvSpPr>
            <a:spLocks noGrp="1"/>
          </p:cNvSpPr>
          <p:nvPr>
            <p:ph type="title"/>
          </p:nvPr>
        </p:nvSpPr>
        <p:spPr>
          <a:xfrm>
            <a:off x="2592925" y="624110"/>
            <a:ext cx="8911687" cy="322668"/>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D454762C-1CC9-413C-BC2E-3FE7E956DC38}"/>
              </a:ext>
            </a:extLst>
          </p:cNvPr>
          <p:cNvSpPr>
            <a:spLocks noGrp="1"/>
          </p:cNvSpPr>
          <p:nvPr>
            <p:ph idx="1"/>
          </p:nvPr>
        </p:nvSpPr>
        <p:spPr>
          <a:xfrm>
            <a:off x="1041009" y="1294228"/>
            <a:ext cx="10463603" cy="5176910"/>
          </a:xfrm>
        </p:spPr>
        <p:txBody>
          <a:bodyPr/>
          <a:lstStyle/>
          <a:p>
            <a:r>
              <a:rPr lang="en-US" sz="2000" dirty="0"/>
              <a:t>Figure below illustrates some binning techniques.</a:t>
            </a:r>
          </a:p>
          <a:p>
            <a:endParaRPr lang="en-US" dirty="0"/>
          </a:p>
        </p:txBody>
      </p:sp>
      <p:pic>
        <p:nvPicPr>
          <p:cNvPr id="4" name="Picture 3">
            <a:extLst>
              <a:ext uri="{FF2B5EF4-FFF2-40B4-BE49-F238E27FC236}">
                <a16:creationId xmlns:a16="http://schemas.microsoft.com/office/drawing/2014/main" id="{1A325E90-4721-48B9-8420-6EA081025693}"/>
              </a:ext>
            </a:extLst>
          </p:cNvPr>
          <p:cNvPicPr>
            <a:picLocks noChangeAspect="1"/>
          </p:cNvPicPr>
          <p:nvPr/>
        </p:nvPicPr>
        <p:blipFill>
          <a:blip r:embed="rId2"/>
          <a:stretch>
            <a:fillRect/>
          </a:stretch>
        </p:blipFill>
        <p:spPr>
          <a:xfrm>
            <a:off x="1851367" y="1903535"/>
            <a:ext cx="6210300" cy="4457700"/>
          </a:xfrm>
          <a:prstGeom prst="rect">
            <a:avLst/>
          </a:prstGeom>
        </p:spPr>
      </p:pic>
      <p:sp>
        <p:nvSpPr>
          <p:cNvPr id="5" name="Date Placeholder 4">
            <a:extLst>
              <a:ext uri="{FF2B5EF4-FFF2-40B4-BE49-F238E27FC236}">
                <a16:creationId xmlns:a16="http://schemas.microsoft.com/office/drawing/2014/main" id="{14EEBF91-6BE2-4A43-B36E-746ACA48BFCF}"/>
              </a:ext>
            </a:extLst>
          </p:cNvPr>
          <p:cNvSpPr>
            <a:spLocks noGrp="1"/>
          </p:cNvSpPr>
          <p:nvPr>
            <p:ph type="dt" sz="half" idx="10"/>
          </p:nvPr>
        </p:nvSpPr>
        <p:spPr/>
        <p:txBody>
          <a:bodyPr/>
          <a:lstStyle/>
          <a:p>
            <a:fld id="{5304203C-2092-4692-9AEF-A0AB5C89C79B}" type="datetime1">
              <a:rPr lang="en-US" smtClean="0"/>
              <a:t>8/5/2025</a:t>
            </a:fld>
            <a:endParaRPr lang="en-US"/>
          </a:p>
        </p:txBody>
      </p:sp>
      <p:sp>
        <p:nvSpPr>
          <p:cNvPr id="6" name="Slide Number Placeholder 5">
            <a:extLst>
              <a:ext uri="{FF2B5EF4-FFF2-40B4-BE49-F238E27FC236}">
                <a16:creationId xmlns:a16="http://schemas.microsoft.com/office/drawing/2014/main" id="{A8575534-109F-4A64-A36F-E5FB086EEDC1}"/>
              </a:ext>
            </a:extLst>
          </p:cNvPr>
          <p:cNvSpPr>
            <a:spLocks noGrp="1"/>
          </p:cNvSpPr>
          <p:nvPr>
            <p:ph type="sldNum" sz="quarter" idx="12"/>
          </p:nvPr>
        </p:nvSpPr>
        <p:spPr/>
        <p:txBody>
          <a:bodyPr/>
          <a:lstStyle/>
          <a:p>
            <a:fld id="{330EA680-D336-4FF7-8B7A-9848BB0A1C32}" type="slidenum">
              <a:rPr lang="en-US" smtClean="0"/>
              <a:t>25</a:t>
            </a:fld>
            <a:endParaRPr lang="en-US"/>
          </a:p>
        </p:txBody>
      </p:sp>
    </p:spTree>
    <p:extLst>
      <p:ext uri="{BB962C8B-B14F-4D97-AF65-F5344CB8AC3E}">
        <p14:creationId xmlns:p14="http://schemas.microsoft.com/office/powerpoint/2010/main" val="30448091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2A9DF-41D2-46C1-BE62-9BBCE7FD553B}"/>
              </a:ext>
            </a:extLst>
          </p:cNvPr>
          <p:cNvSpPr>
            <a:spLocks noGrp="1"/>
          </p:cNvSpPr>
          <p:nvPr>
            <p:ph type="title"/>
          </p:nvPr>
        </p:nvSpPr>
        <p:spPr>
          <a:xfrm>
            <a:off x="2592925" y="624110"/>
            <a:ext cx="8911687" cy="322668"/>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01009CA6-16EB-485A-A37D-69204AFAA411}"/>
              </a:ext>
            </a:extLst>
          </p:cNvPr>
          <p:cNvSpPr>
            <a:spLocks noGrp="1"/>
          </p:cNvSpPr>
          <p:nvPr>
            <p:ph idx="1"/>
          </p:nvPr>
        </p:nvSpPr>
        <p:spPr>
          <a:xfrm>
            <a:off x="858129" y="1237957"/>
            <a:ext cx="10646483" cy="5134708"/>
          </a:xfrm>
        </p:spPr>
        <p:txBody>
          <a:bodyPr>
            <a:normAutofit/>
          </a:bodyPr>
          <a:lstStyle/>
          <a:p>
            <a:pPr algn="just"/>
            <a:r>
              <a:rPr lang="en-US" sz="2000" dirty="0"/>
              <a:t>In this example, the data for price are first sorted and then partitioned into equal-frequency bins of size 3 (i.e., each bin contains three values).</a:t>
            </a:r>
          </a:p>
          <a:p>
            <a:pPr algn="just"/>
            <a:r>
              <a:rPr lang="en-US" sz="2000" dirty="0"/>
              <a:t> In smoothing by bin means, each value in a bin is replaced by the mean value of the bin. </a:t>
            </a:r>
          </a:p>
          <a:p>
            <a:pPr algn="just"/>
            <a:r>
              <a:rPr lang="en-US" sz="2000" dirty="0"/>
              <a:t>For example, the mean of the values 4, 8, and 15 in Bin 1 is 9. </a:t>
            </a:r>
          </a:p>
          <a:p>
            <a:pPr algn="just"/>
            <a:r>
              <a:rPr lang="en-US" sz="2000" dirty="0"/>
              <a:t>Therefore, each original value in this bin is replaced by the value 9. </a:t>
            </a:r>
          </a:p>
          <a:p>
            <a:pPr algn="just"/>
            <a:r>
              <a:rPr lang="en-US" sz="2000" dirty="0"/>
              <a:t>Similarly, smoothing by bin medians can be employed, in which each bin value is replaced by the bin median. </a:t>
            </a:r>
          </a:p>
          <a:p>
            <a:pPr algn="just"/>
            <a:r>
              <a:rPr lang="en-US" sz="2000" dirty="0"/>
              <a:t>In smoothing by bin boundaries, the minimum and maximum values in a given bin are identified as the bin boundaries.</a:t>
            </a:r>
          </a:p>
          <a:p>
            <a:pPr algn="just"/>
            <a:r>
              <a:rPr lang="en-US" sz="2000" dirty="0"/>
              <a:t>Each bin value is then replaced by the closest boundary value. </a:t>
            </a:r>
          </a:p>
          <a:p>
            <a:pPr algn="just"/>
            <a:r>
              <a:rPr lang="en-US" sz="2000" dirty="0"/>
              <a:t>In general, the larger the width, the greater the effect of the smoothing. </a:t>
            </a:r>
          </a:p>
        </p:txBody>
      </p:sp>
      <p:sp>
        <p:nvSpPr>
          <p:cNvPr id="4" name="Date Placeholder 3">
            <a:extLst>
              <a:ext uri="{FF2B5EF4-FFF2-40B4-BE49-F238E27FC236}">
                <a16:creationId xmlns:a16="http://schemas.microsoft.com/office/drawing/2014/main" id="{34D7A187-9CB9-4F42-994E-2494D19E4DCA}"/>
              </a:ext>
            </a:extLst>
          </p:cNvPr>
          <p:cNvSpPr>
            <a:spLocks noGrp="1"/>
          </p:cNvSpPr>
          <p:nvPr>
            <p:ph type="dt" sz="half" idx="10"/>
          </p:nvPr>
        </p:nvSpPr>
        <p:spPr/>
        <p:txBody>
          <a:bodyPr/>
          <a:lstStyle/>
          <a:p>
            <a:fld id="{563D4540-327C-4B1B-9FF5-FC8A1154F193}" type="datetime1">
              <a:rPr lang="en-US" smtClean="0"/>
              <a:t>8/5/2025</a:t>
            </a:fld>
            <a:endParaRPr lang="en-US"/>
          </a:p>
        </p:txBody>
      </p:sp>
      <p:sp>
        <p:nvSpPr>
          <p:cNvPr id="5" name="Slide Number Placeholder 4">
            <a:extLst>
              <a:ext uri="{FF2B5EF4-FFF2-40B4-BE49-F238E27FC236}">
                <a16:creationId xmlns:a16="http://schemas.microsoft.com/office/drawing/2014/main" id="{58CF03F0-8617-4DA4-952E-693F4B722761}"/>
              </a:ext>
            </a:extLst>
          </p:cNvPr>
          <p:cNvSpPr>
            <a:spLocks noGrp="1"/>
          </p:cNvSpPr>
          <p:nvPr>
            <p:ph type="sldNum" sz="quarter" idx="12"/>
          </p:nvPr>
        </p:nvSpPr>
        <p:spPr/>
        <p:txBody>
          <a:bodyPr/>
          <a:lstStyle/>
          <a:p>
            <a:fld id="{330EA680-D336-4FF7-8B7A-9848BB0A1C32}" type="slidenum">
              <a:rPr lang="en-US" smtClean="0"/>
              <a:t>26</a:t>
            </a:fld>
            <a:endParaRPr lang="en-US"/>
          </a:p>
        </p:txBody>
      </p:sp>
    </p:spTree>
    <p:extLst>
      <p:ext uri="{BB962C8B-B14F-4D97-AF65-F5344CB8AC3E}">
        <p14:creationId xmlns:p14="http://schemas.microsoft.com/office/powerpoint/2010/main" val="29336837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637DA-F265-4357-A592-E30AA80E902F}"/>
              </a:ext>
            </a:extLst>
          </p:cNvPr>
          <p:cNvSpPr>
            <a:spLocks noGrp="1"/>
          </p:cNvSpPr>
          <p:nvPr>
            <p:ph type="title"/>
          </p:nvPr>
        </p:nvSpPr>
        <p:spPr>
          <a:xfrm>
            <a:off x="2592925" y="624110"/>
            <a:ext cx="8911687" cy="322668"/>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59E70BBD-57DC-4630-BB92-AFA9B4ABE4A1}"/>
              </a:ext>
            </a:extLst>
          </p:cNvPr>
          <p:cNvSpPr>
            <a:spLocks noGrp="1"/>
          </p:cNvSpPr>
          <p:nvPr>
            <p:ph idx="1"/>
          </p:nvPr>
        </p:nvSpPr>
        <p:spPr>
          <a:xfrm>
            <a:off x="956603" y="1869989"/>
            <a:ext cx="10548009" cy="4041233"/>
          </a:xfrm>
        </p:spPr>
        <p:txBody>
          <a:bodyPr>
            <a:normAutofit/>
          </a:bodyPr>
          <a:lstStyle/>
          <a:p>
            <a:pPr algn="just"/>
            <a:r>
              <a:rPr lang="en-US" sz="2000" b="1" dirty="0"/>
              <a:t>Regression:</a:t>
            </a:r>
            <a:r>
              <a:rPr lang="en-US" sz="2000" dirty="0"/>
              <a:t> Data smoothing can also be done by regression, a technique that conforms data values to a function. </a:t>
            </a:r>
          </a:p>
          <a:p>
            <a:pPr algn="just"/>
            <a:r>
              <a:rPr lang="en-US" sz="2000" dirty="0"/>
              <a:t>Linear regression involves finding the “best” line to fit two attributes (or variables) so that one attribute can be used to predict the other.</a:t>
            </a:r>
          </a:p>
          <a:p>
            <a:pPr algn="just"/>
            <a:r>
              <a:rPr lang="en-US" sz="2000" dirty="0"/>
              <a:t> Multiple linear regression is an extension of linear regression, where more than two attributes are involved and the data are fit to a multidimensional surface. </a:t>
            </a:r>
          </a:p>
          <a:p>
            <a:endParaRPr lang="en-US" sz="2000" dirty="0"/>
          </a:p>
        </p:txBody>
      </p:sp>
      <p:sp>
        <p:nvSpPr>
          <p:cNvPr id="4" name="Date Placeholder 3">
            <a:extLst>
              <a:ext uri="{FF2B5EF4-FFF2-40B4-BE49-F238E27FC236}">
                <a16:creationId xmlns:a16="http://schemas.microsoft.com/office/drawing/2014/main" id="{01CA1924-E099-4FE0-992C-3C4F271A62DD}"/>
              </a:ext>
            </a:extLst>
          </p:cNvPr>
          <p:cNvSpPr>
            <a:spLocks noGrp="1"/>
          </p:cNvSpPr>
          <p:nvPr>
            <p:ph type="dt" sz="half" idx="10"/>
          </p:nvPr>
        </p:nvSpPr>
        <p:spPr/>
        <p:txBody>
          <a:bodyPr/>
          <a:lstStyle/>
          <a:p>
            <a:fld id="{7463F6AE-6E93-4B8B-BAE2-52FD7BB088B3}" type="datetime1">
              <a:rPr lang="en-US" smtClean="0"/>
              <a:t>8/5/2025</a:t>
            </a:fld>
            <a:endParaRPr lang="en-US"/>
          </a:p>
        </p:txBody>
      </p:sp>
      <p:sp>
        <p:nvSpPr>
          <p:cNvPr id="5" name="Slide Number Placeholder 4">
            <a:extLst>
              <a:ext uri="{FF2B5EF4-FFF2-40B4-BE49-F238E27FC236}">
                <a16:creationId xmlns:a16="http://schemas.microsoft.com/office/drawing/2014/main" id="{918D6F32-BB76-438F-AB2A-C5219155D945}"/>
              </a:ext>
            </a:extLst>
          </p:cNvPr>
          <p:cNvSpPr>
            <a:spLocks noGrp="1"/>
          </p:cNvSpPr>
          <p:nvPr>
            <p:ph type="sldNum" sz="quarter" idx="12"/>
          </p:nvPr>
        </p:nvSpPr>
        <p:spPr/>
        <p:txBody>
          <a:bodyPr/>
          <a:lstStyle/>
          <a:p>
            <a:fld id="{330EA680-D336-4FF7-8B7A-9848BB0A1C32}" type="slidenum">
              <a:rPr lang="en-US" smtClean="0"/>
              <a:t>27</a:t>
            </a:fld>
            <a:endParaRPr lang="en-US"/>
          </a:p>
        </p:txBody>
      </p:sp>
    </p:spTree>
    <p:extLst>
      <p:ext uri="{BB962C8B-B14F-4D97-AF65-F5344CB8AC3E}">
        <p14:creationId xmlns:p14="http://schemas.microsoft.com/office/powerpoint/2010/main" val="38874110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209C1-8D02-4559-A3F5-27C76AA71054}"/>
              </a:ext>
            </a:extLst>
          </p:cNvPr>
          <p:cNvSpPr>
            <a:spLocks noGrp="1"/>
          </p:cNvSpPr>
          <p:nvPr>
            <p:ph type="title"/>
          </p:nvPr>
        </p:nvSpPr>
        <p:spPr>
          <a:xfrm>
            <a:off x="2592925" y="624110"/>
            <a:ext cx="8911687" cy="322668"/>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6973FB74-6CD7-4836-B0D1-0FE015808004}"/>
              </a:ext>
            </a:extLst>
          </p:cNvPr>
          <p:cNvSpPr>
            <a:spLocks noGrp="1"/>
          </p:cNvSpPr>
          <p:nvPr>
            <p:ph idx="1"/>
          </p:nvPr>
        </p:nvSpPr>
        <p:spPr>
          <a:xfrm>
            <a:off x="745588" y="1364566"/>
            <a:ext cx="10759024" cy="4546656"/>
          </a:xfrm>
        </p:spPr>
        <p:txBody>
          <a:bodyPr/>
          <a:lstStyle/>
          <a:p>
            <a:pPr algn="just"/>
            <a:r>
              <a:rPr lang="en-US" sz="2000" b="1" dirty="0"/>
              <a:t>Outlier analysis: </a:t>
            </a:r>
            <a:r>
              <a:rPr lang="en-US" sz="2000" dirty="0"/>
              <a:t>Outliers may be detected by clustering, for example, where similar values are organized into groups, or “clusters.”</a:t>
            </a:r>
          </a:p>
          <a:p>
            <a:pPr algn="just"/>
            <a:r>
              <a:rPr lang="en-US" sz="2000" dirty="0"/>
              <a:t> Intuitively, values that fall outside of the set of clusters may be considered outliers.</a:t>
            </a:r>
          </a:p>
          <a:p>
            <a:endParaRPr lang="en-US" dirty="0"/>
          </a:p>
        </p:txBody>
      </p:sp>
      <p:pic>
        <p:nvPicPr>
          <p:cNvPr id="5" name="Picture 2" descr="Cluster Analysis">
            <a:extLst>
              <a:ext uri="{FF2B5EF4-FFF2-40B4-BE49-F238E27FC236}">
                <a16:creationId xmlns:a16="http://schemas.microsoft.com/office/drawing/2014/main" id="{034D2A5A-1CEF-434C-B97B-0E20B4B77B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1680" y="2700997"/>
            <a:ext cx="7251383" cy="3180691"/>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1425EE6D-BD6E-4EFC-A1B2-257FC006603F}"/>
              </a:ext>
            </a:extLst>
          </p:cNvPr>
          <p:cNvSpPr>
            <a:spLocks noGrp="1"/>
          </p:cNvSpPr>
          <p:nvPr>
            <p:ph type="dt" sz="half" idx="10"/>
          </p:nvPr>
        </p:nvSpPr>
        <p:spPr/>
        <p:txBody>
          <a:bodyPr/>
          <a:lstStyle/>
          <a:p>
            <a:fld id="{B7221C12-A4B1-413C-ACF8-B869FFD4B163}" type="datetime1">
              <a:rPr lang="en-US" smtClean="0"/>
              <a:t>8/5/2025</a:t>
            </a:fld>
            <a:endParaRPr lang="en-US"/>
          </a:p>
        </p:txBody>
      </p:sp>
      <p:sp>
        <p:nvSpPr>
          <p:cNvPr id="6" name="Slide Number Placeholder 5">
            <a:extLst>
              <a:ext uri="{FF2B5EF4-FFF2-40B4-BE49-F238E27FC236}">
                <a16:creationId xmlns:a16="http://schemas.microsoft.com/office/drawing/2014/main" id="{A278B8CA-6827-40C8-9CBA-7427DCD8FA4F}"/>
              </a:ext>
            </a:extLst>
          </p:cNvPr>
          <p:cNvSpPr>
            <a:spLocks noGrp="1"/>
          </p:cNvSpPr>
          <p:nvPr>
            <p:ph type="sldNum" sz="quarter" idx="12"/>
          </p:nvPr>
        </p:nvSpPr>
        <p:spPr/>
        <p:txBody>
          <a:bodyPr/>
          <a:lstStyle/>
          <a:p>
            <a:fld id="{330EA680-D336-4FF7-8B7A-9848BB0A1C32}" type="slidenum">
              <a:rPr lang="en-US" smtClean="0"/>
              <a:t>28</a:t>
            </a:fld>
            <a:endParaRPr lang="en-US"/>
          </a:p>
        </p:txBody>
      </p:sp>
    </p:spTree>
    <p:extLst>
      <p:ext uri="{BB962C8B-B14F-4D97-AF65-F5344CB8AC3E}">
        <p14:creationId xmlns:p14="http://schemas.microsoft.com/office/powerpoint/2010/main" val="14240982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FE16D-93A1-4021-8243-0642EBBA1502}"/>
              </a:ext>
            </a:extLst>
          </p:cNvPr>
          <p:cNvSpPr>
            <a:spLocks noGrp="1"/>
          </p:cNvSpPr>
          <p:nvPr>
            <p:ph type="title"/>
          </p:nvPr>
        </p:nvSpPr>
        <p:spPr>
          <a:xfrm>
            <a:off x="2592925" y="624110"/>
            <a:ext cx="8911687" cy="322668"/>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D54EC839-251B-4D1A-A223-E9CA8AA49F86}"/>
              </a:ext>
            </a:extLst>
          </p:cNvPr>
          <p:cNvSpPr>
            <a:spLocks noGrp="1"/>
          </p:cNvSpPr>
          <p:nvPr>
            <p:ph idx="1"/>
          </p:nvPr>
        </p:nvSpPr>
        <p:spPr>
          <a:xfrm>
            <a:off x="900332" y="1565188"/>
            <a:ext cx="10604280" cy="4346033"/>
          </a:xfrm>
        </p:spPr>
        <p:txBody>
          <a:bodyPr>
            <a:normAutofit/>
          </a:bodyPr>
          <a:lstStyle/>
          <a:p>
            <a:pPr algn="just"/>
            <a:r>
              <a:rPr lang="en-US" sz="2000" b="1" dirty="0"/>
              <a:t>Data Cleaning as a Process </a:t>
            </a:r>
          </a:p>
          <a:p>
            <a:pPr algn="just"/>
            <a:r>
              <a:rPr lang="en-US" sz="2000" dirty="0"/>
              <a:t>Missing values, noise, and inconsistencies contribute to inaccurate data. </a:t>
            </a:r>
          </a:p>
          <a:p>
            <a:pPr algn="just"/>
            <a:r>
              <a:rPr lang="en-US" sz="2000" dirty="0"/>
              <a:t>So far, we have looked at techniques for handling missing data and for smoothing data.</a:t>
            </a:r>
          </a:p>
          <a:p>
            <a:pPr algn="just"/>
            <a:r>
              <a:rPr lang="en-US" sz="2000" dirty="0"/>
              <a:t> “But data cleaning is a big job.</a:t>
            </a:r>
          </a:p>
          <a:p>
            <a:pPr algn="just"/>
            <a:r>
              <a:rPr lang="en-US" sz="2000" dirty="0"/>
              <a:t> What about data cleaning as a process?</a:t>
            </a:r>
          </a:p>
          <a:p>
            <a:pPr algn="just"/>
            <a:r>
              <a:rPr lang="en-US" sz="2000" dirty="0"/>
              <a:t>How exactly does one proceed in tackling this task? </a:t>
            </a:r>
          </a:p>
          <a:p>
            <a:pPr algn="just"/>
            <a:r>
              <a:rPr lang="en-US" sz="2000" dirty="0"/>
              <a:t>Are there any tools out there to help?” </a:t>
            </a:r>
          </a:p>
          <a:p>
            <a:pPr algn="just"/>
            <a:r>
              <a:rPr lang="en-US" sz="2000" dirty="0"/>
              <a:t>The first step in data cleaning as a process is discrepancy detection. </a:t>
            </a:r>
          </a:p>
        </p:txBody>
      </p:sp>
      <p:sp>
        <p:nvSpPr>
          <p:cNvPr id="4" name="Date Placeholder 3">
            <a:extLst>
              <a:ext uri="{FF2B5EF4-FFF2-40B4-BE49-F238E27FC236}">
                <a16:creationId xmlns:a16="http://schemas.microsoft.com/office/drawing/2014/main" id="{4BA8E113-4FCA-462C-ABE1-7A09A056870A}"/>
              </a:ext>
            </a:extLst>
          </p:cNvPr>
          <p:cNvSpPr>
            <a:spLocks noGrp="1"/>
          </p:cNvSpPr>
          <p:nvPr>
            <p:ph type="dt" sz="half" idx="10"/>
          </p:nvPr>
        </p:nvSpPr>
        <p:spPr/>
        <p:txBody>
          <a:bodyPr/>
          <a:lstStyle/>
          <a:p>
            <a:fld id="{1FEE3B04-C12C-4EE5-9C58-022C6D1843DB}" type="datetime1">
              <a:rPr lang="en-US" smtClean="0"/>
              <a:t>8/5/2025</a:t>
            </a:fld>
            <a:endParaRPr lang="en-US"/>
          </a:p>
        </p:txBody>
      </p:sp>
      <p:sp>
        <p:nvSpPr>
          <p:cNvPr id="5" name="Slide Number Placeholder 4">
            <a:extLst>
              <a:ext uri="{FF2B5EF4-FFF2-40B4-BE49-F238E27FC236}">
                <a16:creationId xmlns:a16="http://schemas.microsoft.com/office/drawing/2014/main" id="{6F017FB8-A34B-4591-90E9-2EBF95BCCF28}"/>
              </a:ext>
            </a:extLst>
          </p:cNvPr>
          <p:cNvSpPr>
            <a:spLocks noGrp="1"/>
          </p:cNvSpPr>
          <p:nvPr>
            <p:ph type="sldNum" sz="quarter" idx="12"/>
          </p:nvPr>
        </p:nvSpPr>
        <p:spPr/>
        <p:txBody>
          <a:bodyPr/>
          <a:lstStyle/>
          <a:p>
            <a:fld id="{330EA680-D336-4FF7-8B7A-9848BB0A1C32}" type="slidenum">
              <a:rPr lang="en-US" smtClean="0"/>
              <a:t>29</a:t>
            </a:fld>
            <a:endParaRPr lang="en-US"/>
          </a:p>
        </p:txBody>
      </p:sp>
    </p:spTree>
    <p:extLst>
      <p:ext uri="{BB962C8B-B14F-4D97-AF65-F5344CB8AC3E}">
        <p14:creationId xmlns:p14="http://schemas.microsoft.com/office/powerpoint/2010/main" val="32876901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4B420-1696-4AC4-BCB2-00A10905574A}"/>
              </a:ext>
            </a:extLst>
          </p:cNvPr>
          <p:cNvSpPr>
            <a:spLocks noGrp="1"/>
          </p:cNvSpPr>
          <p:nvPr>
            <p:ph type="title"/>
          </p:nvPr>
        </p:nvSpPr>
        <p:spPr>
          <a:xfrm>
            <a:off x="2592925" y="624110"/>
            <a:ext cx="8911687" cy="322668"/>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CFD82020-28D7-40B9-AA20-A69D8A9C1AF5}"/>
              </a:ext>
            </a:extLst>
          </p:cNvPr>
          <p:cNvSpPr>
            <a:spLocks noGrp="1"/>
          </p:cNvSpPr>
          <p:nvPr>
            <p:ph idx="1"/>
          </p:nvPr>
        </p:nvSpPr>
        <p:spPr>
          <a:xfrm>
            <a:off x="984738" y="1507524"/>
            <a:ext cx="10519874" cy="4893276"/>
          </a:xfrm>
        </p:spPr>
        <p:txBody>
          <a:bodyPr>
            <a:normAutofit/>
          </a:bodyPr>
          <a:lstStyle/>
          <a:p>
            <a:pPr algn="just"/>
            <a:r>
              <a:rPr lang="en-US" sz="2000" dirty="0"/>
              <a:t>Discrepancies can be caused by several factors, including poorly designed data entry forms that have many optional fields, human error in data entry, deliberate errors (e.g., respondents not wanting to divulge information about themselves), and data decay (e.g., outdated addresses). </a:t>
            </a:r>
          </a:p>
          <a:p>
            <a:pPr algn="just"/>
            <a:r>
              <a:rPr lang="en-US" sz="2000" dirty="0"/>
              <a:t>Discrepancies may also arise from inconsistent data representations and inconsistent use of codes. </a:t>
            </a:r>
          </a:p>
          <a:p>
            <a:pPr algn="just"/>
            <a:r>
              <a:rPr lang="en-US" sz="2000" dirty="0"/>
              <a:t>Other sources of discrepancies include errors in instrumentation devices that record data and system errors.</a:t>
            </a:r>
          </a:p>
          <a:p>
            <a:pPr algn="just"/>
            <a:r>
              <a:rPr lang="en-US" sz="2000" dirty="0"/>
              <a:t>There may also be inconsistencies due to data integration (e.g., where a given attribute can have different names in different databases).</a:t>
            </a:r>
          </a:p>
        </p:txBody>
      </p:sp>
      <p:sp>
        <p:nvSpPr>
          <p:cNvPr id="4" name="Date Placeholder 3">
            <a:extLst>
              <a:ext uri="{FF2B5EF4-FFF2-40B4-BE49-F238E27FC236}">
                <a16:creationId xmlns:a16="http://schemas.microsoft.com/office/drawing/2014/main" id="{82F35A91-1252-4699-B5AC-496AF3D89A3D}"/>
              </a:ext>
            </a:extLst>
          </p:cNvPr>
          <p:cNvSpPr>
            <a:spLocks noGrp="1"/>
          </p:cNvSpPr>
          <p:nvPr>
            <p:ph type="dt" sz="half" idx="10"/>
          </p:nvPr>
        </p:nvSpPr>
        <p:spPr/>
        <p:txBody>
          <a:bodyPr/>
          <a:lstStyle/>
          <a:p>
            <a:fld id="{F9D62C25-A3EA-4CB8-89FE-DD81D277028D}" type="datetime1">
              <a:rPr lang="en-US" smtClean="0"/>
              <a:t>8/5/2025</a:t>
            </a:fld>
            <a:endParaRPr lang="en-US"/>
          </a:p>
        </p:txBody>
      </p:sp>
      <p:sp>
        <p:nvSpPr>
          <p:cNvPr id="5" name="Slide Number Placeholder 4">
            <a:extLst>
              <a:ext uri="{FF2B5EF4-FFF2-40B4-BE49-F238E27FC236}">
                <a16:creationId xmlns:a16="http://schemas.microsoft.com/office/drawing/2014/main" id="{B3A3315A-75AD-498B-A19E-520B52F5EA3E}"/>
              </a:ext>
            </a:extLst>
          </p:cNvPr>
          <p:cNvSpPr>
            <a:spLocks noGrp="1"/>
          </p:cNvSpPr>
          <p:nvPr>
            <p:ph type="sldNum" sz="quarter" idx="12"/>
          </p:nvPr>
        </p:nvSpPr>
        <p:spPr/>
        <p:txBody>
          <a:bodyPr/>
          <a:lstStyle/>
          <a:p>
            <a:fld id="{330EA680-D336-4FF7-8B7A-9848BB0A1C32}" type="slidenum">
              <a:rPr lang="en-US" smtClean="0"/>
              <a:t>30</a:t>
            </a:fld>
            <a:endParaRPr lang="en-US"/>
          </a:p>
        </p:txBody>
      </p:sp>
    </p:spTree>
    <p:extLst>
      <p:ext uri="{BB962C8B-B14F-4D97-AF65-F5344CB8AC3E}">
        <p14:creationId xmlns:p14="http://schemas.microsoft.com/office/powerpoint/2010/main" val="16403277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8648C-121D-4340-B967-BB70E2620720}"/>
              </a:ext>
            </a:extLst>
          </p:cNvPr>
          <p:cNvSpPr>
            <a:spLocks noGrp="1"/>
          </p:cNvSpPr>
          <p:nvPr>
            <p:ph type="title"/>
          </p:nvPr>
        </p:nvSpPr>
        <p:spPr>
          <a:xfrm>
            <a:off x="2592925" y="624110"/>
            <a:ext cx="8911687" cy="322668"/>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A1531229-60FA-44D8-9050-E320E022B063}"/>
              </a:ext>
            </a:extLst>
          </p:cNvPr>
          <p:cNvSpPr>
            <a:spLocks noGrp="1"/>
          </p:cNvSpPr>
          <p:nvPr>
            <p:ph idx="1"/>
          </p:nvPr>
        </p:nvSpPr>
        <p:spPr>
          <a:xfrm>
            <a:off x="872197" y="1606378"/>
            <a:ext cx="10632415" cy="4442730"/>
          </a:xfrm>
        </p:spPr>
        <p:txBody>
          <a:bodyPr>
            <a:normAutofit/>
          </a:bodyPr>
          <a:lstStyle/>
          <a:p>
            <a:pPr algn="just"/>
            <a:r>
              <a:rPr lang="en-US" sz="2000" dirty="0"/>
              <a:t>“So, how can we proceed with discrepancy detection?” </a:t>
            </a:r>
          </a:p>
          <a:p>
            <a:pPr algn="just"/>
            <a:r>
              <a:rPr lang="en-US" sz="2000" dirty="0"/>
              <a:t>As a starting point, use any knowledge you may already have regarding properties of the data. </a:t>
            </a:r>
          </a:p>
          <a:p>
            <a:pPr algn="just"/>
            <a:r>
              <a:rPr lang="en-US" sz="2000" dirty="0"/>
              <a:t>Such knowledge or “data about data” is referred to as metadata. </a:t>
            </a:r>
          </a:p>
          <a:p>
            <a:pPr algn="just"/>
            <a:r>
              <a:rPr lang="en-US" sz="2000" dirty="0"/>
              <a:t>For example, what are the data type and domain of each attribute? </a:t>
            </a:r>
          </a:p>
          <a:p>
            <a:pPr algn="just"/>
            <a:r>
              <a:rPr lang="en-US" sz="2000" dirty="0"/>
              <a:t>What are the acceptable values for each attribute?</a:t>
            </a:r>
          </a:p>
          <a:p>
            <a:pPr algn="just"/>
            <a:r>
              <a:rPr lang="en-US" sz="2000" dirty="0"/>
              <a:t>What is the range of values? </a:t>
            </a:r>
          </a:p>
          <a:p>
            <a:pPr algn="just"/>
            <a:r>
              <a:rPr lang="en-US" sz="2000" dirty="0"/>
              <a:t>Do all values fall within the expected range? </a:t>
            </a:r>
          </a:p>
        </p:txBody>
      </p:sp>
      <p:sp>
        <p:nvSpPr>
          <p:cNvPr id="4" name="Date Placeholder 3">
            <a:extLst>
              <a:ext uri="{FF2B5EF4-FFF2-40B4-BE49-F238E27FC236}">
                <a16:creationId xmlns:a16="http://schemas.microsoft.com/office/drawing/2014/main" id="{ED5E7879-E91A-46F2-9341-2698B8AA61D7}"/>
              </a:ext>
            </a:extLst>
          </p:cNvPr>
          <p:cNvSpPr>
            <a:spLocks noGrp="1"/>
          </p:cNvSpPr>
          <p:nvPr>
            <p:ph type="dt" sz="half" idx="10"/>
          </p:nvPr>
        </p:nvSpPr>
        <p:spPr/>
        <p:txBody>
          <a:bodyPr/>
          <a:lstStyle/>
          <a:p>
            <a:fld id="{8B4EE5C5-6504-464D-9206-799EF9526A47}" type="datetime1">
              <a:rPr lang="en-US" smtClean="0"/>
              <a:t>8/5/2025</a:t>
            </a:fld>
            <a:endParaRPr lang="en-US"/>
          </a:p>
        </p:txBody>
      </p:sp>
      <p:sp>
        <p:nvSpPr>
          <p:cNvPr id="5" name="Slide Number Placeholder 4">
            <a:extLst>
              <a:ext uri="{FF2B5EF4-FFF2-40B4-BE49-F238E27FC236}">
                <a16:creationId xmlns:a16="http://schemas.microsoft.com/office/drawing/2014/main" id="{6C83F091-3DBB-43FD-8C31-686EF03319B2}"/>
              </a:ext>
            </a:extLst>
          </p:cNvPr>
          <p:cNvSpPr>
            <a:spLocks noGrp="1"/>
          </p:cNvSpPr>
          <p:nvPr>
            <p:ph type="sldNum" sz="quarter" idx="12"/>
          </p:nvPr>
        </p:nvSpPr>
        <p:spPr/>
        <p:txBody>
          <a:bodyPr/>
          <a:lstStyle/>
          <a:p>
            <a:fld id="{330EA680-D336-4FF7-8B7A-9848BB0A1C32}" type="slidenum">
              <a:rPr lang="en-US" smtClean="0"/>
              <a:t>31</a:t>
            </a:fld>
            <a:endParaRPr lang="en-US"/>
          </a:p>
        </p:txBody>
      </p:sp>
    </p:spTree>
    <p:extLst>
      <p:ext uri="{BB962C8B-B14F-4D97-AF65-F5344CB8AC3E}">
        <p14:creationId xmlns:p14="http://schemas.microsoft.com/office/powerpoint/2010/main" val="28818529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DC0DB-A7C8-4A2C-83F1-18688EC08C44}"/>
              </a:ext>
            </a:extLst>
          </p:cNvPr>
          <p:cNvSpPr>
            <a:spLocks noGrp="1"/>
          </p:cNvSpPr>
          <p:nvPr>
            <p:ph type="title"/>
          </p:nvPr>
        </p:nvSpPr>
        <p:spPr>
          <a:xfrm>
            <a:off x="2592925" y="624110"/>
            <a:ext cx="8911687" cy="322668"/>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4BA65C5C-4D85-41C9-8FEC-FB9EA5E59D59}"/>
              </a:ext>
            </a:extLst>
          </p:cNvPr>
          <p:cNvSpPr>
            <a:spLocks noGrp="1"/>
          </p:cNvSpPr>
          <p:nvPr>
            <p:ph idx="1"/>
          </p:nvPr>
        </p:nvSpPr>
        <p:spPr>
          <a:xfrm>
            <a:off x="1139483" y="1655805"/>
            <a:ext cx="10365129" cy="4578085"/>
          </a:xfrm>
        </p:spPr>
        <p:txBody>
          <a:bodyPr>
            <a:noAutofit/>
          </a:bodyPr>
          <a:lstStyle/>
          <a:p>
            <a:pPr algn="just"/>
            <a:r>
              <a:rPr lang="en-US" sz="2000" dirty="0"/>
              <a:t>Are there any known dependencies between attributes? </a:t>
            </a:r>
          </a:p>
          <a:p>
            <a:pPr algn="just"/>
            <a:r>
              <a:rPr lang="en-US" sz="2000" dirty="0"/>
              <a:t>In this step, you may write your own scripts and/or use some of the tools. </a:t>
            </a:r>
          </a:p>
          <a:p>
            <a:pPr algn="just"/>
            <a:r>
              <a:rPr lang="en-US" sz="2000" dirty="0"/>
              <a:t>From this, you may find noise, outliers, and unusual values that need investigation.</a:t>
            </a:r>
          </a:p>
          <a:p>
            <a:pPr algn="just"/>
            <a:r>
              <a:rPr lang="en-US" sz="2000" dirty="0"/>
              <a:t>As a data analyst, you should be on the lookout for the inconsistent use of codes and any inconsistent data representations (e.g., “2010/12/25” and “25/12/2010” for date).</a:t>
            </a:r>
          </a:p>
        </p:txBody>
      </p:sp>
      <p:sp>
        <p:nvSpPr>
          <p:cNvPr id="4" name="Date Placeholder 3">
            <a:extLst>
              <a:ext uri="{FF2B5EF4-FFF2-40B4-BE49-F238E27FC236}">
                <a16:creationId xmlns:a16="http://schemas.microsoft.com/office/drawing/2014/main" id="{89247979-7B9E-4876-B39B-9C9F3407EF0C}"/>
              </a:ext>
            </a:extLst>
          </p:cNvPr>
          <p:cNvSpPr>
            <a:spLocks noGrp="1"/>
          </p:cNvSpPr>
          <p:nvPr>
            <p:ph type="dt" sz="half" idx="10"/>
          </p:nvPr>
        </p:nvSpPr>
        <p:spPr/>
        <p:txBody>
          <a:bodyPr/>
          <a:lstStyle/>
          <a:p>
            <a:fld id="{DF24195E-A146-477F-938E-A160C377448D}" type="datetime1">
              <a:rPr lang="en-US" smtClean="0"/>
              <a:t>8/5/2025</a:t>
            </a:fld>
            <a:endParaRPr lang="en-US"/>
          </a:p>
        </p:txBody>
      </p:sp>
      <p:sp>
        <p:nvSpPr>
          <p:cNvPr id="5" name="Slide Number Placeholder 4">
            <a:extLst>
              <a:ext uri="{FF2B5EF4-FFF2-40B4-BE49-F238E27FC236}">
                <a16:creationId xmlns:a16="http://schemas.microsoft.com/office/drawing/2014/main" id="{F141C347-EEC2-4396-A7B0-C821F294C22E}"/>
              </a:ext>
            </a:extLst>
          </p:cNvPr>
          <p:cNvSpPr>
            <a:spLocks noGrp="1"/>
          </p:cNvSpPr>
          <p:nvPr>
            <p:ph type="sldNum" sz="quarter" idx="12"/>
          </p:nvPr>
        </p:nvSpPr>
        <p:spPr/>
        <p:txBody>
          <a:bodyPr/>
          <a:lstStyle/>
          <a:p>
            <a:fld id="{330EA680-D336-4FF7-8B7A-9848BB0A1C32}" type="slidenum">
              <a:rPr lang="en-US" smtClean="0"/>
              <a:t>32</a:t>
            </a:fld>
            <a:endParaRPr lang="en-US"/>
          </a:p>
        </p:txBody>
      </p:sp>
    </p:spTree>
    <p:extLst>
      <p:ext uri="{BB962C8B-B14F-4D97-AF65-F5344CB8AC3E}">
        <p14:creationId xmlns:p14="http://schemas.microsoft.com/office/powerpoint/2010/main" val="39189521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67DBD-8185-4AE4-A851-4DC4F3FC0129}"/>
              </a:ext>
            </a:extLst>
          </p:cNvPr>
          <p:cNvSpPr>
            <a:spLocks noGrp="1"/>
          </p:cNvSpPr>
          <p:nvPr>
            <p:ph type="title"/>
          </p:nvPr>
        </p:nvSpPr>
        <p:spPr>
          <a:xfrm>
            <a:off x="2592925" y="624110"/>
            <a:ext cx="8911687" cy="191816"/>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D48A2A2E-CC0A-42B9-9704-BB8D1F8096CE}"/>
              </a:ext>
            </a:extLst>
          </p:cNvPr>
          <p:cNvSpPr>
            <a:spLocks noGrp="1"/>
          </p:cNvSpPr>
          <p:nvPr>
            <p:ph idx="1"/>
          </p:nvPr>
        </p:nvSpPr>
        <p:spPr>
          <a:xfrm>
            <a:off x="1111348" y="1565189"/>
            <a:ext cx="10393264" cy="4346032"/>
          </a:xfrm>
        </p:spPr>
        <p:txBody>
          <a:bodyPr>
            <a:normAutofit/>
          </a:bodyPr>
          <a:lstStyle/>
          <a:p>
            <a:pPr algn="just"/>
            <a:r>
              <a:rPr lang="en-US" sz="2000" dirty="0"/>
              <a:t>The data should also be examined regarding unique rules, consecutive rules, and null rules. </a:t>
            </a:r>
          </a:p>
          <a:p>
            <a:pPr algn="just"/>
            <a:r>
              <a:rPr lang="en-US" sz="2000" dirty="0"/>
              <a:t>A unique rule says that each value of the given attribute must be different from all other values for that attribute.</a:t>
            </a:r>
          </a:p>
          <a:p>
            <a:pPr algn="just"/>
            <a:r>
              <a:rPr lang="en-US" sz="2000" dirty="0"/>
              <a:t> A consecutive rule says that there can be no missing values between the lowest and highest values for the attribute, and that all values must also be unique (e.g., as in check numbers). </a:t>
            </a:r>
          </a:p>
          <a:p>
            <a:pPr algn="just"/>
            <a:r>
              <a:rPr lang="en-US" sz="2000" dirty="0"/>
              <a:t>A null rule specifies the use of blanks, question marks, special characters, or other strings that may indicate the null condition (e.g., where a value for a given attribute is not available), and how such values should be handled. </a:t>
            </a:r>
          </a:p>
        </p:txBody>
      </p:sp>
      <p:sp>
        <p:nvSpPr>
          <p:cNvPr id="4" name="Date Placeholder 3">
            <a:extLst>
              <a:ext uri="{FF2B5EF4-FFF2-40B4-BE49-F238E27FC236}">
                <a16:creationId xmlns:a16="http://schemas.microsoft.com/office/drawing/2014/main" id="{9A880E46-9EAD-4D39-800D-606D7F471B15}"/>
              </a:ext>
            </a:extLst>
          </p:cNvPr>
          <p:cNvSpPr>
            <a:spLocks noGrp="1"/>
          </p:cNvSpPr>
          <p:nvPr>
            <p:ph type="dt" sz="half" idx="10"/>
          </p:nvPr>
        </p:nvSpPr>
        <p:spPr/>
        <p:txBody>
          <a:bodyPr/>
          <a:lstStyle/>
          <a:p>
            <a:fld id="{0D0AA264-5429-4418-AFD3-FF8A9833D3F7}" type="datetime1">
              <a:rPr lang="en-US" smtClean="0"/>
              <a:t>8/5/2025</a:t>
            </a:fld>
            <a:endParaRPr lang="en-US"/>
          </a:p>
        </p:txBody>
      </p:sp>
      <p:sp>
        <p:nvSpPr>
          <p:cNvPr id="5" name="Slide Number Placeholder 4">
            <a:extLst>
              <a:ext uri="{FF2B5EF4-FFF2-40B4-BE49-F238E27FC236}">
                <a16:creationId xmlns:a16="http://schemas.microsoft.com/office/drawing/2014/main" id="{469BBE2F-177B-495D-9CF8-8CD78BBB0A41}"/>
              </a:ext>
            </a:extLst>
          </p:cNvPr>
          <p:cNvSpPr>
            <a:spLocks noGrp="1"/>
          </p:cNvSpPr>
          <p:nvPr>
            <p:ph type="sldNum" sz="quarter" idx="12"/>
          </p:nvPr>
        </p:nvSpPr>
        <p:spPr/>
        <p:txBody>
          <a:bodyPr/>
          <a:lstStyle/>
          <a:p>
            <a:fld id="{330EA680-D336-4FF7-8B7A-9848BB0A1C32}" type="slidenum">
              <a:rPr lang="en-US" smtClean="0"/>
              <a:t>33</a:t>
            </a:fld>
            <a:endParaRPr lang="en-US"/>
          </a:p>
        </p:txBody>
      </p:sp>
    </p:spTree>
    <p:extLst>
      <p:ext uri="{BB962C8B-B14F-4D97-AF65-F5344CB8AC3E}">
        <p14:creationId xmlns:p14="http://schemas.microsoft.com/office/powerpoint/2010/main" val="35217513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6FA0D-8131-4206-9711-225834883E3C}"/>
              </a:ext>
            </a:extLst>
          </p:cNvPr>
          <p:cNvSpPr>
            <a:spLocks noGrp="1"/>
          </p:cNvSpPr>
          <p:nvPr>
            <p:ph type="title"/>
          </p:nvPr>
        </p:nvSpPr>
        <p:spPr>
          <a:xfrm>
            <a:off x="2592925" y="624110"/>
            <a:ext cx="8911687" cy="322668"/>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1C3BF743-3CC8-4ABB-BA05-DDAADF1EEC97}"/>
              </a:ext>
            </a:extLst>
          </p:cNvPr>
          <p:cNvSpPr>
            <a:spLocks noGrp="1"/>
          </p:cNvSpPr>
          <p:nvPr>
            <p:ph idx="1"/>
          </p:nvPr>
        </p:nvSpPr>
        <p:spPr>
          <a:xfrm>
            <a:off x="970671" y="1507524"/>
            <a:ext cx="10533941" cy="4403698"/>
          </a:xfrm>
        </p:spPr>
        <p:txBody>
          <a:bodyPr/>
          <a:lstStyle/>
          <a:p>
            <a:pPr algn="just"/>
            <a:r>
              <a:rPr lang="en-US" sz="2000" dirty="0"/>
              <a:t>Reasons for missing values may include</a:t>
            </a:r>
          </a:p>
          <a:p>
            <a:pPr lvl="1" algn="just">
              <a:buFont typeface="Wingdings" panose="05000000000000000000" pitchFamily="2" charset="2"/>
              <a:buChar char="§"/>
            </a:pPr>
            <a:r>
              <a:rPr lang="en-US" sz="2000" dirty="0"/>
              <a:t>the person originally asked to provide a value for the attribute refuses and/or finds that the information requested is not applicable (e.g., a license number attribute left blank by nondrivers); </a:t>
            </a:r>
          </a:p>
          <a:p>
            <a:pPr lvl="1" algn="just">
              <a:buFont typeface="Wingdings" panose="05000000000000000000" pitchFamily="2" charset="2"/>
              <a:buChar char="§"/>
            </a:pPr>
            <a:r>
              <a:rPr lang="en-US" sz="2000" dirty="0"/>
              <a:t>the data entry person does not know the correct value; or</a:t>
            </a:r>
          </a:p>
          <a:p>
            <a:pPr lvl="1" algn="just">
              <a:buFont typeface="Wingdings" panose="05000000000000000000" pitchFamily="2" charset="2"/>
              <a:buChar char="§"/>
            </a:pPr>
            <a:r>
              <a:rPr lang="en-US" sz="2000" dirty="0"/>
              <a:t>the value is to be provided by a later step of the process. </a:t>
            </a:r>
            <a:endParaRPr lang="en-US" sz="1800" dirty="0"/>
          </a:p>
          <a:p>
            <a:pPr algn="just"/>
            <a:endParaRPr lang="en-US" sz="2000" dirty="0"/>
          </a:p>
          <a:p>
            <a:pPr algn="just"/>
            <a:r>
              <a:rPr lang="en-US" sz="2000" dirty="0"/>
              <a:t>The null rule should specify how to record the null condition, for example, such as to store zero for numeric attributes, a blank for character attributes, or any other conventions that may be in use (e.g., entries like “don’t know” or “?” should be transformed to blank).</a:t>
            </a:r>
          </a:p>
          <a:p>
            <a:pPr algn="just"/>
            <a:endParaRPr lang="en-US" sz="2000" dirty="0"/>
          </a:p>
        </p:txBody>
      </p:sp>
      <p:sp>
        <p:nvSpPr>
          <p:cNvPr id="4" name="Date Placeholder 3">
            <a:extLst>
              <a:ext uri="{FF2B5EF4-FFF2-40B4-BE49-F238E27FC236}">
                <a16:creationId xmlns:a16="http://schemas.microsoft.com/office/drawing/2014/main" id="{8F36362B-E86A-47CA-9A40-ED15C4BE9E07}"/>
              </a:ext>
            </a:extLst>
          </p:cNvPr>
          <p:cNvSpPr>
            <a:spLocks noGrp="1"/>
          </p:cNvSpPr>
          <p:nvPr>
            <p:ph type="dt" sz="half" idx="10"/>
          </p:nvPr>
        </p:nvSpPr>
        <p:spPr/>
        <p:txBody>
          <a:bodyPr/>
          <a:lstStyle/>
          <a:p>
            <a:fld id="{1181D9C6-00BA-4E1A-8C6E-336E59861FBD}" type="datetime1">
              <a:rPr lang="en-US" smtClean="0"/>
              <a:t>8/5/2025</a:t>
            </a:fld>
            <a:endParaRPr lang="en-US"/>
          </a:p>
        </p:txBody>
      </p:sp>
      <p:sp>
        <p:nvSpPr>
          <p:cNvPr id="5" name="Slide Number Placeholder 4">
            <a:extLst>
              <a:ext uri="{FF2B5EF4-FFF2-40B4-BE49-F238E27FC236}">
                <a16:creationId xmlns:a16="http://schemas.microsoft.com/office/drawing/2014/main" id="{356F772F-8CBF-4BF6-A447-9CCC037617E8}"/>
              </a:ext>
            </a:extLst>
          </p:cNvPr>
          <p:cNvSpPr>
            <a:spLocks noGrp="1"/>
          </p:cNvSpPr>
          <p:nvPr>
            <p:ph type="sldNum" sz="quarter" idx="12"/>
          </p:nvPr>
        </p:nvSpPr>
        <p:spPr/>
        <p:txBody>
          <a:bodyPr/>
          <a:lstStyle/>
          <a:p>
            <a:fld id="{330EA680-D336-4FF7-8B7A-9848BB0A1C32}" type="slidenum">
              <a:rPr lang="en-US" smtClean="0"/>
              <a:t>34</a:t>
            </a:fld>
            <a:endParaRPr lang="en-US"/>
          </a:p>
        </p:txBody>
      </p:sp>
    </p:spTree>
    <p:extLst>
      <p:ext uri="{BB962C8B-B14F-4D97-AF65-F5344CB8AC3E}">
        <p14:creationId xmlns:p14="http://schemas.microsoft.com/office/powerpoint/2010/main" val="41337442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01E18-89FB-429C-8364-DB77BA73788C}"/>
              </a:ext>
            </a:extLst>
          </p:cNvPr>
          <p:cNvSpPr>
            <a:spLocks noGrp="1"/>
          </p:cNvSpPr>
          <p:nvPr>
            <p:ph type="title"/>
          </p:nvPr>
        </p:nvSpPr>
        <p:spPr>
          <a:xfrm>
            <a:off x="2592925" y="624110"/>
            <a:ext cx="8911687" cy="322668"/>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67C766E8-7848-4458-92F9-7AFCA56FA37F}"/>
              </a:ext>
            </a:extLst>
          </p:cNvPr>
          <p:cNvSpPr>
            <a:spLocks noGrp="1"/>
          </p:cNvSpPr>
          <p:nvPr>
            <p:ph idx="1"/>
          </p:nvPr>
        </p:nvSpPr>
        <p:spPr>
          <a:xfrm>
            <a:off x="1125415" y="1294228"/>
            <a:ext cx="10379197" cy="4616994"/>
          </a:xfrm>
        </p:spPr>
        <p:txBody>
          <a:bodyPr>
            <a:normAutofit lnSpcReduction="10000"/>
          </a:bodyPr>
          <a:lstStyle/>
          <a:p>
            <a:pPr algn="just"/>
            <a:r>
              <a:rPr lang="en-US" sz="2000" dirty="0"/>
              <a:t>There are a number of different commercial tools that can aid in the discrepancy detection step. </a:t>
            </a:r>
          </a:p>
          <a:p>
            <a:pPr algn="just"/>
            <a:r>
              <a:rPr lang="en-US" sz="2000" dirty="0"/>
              <a:t>Data scrubbing tools use simple domain knowledge (e.g., knowledge of postal addresses and spell-checking) to detect errors and make corrections in the data. </a:t>
            </a:r>
          </a:p>
          <a:p>
            <a:pPr algn="just"/>
            <a:r>
              <a:rPr lang="en-US" sz="2000" dirty="0"/>
              <a:t>These tools rely on parsing and fuzzy matching techniques when cleaning data from multiple sources. </a:t>
            </a:r>
          </a:p>
          <a:p>
            <a:pPr algn="just"/>
            <a:r>
              <a:rPr lang="en-US" sz="2000" dirty="0"/>
              <a:t>Data auditing tools find discrepancies by analyzing the data to discover rules and relationships, and detecting data that violate such conditions.</a:t>
            </a:r>
          </a:p>
          <a:p>
            <a:pPr algn="just"/>
            <a:r>
              <a:rPr lang="en-US" sz="2000" dirty="0"/>
              <a:t> Some data inconsistencies may be corrected manually using external references. </a:t>
            </a:r>
          </a:p>
          <a:p>
            <a:pPr algn="just"/>
            <a:r>
              <a:rPr lang="en-US" sz="2000" dirty="0"/>
              <a:t>For example, errors made at data entry may be corrected by performing a paper trace. </a:t>
            </a:r>
          </a:p>
          <a:p>
            <a:pPr algn="just"/>
            <a:endParaRPr lang="en-US" sz="2000" dirty="0"/>
          </a:p>
        </p:txBody>
      </p:sp>
      <p:sp>
        <p:nvSpPr>
          <p:cNvPr id="4" name="Date Placeholder 3">
            <a:extLst>
              <a:ext uri="{FF2B5EF4-FFF2-40B4-BE49-F238E27FC236}">
                <a16:creationId xmlns:a16="http://schemas.microsoft.com/office/drawing/2014/main" id="{EEA2278C-F53F-4D93-AF75-4B2420E7D1DA}"/>
              </a:ext>
            </a:extLst>
          </p:cNvPr>
          <p:cNvSpPr>
            <a:spLocks noGrp="1"/>
          </p:cNvSpPr>
          <p:nvPr>
            <p:ph type="dt" sz="half" idx="10"/>
          </p:nvPr>
        </p:nvSpPr>
        <p:spPr/>
        <p:txBody>
          <a:bodyPr/>
          <a:lstStyle/>
          <a:p>
            <a:fld id="{4B534603-612F-42BB-AA79-D9A28F3F50D0}" type="datetime1">
              <a:rPr lang="en-US" smtClean="0"/>
              <a:t>8/5/2025</a:t>
            </a:fld>
            <a:endParaRPr lang="en-US"/>
          </a:p>
        </p:txBody>
      </p:sp>
      <p:sp>
        <p:nvSpPr>
          <p:cNvPr id="5" name="Slide Number Placeholder 4">
            <a:extLst>
              <a:ext uri="{FF2B5EF4-FFF2-40B4-BE49-F238E27FC236}">
                <a16:creationId xmlns:a16="http://schemas.microsoft.com/office/drawing/2014/main" id="{6F35BDDF-C2B6-4C1C-82BB-F92345F1FC2C}"/>
              </a:ext>
            </a:extLst>
          </p:cNvPr>
          <p:cNvSpPr>
            <a:spLocks noGrp="1"/>
          </p:cNvSpPr>
          <p:nvPr>
            <p:ph type="sldNum" sz="quarter" idx="12"/>
          </p:nvPr>
        </p:nvSpPr>
        <p:spPr/>
        <p:txBody>
          <a:bodyPr/>
          <a:lstStyle/>
          <a:p>
            <a:fld id="{330EA680-D336-4FF7-8B7A-9848BB0A1C32}" type="slidenum">
              <a:rPr lang="en-US" smtClean="0"/>
              <a:t>35</a:t>
            </a:fld>
            <a:endParaRPr lang="en-US"/>
          </a:p>
        </p:txBody>
      </p:sp>
    </p:spTree>
    <p:extLst>
      <p:ext uri="{BB962C8B-B14F-4D97-AF65-F5344CB8AC3E}">
        <p14:creationId xmlns:p14="http://schemas.microsoft.com/office/powerpoint/2010/main" val="11047454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A8414-2E3C-40BC-B024-9C4B54486CD4}"/>
              </a:ext>
            </a:extLst>
          </p:cNvPr>
          <p:cNvSpPr>
            <a:spLocks noGrp="1"/>
          </p:cNvSpPr>
          <p:nvPr>
            <p:ph type="title"/>
          </p:nvPr>
        </p:nvSpPr>
        <p:spPr>
          <a:xfrm>
            <a:off x="2592925" y="624110"/>
            <a:ext cx="8911687" cy="322668"/>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C0150ABF-C8E9-4727-9488-BD24CD9F99EA}"/>
              </a:ext>
            </a:extLst>
          </p:cNvPr>
          <p:cNvSpPr>
            <a:spLocks noGrp="1"/>
          </p:cNvSpPr>
          <p:nvPr>
            <p:ph idx="1"/>
          </p:nvPr>
        </p:nvSpPr>
        <p:spPr>
          <a:xfrm>
            <a:off x="886265" y="1463040"/>
            <a:ext cx="10618347" cy="4770850"/>
          </a:xfrm>
        </p:spPr>
        <p:txBody>
          <a:bodyPr>
            <a:normAutofit/>
          </a:bodyPr>
          <a:lstStyle/>
          <a:p>
            <a:pPr algn="just"/>
            <a:r>
              <a:rPr lang="en-US" sz="2000" dirty="0"/>
              <a:t>Most errors, however, will require data transformations. </a:t>
            </a:r>
          </a:p>
          <a:p>
            <a:pPr algn="just"/>
            <a:r>
              <a:rPr lang="en-US" sz="2000" dirty="0"/>
              <a:t>That is, once we find discrepancies, we typically need to define and apply (a series of) transformations to correct them.</a:t>
            </a:r>
          </a:p>
          <a:p>
            <a:pPr algn="just"/>
            <a:r>
              <a:rPr lang="en-US" sz="2000" dirty="0"/>
              <a:t>Commercial tools can assist in the data transformation step. </a:t>
            </a:r>
          </a:p>
          <a:p>
            <a:pPr algn="just"/>
            <a:r>
              <a:rPr lang="en-US" sz="2000" dirty="0"/>
              <a:t>ETL (extraction/transformation/loading) tools allow users to specify transforms through a graphical user interface (GUI). </a:t>
            </a:r>
          </a:p>
          <a:p>
            <a:pPr algn="just"/>
            <a:r>
              <a:rPr lang="en-US" sz="2000" dirty="0"/>
              <a:t>These tools typically support only a restricted set of transforms so that, often, we may also choose to write custom scripts for this step of the data cleaning process.</a:t>
            </a:r>
          </a:p>
          <a:p>
            <a:endParaRPr lang="en-US" dirty="0"/>
          </a:p>
        </p:txBody>
      </p:sp>
      <p:sp>
        <p:nvSpPr>
          <p:cNvPr id="4" name="Date Placeholder 3">
            <a:extLst>
              <a:ext uri="{FF2B5EF4-FFF2-40B4-BE49-F238E27FC236}">
                <a16:creationId xmlns:a16="http://schemas.microsoft.com/office/drawing/2014/main" id="{3D47F0E2-E3B8-442F-9572-D0C5183AC562}"/>
              </a:ext>
            </a:extLst>
          </p:cNvPr>
          <p:cNvSpPr>
            <a:spLocks noGrp="1"/>
          </p:cNvSpPr>
          <p:nvPr>
            <p:ph type="dt" sz="half" idx="10"/>
          </p:nvPr>
        </p:nvSpPr>
        <p:spPr/>
        <p:txBody>
          <a:bodyPr/>
          <a:lstStyle/>
          <a:p>
            <a:fld id="{76150147-620C-4944-921E-AC2B21BE893B}" type="datetime1">
              <a:rPr lang="en-US" smtClean="0"/>
              <a:t>8/5/2025</a:t>
            </a:fld>
            <a:endParaRPr lang="en-US"/>
          </a:p>
        </p:txBody>
      </p:sp>
      <p:sp>
        <p:nvSpPr>
          <p:cNvPr id="5" name="Slide Number Placeholder 4">
            <a:extLst>
              <a:ext uri="{FF2B5EF4-FFF2-40B4-BE49-F238E27FC236}">
                <a16:creationId xmlns:a16="http://schemas.microsoft.com/office/drawing/2014/main" id="{1482D92D-77A3-414B-B212-BC7A634136DE}"/>
              </a:ext>
            </a:extLst>
          </p:cNvPr>
          <p:cNvSpPr>
            <a:spLocks noGrp="1"/>
          </p:cNvSpPr>
          <p:nvPr>
            <p:ph type="sldNum" sz="quarter" idx="12"/>
          </p:nvPr>
        </p:nvSpPr>
        <p:spPr/>
        <p:txBody>
          <a:bodyPr/>
          <a:lstStyle/>
          <a:p>
            <a:fld id="{330EA680-D336-4FF7-8B7A-9848BB0A1C32}" type="slidenum">
              <a:rPr lang="en-US" smtClean="0"/>
              <a:t>36</a:t>
            </a:fld>
            <a:endParaRPr lang="en-US"/>
          </a:p>
        </p:txBody>
      </p:sp>
    </p:spTree>
    <p:extLst>
      <p:ext uri="{BB962C8B-B14F-4D97-AF65-F5344CB8AC3E}">
        <p14:creationId xmlns:p14="http://schemas.microsoft.com/office/powerpoint/2010/main" val="23976240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D87D0-E46F-47A8-B754-3EEB0EF20E61}"/>
              </a:ext>
            </a:extLst>
          </p:cNvPr>
          <p:cNvSpPr>
            <a:spLocks noGrp="1"/>
          </p:cNvSpPr>
          <p:nvPr>
            <p:ph type="title"/>
          </p:nvPr>
        </p:nvSpPr>
        <p:spPr>
          <a:xfrm>
            <a:off x="2592925" y="624110"/>
            <a:ext cx="8911687" cy="322668"/>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DF4A197C-2D19-4D44-B61F-ACE8B73F998F}"/>
              </a:ext>
            </a:extLst>
          </p:cNvPr>
          <p:cNvSpPr>
            <a:spLocks noGrp="1"/>
          </p:cNvSpPr>
          <p:nvPr>
            <p:ph idx="1"/>
          </p:nvPr>
        </p:nvSpPr>
        <p:spPr>
          <a:xfrm>
            <a:off x="1167618" y="1680519"/>
            <a:ext cx="10336994" cy="4692145"/>
          </a:xfrm>
        </p:spPr>
        <p:txBody>
          <a:bodyPr>
            <a:normAutofit/>
          </a:bodyPr>
          <a:lstStyle/>
          <a:p>
            <a:pPr algn="just"/>
            <a:r>
              <a:rPr lang="en-US" sz="2000" dirty="0"/>
              <a:t>The two-step process of discrepancy detection and data transformation (to correct discrepancies) iterates. </a:t>
            </a:r>
          </a:p>
          <a:p>
            <a:pPr algn="just"/>
            <a:r>
              <a:rPr lang="en-US" sz="2000" dirty="0"/>
              <a:t>This process, however, is error-prone and time consuming. </a:t>
            </a:r>
          </a:p>
          <a:p>
            <a:pPr algn="just"/>
            <a:r>
              <a:rPr lang="en-US" sz="2000" dirty="0"/>
              <a:t>Some transformations may introduce more discrepancies. Some nested discrepancies may only be detected after others have been fixed. </a:t>
            </a:r>
          </a:p>
          <a:p>
            <a:pPr algn="just"/>
            <a:r>
              <a:rPr lang="en-US" sz="2000" dirty="0"/>
              <a:t>For example, a typo such as “20010” in a year field may only surface once all date values have been converted to a uniform format. </a:t>
            </a:r>
          </a:p>
          <a:p>
            <a:pPr algn="just"/>
            <a:r>
              <a:rPr lang="en-US" sz="2000" dirty="0"/>
              <a:t>Transformations are often done as a batch process while the user waits without feedback. </a:t>
            </a:r>
          </a:p>
        </p:txBody>
      </p:sp>
      <p:sp>
        <p:nvSpPr>
          <p:cNvPr id="4" name="Date Placeholder 3">
            <a:extLst>
              <a:ext uri="{FF2B5EF4-FFF2-40B4-BE49-F238E27FC236}">
                <a16:creationId xmlns:a16="http://schemas.microsoft.com/office/drawing/2014/main" id="{E652E245-37E2-49D3-AB39-1F92B1CAE56E}"/>
              </a:ext>
            </a:extLst>
          </p:cNvPr>
          <p:cNvSpPr>
            <a:spLocks noGrp="1"/>
          </p:cNvSpPr>
          <p:nvPr>
            <p:ph type="dt" sz="half" idx="10"/>
          </p:nvPr>
        </p:nvSpPr>
        <p:spPr/>
        <p:txBody>
          <a:bodyPr/>
          <a:lstStyle/>
          <a:p>
            <a:fld id="{1E202D59-A7B3-4D1A-B8BC-953317577EC9}" type="datetime1">
              <a:rPr lang="en-US" smtClean="0"/>
              <a:t>8/5/2025</a:t>
            </a:fld>
            <a:endParaRPr lang="en-US"/>
          </a:p>
        </p:txBody>
      </p:sp>
      <p:sp>
        <p:nvSpPr>
          <p:cNvPr id="5" name="Slide Number Placeholder 4">
            <a:extLst>
              <a:ext uri="{FF2B5EF4-FFF2-40B4-BE49-F238E27FC236}">
                <a16:creationId xmlns:a16="http://schemas.microsoft.com/office/drawing/2014/main" id="{9996EFDD-A081-4C42-91A0-667623632F4D}"/>
              </a:ext>
            </a:extLst>
          </p:cNvPr>
          <p:cNvSpPr>
            <a:spLocks noGrp="1"/>
          </p:cNvSpPr>
          <p:nvPr>
            <p:ph type="sldNum" sz="quarter" idx="12"/>
          </p:nvPr>
        </p:nvSpPr>
        <p:spPr/>
        <p:txBody>
          <a:bodyPr/>
          <a:lstStyle/>
          <a:p>
            <a:fld id="{330EA680-D336-4FF7-8B7A-9848BB0A1C32}" type="slidenum">
              <a:rPr lang="en-US" smtClean="0"/>
              <a:t>37</a:t>
            </a:fld>
            <a:endParaRPr lang="en-US"/>
          </a:p>
        </p:txBody>
      </p:sp>
    </p:spTree>
    <p:extLst>
      <p:ext uri="{BB962C8B-B14F-4D97-AF65-F5344CB8AC3E}">
        <p14:creationId xmlns:p14="http://schemas.microsoft.com/office/powerpoint/2010/main" val="15066161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D187D-4E92-433A-92B9-7BD723BC2163}"/>
              </a:ext>
            </a:extLst>
          </p:cNvPr>
          <p:cNvSpPr>
            <a:spLocks noGrp="1"/>
          </p:cNvSpPr>
          <p:nvPr>
            <p:ph type="title"/>
          </p:nvPr>
        </p:nvSpPr>
        <p:spPr>
          <a:xfrm>
            <a:off x="2592925" y="624110"/>
            <a:ext cx="8911687" cy="322668"/>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1FDE1899-AE30-42FD-9228-03F7EFAE7E11}"/>
              </a:ext>
            </a:extLst>
          </p:cNvPr>
          <p:cNvSpPr>
            <a:spLocks noGrp="1"/>
          </p:cNvSpPr>
          <p:nvPr>
            <p:ph idx="1"/>
          </p:nvPr>
        </p:nvSpPr>
        <p:spPr>
          <a:xfrm>
            <a:off x="1392702" y="1548714"/>
            <a:ext cx="10111910" cy="4362508"/>
          </a:xfrm>
        </p:spPr>
        <p:txBody>
          <a:bodyPr/>
          <a:lstStyle/>
          <a:p>
            <a:pPr algn="just"/>
            <a:r>
              <a:rPr lang="en-US" sz="2000" dirty="0"/>
              <a:t>Only after the transformation is complete can the user go back and check that no new anomalies have been mistakenly created. </a:t>
            </a:r>
          </a:p>
          <a:p>
            <a:pPr algn="just"/>
            <a:r>
              <a:rPr lang="en-US" sz="2000" dirty="0"/>
              <a:t>Typically, numerous iterations are required before the user is satisfied. </a:t>
            </a:r>
          </a:p>
          <a:p>
            <a:pPr algn="just"/>
            <a:r>
              <a:rPr lang="en-US" sz="2000" dirty="0"/>
              <a:t>Any tuples that cannot be automatically handled by a given transformation are typically written to a file without any explanation regarding the reasoning behind their failure.</a:t>
            </a:r>
          </a:p>
          <a:p>
            <a:pPr algn="just"/>
            <a:r>
              <a:rPr lang="en-US" sz="2000" dirty="0"/>
              <a:t> As a result, the entire data cleaning process also suffers from a lack of interactivity.</a:t>
            </a:r>
          </a:p>
          <a:p>
            <a:endParaRPr lang="en-US" dirty="0"/>
          </a:p>
        </p:txBody>
      </p:sp>
      <p:sp>
        <p:nvSpPr>
          <p:cNvPr id="4" name="Date Placeholder 3">
            <a:extLst>
              <a:ext uri="{FF2B5EF4-FFF2-40B4-BE49-F238E27FC236}">
                <a16:creationId xmlns:a16="http://schemas.microsoft.com/office/drawing/2014/main" id="{8E0268DA-87AA-4EE5-941B-563070C426A9}"/>
              </a:ext>
            </a:extLst>
          </p:cNvPr>
          <p:cNvSpPr>
            <a:spLocks noGrp="1"/>
          </p:cNvSpPr>
          <p:nvPr>
            <p:ph type="dt" sz="half" idx="10"/>
          </p:nvPr>
        </p:nvSpPr>
        <p:spPr/>
        <p:txBody>
          <a:bodyPr/>
          <a:lstStyle/>
          <a:p>
            <a:fld id="{641FB908-3EF3-4A05-A166-A4EBB9717FCE}" type="datetime1">
              <a:rPr lang="en-US" smtClean="0"/>
              <a:t>8/5/2025</a:t>
            </a:fld>
            <a:endParaRPr lang="en-US"/>
          </a:p>
        </p:txBody>
      </p:sp>
      <p:sp>
        <p:nvSpPr>
          <p:cNvPr id="5" name="Slide Number Placeholder 4">
            <a:extLst>
              <a:ext uri="{FF2B5EF4-FFF2-40B4-BE49-F238E27FC236}">
                <a16:creationId xmlns:a16="http://schemas.microsoft.com/office/drawing/2014/main" id="{13E1895E-8199-4360-AA1A-F46D2A6299DF}"/>
              </a:ext>
            </a:extLst>
          </p:cNvPr>
          <p:cNvSpPr>
            <a:spLocks noGrp="1"/>
          </p:cNvSpPr>
          <p:nvPr>
            <p:ph type="sldNum" sz="quarter" idx="12"/>
          </p:nvPr>
        </p:nvSpPr>
        <p:spPr/>
        <p:txBody>
          <a:bodyPr/>
          <a:lstStyle/>
          <a:p>
            <a:fld id="{330EA680-D336-4FF7-8B7A-9848BB0A1C32}" type="slidenum">
              <a:rPr lang="en-US" smtClean="0"/>
              <a:t>38</a:t>
            </a:fld>
            <a:endParaRPr lang="en-US"/>
          </a:p>
        </p:txBody>
      </p:sp>
    </p:spTree>
    <p:extLst>
      <p:ext uri="{BB962C8B-B14F-4D97-AF65-F5344CB8AC3E}">
        <p14:creationId xmlns:p14="http://schemas.microsoft.com/office/powerpoint/2010/main" val="5940818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396C2-049A-4827-A7DF-E33B7B7E27A3}"/>
              </a:ext>
            </a:extLst>
          </p:cNvPr>
          <p:cNvSpPr>
            <a:spLocks noGrp="1"/>
          </p:cNvSpPr>
          <p:nvPr>
            <p:ph type="title"/>
          </p:nvPr>
        </p:nvSpPr>
        <p:spPr>
          <a:xfrm>
            <a:off x="2592925" y="624110"/>
            <a:ext cx="8911687" cy="322668"/>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395B7330-FE21-4DD3-9BF9-9DDBE93220F5}"/>
              </a:ext>
            </a:extLst>
          </p:cNvPr>
          <p:cNvSpPr>
            <a:spLocks noGrp="1"/>
          </p:cNvSpPr>
          <p:nvPr>
            <p:ph idx="1"/>
          </p:nvPr>
        </p:nvSpPr>
        <p:spPr>
          <a:xfrm>
            <a:off x="1083212" y="1392701"/>
            <a:ext cx="10421400" cy="4965895"/>
          </a:xfrm>
        </p:spPr>
        <p:txBody>
          <a:bodyPr>
            <a:normAutofit/>
          </a:bodyPr>
          <a:lstStyle/>
          <a:p>
            <a:pPr algn="just"/>
            <a:r>
              <a:rPr lang="en-US" sz="2000" dirty="0"/>
              <a:t>New approaches to data cleaning emphasize increased interactivity. </a:t>
            </a:r>
          </a:p>
          <a:p>
            <a:pPr algn="just"/>
            <a:r>
              <a:rPr lang="en-US" sz="2000" dirty="0"/>
              <a:t>Potter’s Wheel, for example, is a publicly available data cleaning tool that integrates discrepancy detection and transformation.</a:t>
            </a:r>
          </a:p>
          <a:p>
            <a:pPr algn="just"/>
            <a:r>
              <a:rPr lang="en-US" sz="2000" dirty="0"/>
              <a:t> Users gradually build a series of transformations by composing and debugging individual transformations, one step at a time, on a spreadsheet-like interface. </a:t>
            </a:r>
          </a:p>
          <a:p>
            <a:pPr algn="just"/>
            <a:r>
              <a:rPr lang="en-US" sz="2000" dirty="0"/>
              <a:t>The transformations can be specified graphically or by providing examples. </a:t>
            </a:r>
          </a:p>
          <a:p>
            <a:pPr algn="just"/>
            <a:r>
              <a:rPr lang="en-US" sz="2000" dirty="0"/>
              <a:t>Results are shown immediately on the records that are visible on the screen. </a:t>
            </a:r>
          </a:p>
          <a:p>
            <a:pPr algn="just"/>
            <a:r>
              <a:rPr lang="en-US" sz="2000" dirty="0"/>
              <a:t>The user can choose to undo the transformations, so that transformations that introduced additional errors can be “erased.” </a:t>
            </a:r>
          </a:p>
          <a:p>
            <a:pPr algn="just"/>
            <a:r>
              <a:rPr lang="en-US" sz="2000" dirty="0"/>
              <a:t>The tool automatically performs discrepancy checking in the background on the latest transformed view of the data.</a:t>
            </a:r>
          </a:p>
          <a:p>
            <a:pPr algn="just"/>
            <a:r>
              <a:rPr lang="en-US" sz="2000" dirty="0"/>
              <a:t> Users can gradually develop and refine transformations as discrepancies are found, leading to more effective and efficient data cleaning. </a:t>
            </a:r>
          </a:p>
          <a:p>
            <a:pPr algn="just"/>
            <a:endParaRPr lang="en-US" sz="2000" dirty="0"/>
          </a:p>
        </p:txBody>
      </p:sp>
      <p:sp>
        <p:nvSpPr>
          <p:cNvPr id="4" name="Date Placeholder 3">
            <a:extLst>
              <a:ext uri="{FF2B5EF4-FFF2-40B4-BE49-F238E27FC236}">
                <a16:creationId xmlns:a16="http://schemas.microsoft.com/office/drawing/2014/main" id="{8203BCA4-8680-4FB4-B722-9EC067E70B1B}"/>
              </a:ext>
            </a:extLst>
          </p:cNvPr>
          <p:cNvSpPr>
            <a:spLocks noGrp="1"/>
          </p:cNvSpPr>
          <p:nvPr>
            <p:ph type="dt" sz="half" idx="10"/>
          </p:nvPr>
        </p:nvSpPr>
        <p:spPr/>
        <p:txBody>
          <a:bodyPr/>
          <a:lstStyle/>
          <a:p>
            <a:fld id="{CA9D7761-70EF-4E3D-8C9E-F2A81C478409}" type="datetime1">
              <a:rPr lang="en-US" smtClean="0"/>
              <a:t>8/5/2025</a:t>
            </a:fld>
            <a:endParaRPr lang="en-US"/>
          </a:p>
        </p:txBody>
      </p:sp>
      <p:sp>
        <p:nvSpPr>
          <p:cNvPr id="5" name="Slide Number Placeholder 4">
            <a:extLst>
              <a:ext uri="{FF2B5EF4-FFF2-40B4-BE49-F238E27FC236}">
                <a16:creationId xmlns:a16="http://schemas.microsoft.com/office/drawing/2014/main" id="{BA29CD24-7572-45B6-95F7-C070890C53E8}"/>
              </a:ext>
            </a:extLst>
          </p:cNvPr>
          <p:cNvSpPr>
            <a:spLocks noGrp="1"/>
          </p:cNvSpPr>
          <p:nvPr>
            <p:ph type="sldNum" sz="quarter" idx="12"/>
          </p:nvPr>
        </p:nvSpPr>
        <p:spPr/>
        <p:txBody>
          <a:bodyPr/>
          <a:lstStyle/>
          <a:p>
            <a:fld id="{330EA680-D336-4FF7-8B7A-9848BB0A1C32}" type="slidenum">
              <a:rPr lang="en-US" smtClean="0"/>
              <a:t>39</a:t>
            </a:fld>
            <a:endParaRPr lang="en-US"/>
          </a:p>
        </p:txBody>
      </p:sp>
    </p:spTree>
    <p:extLst>
      <p:ext uri="{BB962C8B-B14F-4D97-AF65-F5344CB8AC3E}">
        <p14:creationId xmlns:p14="http://schemas.microsoft.com/office/powerpoint/2010/main" val="27122396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682A2-E974-446A-AA9F-99CEA8351908}"/>
              </a:ext>
            </a:extLst>
          </p:cNvPr>
          <p:cNvSpPr>
            <a:spLocks noGrp="1"/>
          </p:cNvSpPr>
          <p:nvPr>
            <p:ph type="title"/>
          </p:nvPr>
        </p:nvSpPr>
        <p:spPr>
          <a:xfrm>
            <a:off x="2592925" y="624110"/>
            <a:ext cx="8911687" cy="365125"/>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FC2FD718-FC8E-4C2F-94D4-0E6C074E31B9}"/>
              </a:ext>
            </a:extLst>
          </p:cNvPr>
          <p:cNvSpPr>
            <a:spLocks noGrp="1"/>
          </p:cNvSpPr>
          <p:nvPr>
            <p:ph idx="1"/>
          </p:nvPr>
        </p:nvSpPr>
        <p:spPr>
          <a:xfrm>
            <a:off x="787791" y="1308295"/>
            <a:ext cx="10716821" cy="4602927"/>
          </a:xfrm>
        </p:spPr>
        <p:txBody>
          <a:bodyPr>
            <a:normAutofit/>
          </a:bodyPr>
          <a:lstStyle/>
          <a:p>
            <a:pPr algn="just"/>
            <a:r>
              <a:rPr lang="en-US" sz="2400" b="1" dirty="0"/>
              <a:t>Data Integration </a:t>
            </a:r>
          </a:p>
          <a:p>
            <a:pPr algn="just"/>
            <a:r>
              <a:rPr lang="en-US" sz="2000" dirty="0"/>
              <a:t>Data mining often requires data integration—the merging of data from multiple data stores.</a:t>
            </a:r>
          </a:p>
          <a:p>
            <a:pPr algn="just"/>
            <a:r>
              <a:rPr lang="en-US" sz="2000" dirty="0"/>
              <a:t>Careful integration can help reduce and avoid redundancies and inconsistencies in the resulting data set. </a:t>
            </a:r>
          </a:p>
          <a:p>
            <a:pPr algn="just"/>
            <a:r>
              <a:rPr lang="en-US" sz="2000" dirty="0"/>
              <a:t>This can help improve the accuracy and speed of the subsequent data mining process.</a:t>
            </a:r>
          </a:p>
          <a:p>
            <a:pPr algn="just"/>
            <a:r>
              <a:rPr lang="en-US" sz="2000" dirty="0"/>
              <a:t>The semantic heterogeneity and structure of data pose great challenges in data integration. </a:t>
            </a:r>
          </a:p>
          <a:p>
            <a:pPr algn="just"/>
            <a:r>
              <a:rPr lang="en-US" sz="2000" dirty="0"/>
              <a:t>How can we match schema and objects from different sources? This is the essence of the entity identification problem.</a:t>
            </a:r>
          </a:p>
          <a:p>
            <a:pPr algn="just"/>
            <a:r>
              <a:rPr lang="en-US" sz="2000" dirty="0"/>
              <a:t>Are any attributes correlated? </a:t>
            </a:r>
          </a:p>
        </p:txBody>
      </p:sp>
      <p:sp>
        <p:nvSpPr>
          <p:cNvPr id="4" name="Date Placeholder 3">
            <a:extLst>
              <a:ext uri="{FF2B5EF4-FFF2-40B4-BE49-F238E27FC236}">
                <a16:creationId xmlns:a16="http://schemas.microsoft.com/office/drawing/2014/main" id="{F982B098-BB86-442C-A106-BFAA4B21A5DE}"/>
              </a:ext>
            </a:extLst>
          </p:cNvPr>
          <p:cNvSpPr>
            <a:spLocks noGrp="1"/>
          </p:cNvSpPr>
          <p:nvPr>
            <p:ph type="dt" sz="half" idx="10"/>
          </p:nvPr>
        </p:nvSpPr>
        <p:spPr/>
        <p:txBody>
          <a:bodyPr/>
          <a:lstStyle/>
          <a:p>
            <a:fld id="{CC23D4C2-9E86-42C8-A20B-B4FC5AB2881D}" type="datetime1">
              <a:rPr lang="en-US" smtClean="0"/>
              <a:t>8/5/2025</a:t>
            </a:fld>
            <a:endParaRPr lang="en-US"/>
          </a:p>
        </p:txBody>
      </p:sp>
      <p:sp>
        <p:nvSpPr>
          <p:cNvPr id="5" name="Slide Number Placeholder 4">
            <a:extLst>
              <a:ext uri="{FF2B5EF4-FFF2-40B4-BE49-F238E27FC236}">
                <a16:creationId xmlns:a16="http://schemas.microsoft.com/office/drawing/2014/main" id="{87D8CFEA-74F4-4428-A51D-C4298D23134D}"/>
              </a:ext>
            </a:extLst>
          </p:cNvPr>
          <p:cNvSpPr>
            <a:spLocks noGrp="1"/>
          </p:cNvSpPr>
          <p:nvPr>
            <p:ph type="sldNum" sz="quarter" idx="12"/>
          </p:nvPr>
        </p:nvSpPr>
        <p:spPr/>
        <p:txBody>
          <a:bodyPr/>
          <a:lstStyle/>
          <a:p>
            <a:fld id="{330EA680-D336-4FF7-8B7A-9848BB0A1C32}" type="slidenum">
              <a:rPr lang="en-US" smtClean="0"/>
              <a:t>40</a:t>
            </a:fld>
            <a:endParaRPr lang="en-US"/>
          </a:p>
        </p:txBody>
      </p:sp>
    </p:spTree>
    <p:extLst>
      <p:ext uri="{BB962C8B-B14F-4D97-AF65-F5344CB8AC3E}">
        <p14:creationId xmlns:p14="http://schemas.microsoft.com/office/powerpoint/2010/main" val="19224654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96021-08C0-4860-B354-6DE304659870}"/>
              </a:ext>
            </a:extLst>
          </p:cNvPr>
          <p:cNvSpPr>
            <a:spLocks noGrp="1"/>
          </p:cNvSpPr>
          <p:nvPr>
            <p:ph type="title"/>
          </p:nvPr>
        </p:nvSpPr>
        <p:spPr>
          <a:xfrm>
            <a:off x="2592925" y="624110"/>
            <a:ext cx="8911687" cy="528797"/>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8E3B5F5C-50C0-4246-B847-B22BE550D712}"/>
              </a:ext>
            </a:extLst>
          </p:cNvPr>
          <p:cNvSpPr>
            <a:spLocks noGrp="1"/>
          </p:cNvSpPr>
          <p:nvPr>
            <p:ph idx="1"/>
          </p:nvPr>
        </p:nvSpPr>
        <p:spPr>
          <a:xfrm>
            <a:off x="1012874" y="1152908"/>
            <a:ext cx="10491738" cy="5247892"/>
          </a:xfrm>
        </p:spPr>
        <p:txBody>
          <a:bodyPr>
            <a:normAutofit/>
          </a:bodyPr>
          <a:lstStyle/>
          <a:p>
            <a:pPr algn="just"/>
            <a:r>
              <a:rPr lang="en-US" sz="2000" b="1" dirty="0"/>
              <a:t>Entity Identification Problem </a:t>
            </a:r>
          </a:p>
          <a:p>
            <a:pPr algn="just"/>
            <a:r>
              <a:rPr lang="en-US" sz="2000" dirty="0"/>
              <a:t>It is likely that your data analysis task will involve data integration, which combines data from multiple sources into a coherent data store, as in data warehousing. </a:t>
            </a:r>
          </a:p>
          <a:p>
            <a:pPr algn="just"/>
            <a:r>
              <a:rPr lang="en-US" sz="2000" dirty="0"/>
              <a:t>These sources may include multiple databases, data cubes, or flat files. </a:t>
            </a:r>
          </a:p>
          <a:p>
            <a:pPr algn="just"/>
            <a:r>
              <a:rPr lang="en-US" sz="2000" dirty="0"/>
              <a:t>There are a number of issues to consider during data integration.</a:t>
            </a:r>
          </a:p>
          <a:p>
            <a:pPr algn="just"/>
            <a:r>
              <a:rPr lang="en-US" sz="2000" dirty="0"/>
              <a:t> Schema integration and object matching can be tricky. </a:t>
            </a:r>
          </a:p>
          <a:p>
            <a:pPr algn="just"/>
            <a:r>
              <a:rPr lang="en-US" sz="2000" dirty="0"/>
              <a:t>How can equivalent real-world entities from multiple data sources be matched up? </a:t>
            </a:r>
          </a:p>
          <a:p>
            <a:pPr algn="just"/>
            <a:r>
              <a:rPr lang="en-US" sz="2000" dirty="0"/>
              <a:t>This is referred to as the entity identification problem. </a:t>
            </a:r>
          </a:p>
          <a:p>
            <a:pPr algn="just"/>
            <a:r>
              <a:rPr lang="en-US" sz="2000" dirty="0"/>
              <a:t>For example, how can the data analyst or the computer be sure that customer id in one database and </a:t>
            </a:r>
            <a:r>
              <a:rPr lang="en-US" sz="2000" dirty="0" err="1"/>
              <a:t>cust</a:t>
            </a:r>
            <a:r>
              <a:rPr lang="en-US" sz="2000" dirty="0"/>
              <a:t> number in another refer to the same attribute? </a:t>
            </a:r>
          </a:p>
        </p:txBody>
      </p:sp>
      <p:sp>
        <p:nvSpPr>
          <p:cNvPr id="4" name="Date Placeholder 3">
            <a:extLst>
              <a:ext uri="{FF2B5EF4-FFF2-40B4-BE49-F238E27FC236}">
                <a16:creationId xmlns:a16="http://schemas.microsoft.com/office/drawing/2014/main" id="{B82AD05B-88A5-4D57-B556-01A6A0C8D488}"/>
              </a:ext>
            </a:extLst>
          </p:cNvPr>
          <p:cNvSpPr>
            <a:spLocks noGrp="1"/>
          </p:cNvSpPr>
          <p:nvPr>
            <p:ph type="dt" sz="half" idx="10"/>
          </p:nvPr>
        </p:nvSpPr>
        <p:spPr/>
        <p:txBody>
          <a:bodyPr/>
          <a:lstStyle/>
          <a:p>
            <a:fld id="{4DD1140C-F93B-4560-9588-C8D1FF4EC566}" type="datetime1">
              <a:rPr lang="en-US" smtClean="0"/>
              <a:t>8/5/2025</a:t>
            </a:fld>
            <a:endParaRPr lang="en-US"/>
          </a:p>
        </p:txBody>
      </p:sp>
      <p:sp>
        <p:nvSpPr>
          <p:cNvPr id="5" name="Slide Number Placeholder 4">
            <a:extLst>
              <a:ext uri="{FF2B5EF4-FFF2-40B4-BE49-F238E27FC236}">
                <a16:creationId xmlns:a16="http://schemas.microsoft.com/office/drawing/2014/main" id="{49A98874-4F69-40FD-A5D0-693D7541D663}"/>
              </a:ext>
            </a:extLst>
          </p:cNvPr>
          <p:cNvSpPr>
            <a:spLocks noGrp="1"/>
          </p:cNvSpPr>
          <p:nvPr>
            <p:ph type="sldNum" sz="quarter" idx="12"/>
          </p:nvPr>
        </p:nvSpPr>
        <p:spPr/>
        <p:txBody>
          <a:bodyPr/>
          <a:lstStyle/>
          <a:p>
            <a:fld id="{330EA680-D336-4FF7-8B7A-9848BB0A1C32}" type="slidenum">
              <a:rPr lang="en-US" smtClean="0"/>
              <a:t>41</a:t>
            </a:fld>
            <a:endParaRPr lang="en-US"/>
          </a:p>
        </p:txBody>
      </p:sp>
    </p:spTree>
    <p:extLst>
      <p:ext uri="{BB962C8B-B14F-4D97-AF65-F5344CB8AC3E}">
        <p14:creationId xmlns:p14="http://schemas.microsoft.com/office/powerpoint/2010/main" val="33601981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F6717-E59B-40A4-8A53-5702C7E5FF56}"/>
              </a:ext>
            </a:extLst>
          </p:cNvPr>
          <p:cNvSpPr>
            <a:spLocks noGrp="1"/>
          </p:cNvSpPr>
          <p:nvPr>
            <p:ph type="title"/>
          </p:nvPr>
        </p:nvSpPr>
        <p:spPr>
          <a:xfrm>
            <a:off x="2592925" y="624110"/>
            <a:ext cx="8911687" cy="365125"/>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B6580A02-7680-4AC9-9D9E-79F51A4E7BED}"/>
              </a:ext>
            </a:extLst>
          </p:cNvPr>
          <p:cNvSpPr>
            <a:spLocks noGrp="1"/>
          </p:cNvSpPr>
          <p:nvPr>
            <p:ph idx="1"/>
          </p:nvPr>
        </p:nvSpPr>
        <p:spPr>
          <a:xfrm>
            <a:off x="886265" y="1152908"/>
            <a:ext cx="10618347" cy="5458908"/>
          </a:xfrm>
        </p:spPr>
        <p:txBody>
          <a:bodyPr>
            <a:noAutofit/>
          </a:bodyPr>
          <a:lstStyle/>
          <a:p>
            <a:pPr algn="just"/>
            <a:r>
              <a:rPr lang="en-US" sz="2000" dirty="0"/>
              <a:t>Examples of metadata for each attribute include the name, meaning, data type, and range of values permitted for the attribute, and null rules for handling blank, zero, or null values .</a:t>
            </a:r>
          </a:p>
          <a:p>
            <a:pPr algn="just"/>
            <a:r>
              <a:rPr lang="en-US" sz="2000" dirty="0"/>
              <a:t>Such metadata can be used to help avoid errors in schema integration.</a:t>
            </a:r>
          </a:p>
          <a:p>
            <a:pPr algn="just"/>
            <a:r>
              <a:rPr lang="en-US" sz="2000" dirty="0"/>
              <a:t>The metadata may also be used to help transform the data.</a:t>
            </a:r>
          </a:p>
          <a:p>
            <a:pPr algn="just"/>
            <a:r>
              <a:rPr lang="en-US" sz="2000" dirty="0"/>
              <a:t>Hence, this step also relates to data cleaning. </a:t>
            </a:r>
          </a:p>
          <a:p>
            <a:pPr algn="just"/>
            <a:r>
              <a:rPr lang="en-US" sz="2000" dirty="0"/>
              <a:t>When matching, attributes from one database to another during integration, special attention must be paid to the structure of the data. </a:t>
            </a:r>
          </a:p>
          <a:p>
            <a:pPr algn="just"/>
            <a:r>
              <a:rPr lang="en-US" sz="2000" dirty="0"/>
              <a:t>This is to ensure that any attribute functional dependencies and referential constraints in the source system match those in the target system.</a:t>
            </a:r>
          </a:p>
          <a:p>
            <a:pPr algn="just"/>
            <a:r>
              <a:rPr lang="en-US" sz="2000" dirty="0"/>
              <a:t>For example, in one system, a discount may be applied to the order, whereas in another system it is applied to each individual line item within the order.</a:t>
            </a:r>
          </a:p>
          <a:p>
            <a:pPr algn="just"/>
            <a:r>
              <a:rPr lang="en-US" sz="2000" dirty="0"/>
              <a:t>If this is not caught before integration, items in the target system may be improperly discounted. </a:t>
            </a:r>
          </a:p>
        </p:txBody>
      </p:sp>
      <p:sp>
        <p:nvSpPr>
          <p:cNvPr id="4" name="Date Placeholder 3">
            <a:extLst>
              <a:ext uri="{FF2B5EF4-FFF2-40B4-BE49-F238E27FC236}">
                <a16:creationId xmlns:a16="http://schemas.microsoft.com/office/drawing/2014/main" id="{B8246A0B-A46F-4F25-B0D9-FF7B623E708C}"/>
              </a:ext>
            </a:extLst>
          </p:cNvPr>
          <p:cNvSpPr>
            <a:spLocks noGrp="1"/>
          </p:cNvSpPr>
          <p:nvPr>
            <p:ph type="dt" sz="half" idx="10"/>
          </p:nvPr>
        </p:nvSpPr>
        <p:spPr/>
        <p:txBody>
          <a:bodyPr/>
          <a:lstStyle/>
          <a:p>
            <a:fld id="{837DD637-A81D-4FE3-B500-8FF60832C05F}" type="datetime1">
              <a:rPr lang="en-US" smtClean="0"/>
              <a:t>8/5/2025</a:t>
            </a:fld>
            <a:endParaRPr lang="en-US"/>
          </a:p>
        </p:txBody>
      </p:sp>
      <p:sp>
        <p:nvSpPr>
          <p:cNvPr id="5" name="Slide Number Placeholder 4">
            <a:extLst>
              <a:ext uri="{FF2B5EF4-FFF2-40B4-BE49-F238E27FC236}">
                <a16:creationId xmlns:a16="http://schemas.microsoft.com/office/drawing/2014/main" id="{39EE49C2-C109-41F1-9141-B804BFACBC50}"/>
              </a:ext>
            </a:extLst>
          </p:cNvPr>
          <p:cNvSpPr>
            <a:spLocks noGrp="1"/>
          </p:cNvSpPr>
          <p:nvPr>
            <p:ph type="sldNum" sz="quarter" idx="12"/>
          </p:nvPr>
        </p:nvSpPr>
        <p:spPr/>
        <p:txBody>
          <a:bodyPr/>
          <a:lstStyle/>
          <a:p>
            <a:fld id="{330EA680-D336-4FF7-8B7A-9848BB0A1C32}" type="slidenum">
              <a:rPr lang="en-US" smtClean="0"/>
              <a:t>42</a:t>
            </a:fld>
            <a:endParaRPr lang="en-US"/>
          </a:p>
        </p:txBody>
      </p:sp>
    </p:spTree>
    <p:extLst>
      <p:ext uri="{BB962C8B-B14F-4D97-AF65-F5344CB8AC3E}">
        <p14:creationId xmlns:p14="http://schemas.microsoft.com/office/powerpoint/2010/main" val="38835803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DA9F2-B857-4F4A-A2D2-39F4C20BE35F}"/>
              </a:ext>
            </a:extLst>
          </p:cNvPr>
          <p:cNvSpPr>
            <a:spLocks noGrp="1"/>
          </p:cNvSpPr>
          <p:nvPr>
            <p:ph type="title"/>
          </p:nvPr>
        </p:nvSpPr>
        <p:spPr>
          <a:xfrm>
            <a:off x="2592925" y="624110"/>
            <a:ext cx="8911687" cy="365125"/>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BB5F4219-F9A8-4168-89DB-CB58DD79A64D}"/>
              </a:ext>
            </a:extLst>
          </p:cNvPr>
          <p:cNvSpPr>
            <a:spLocks noGrp="1"/>
          </p:cNvSpPr>
          <p:nvPr>
            <p:ph idx="1"/>
          </p:nvPr>
        </p:nvSpPr>
        <p:spPr>
          <a:xfrm>
            <a:off x="970671" y="1280160"/>
            <a:ext cx="10533941" cy="5120639"/>
          </a:xfrm>
        </p:spPr>
        <p:txBody>
          <a:bodyPr/>
          <a:lstStyle/>
          <a:p>
            <a:pPr algn="just"/>
            <a:r>
              <a:rPr lang="en-US" sz="2000" b="1" dirty="0"/>
              <a:t>Redundancy and Correlation Analysis </a:t>
            </a:r>
          </a:p>
          <a:p>
            <a:pPr algn="just"/>
            <a:r>
              <a:rPr lang="en-US" sz="2000" dirty="0"/>
              <a:t>Redundancy is another important issue in data integration.</a:t>
            </a:r>
          </a:p>
          <a:p>
            <a:pPr algn="just"/>
            <a:r>
              <a:rPr lang="en-US" sz="2000" dirty="0"/>
              <a:t> An attribute may be redundant if it can be “derived” from another attribute or set of attributes. </a:t>
            </a:r>
          </a:p>
          <a:p>
            <a:pPr algn="just"/>
            <a:r>
              <a:rPr lang="en-US" sz="2000" dirty="0"/>
              <a:t>Inconsistencies in attribute or dimension naming can also cause redundancies in the resulting data set. </a:t>
            </a:r>
          </a:p>
          <a:p>
            <a:pPr algn="just"/>
            <a:r>
              <a:rPr lang="en-US" sz="2000" dirty="0"/>
              <a:t>Some redundancies can be detected by correlation analysis. </a:t>
            </a:r>
          </a:p>
          <a:p>
            <a:pPr algn="just"/>
            <a:r>
              <a:rPr lang="en-US" sz="2000" dirty="0"/>
              <a:t>Given two attributes, such analysis can measure how strongly one attribute implies the other, based on the available data. </a:t>
            </a:r>
          </a:p>
          <a:p>
            <a:pPr algn="just"/>
            <a:r>
              <a:rPr lang="en-US" sz="2000" dirty="0"/>
              <a:t>For nominal data, we use the χ 2 (chi-square) test. </a:t>
            </a:r>
          </a:p>
          <a:p>
            <a:pPr algn="just"/>
            <a:r>
              <a:rPr lang="en-US" sz="2000" dirty="0"/>
              <a:t>For numeric attributes, we can use the correlation coefficient and covariance, both of which access how one attribute’s values vary from those of another.</a:t>
            </a:r>
          </a:p>
        </p:txBody>
      </p:sp>
      <p:sp>
        <p:nvSpPr>
          <p:cNvPr id="4" name="Date Placeholder 3">
            <a:extLst>
              <a:ext uri="{FF2B5EF4-FFF2-40B4-BE49-F238E27FC236}">
                <a16:creationId xmlns:a16="http://schemas.microsoft.com/office/drawing/2014/main" id="{7DFF9867-057E-4777-B55C-F350628D374A}"/>
              </a:ext>
            </a:extLst>
          </p:cNvPr>
          <p:cNvSpPr>
            <a:spLocks noGrp="1"/>
          </p:cNvSpPr>
          <p:nvPr>
            <p:ph type="dt" sz="half" idx="10"/>
          </p:nvPr>
        </p:nvSpPr>
        <p:spPr/>
        <p:txBody>
          <a:bodyPr/>
          <a:lstStyle/>
          <a:p>
            <a:fld id="{02A3EF2F-39D0-48CF-A23E-0E751625BA37}" type="datetime1">
              <a:rPr lang="en-US" smtClean="0"/>
              <a:t>8/5/2025</a:t>
            </a:fld>
            <a:endParaRPr lang="en-US"/>
          </a:p>
        </p:txBody>
      </p:sp>
      <p:sp>
        <p:nvSpPr>
          <p:cNvPr id="5" name="Slide Number Placeholder 4">
            <a:extLst>
              <a:ext uri="{FF2B5EF4-FFF2-40B4-BE49-F238E27FC236}">
                <a16:creationId xmlns:a16="http://schemas.microsoft.com/office/drawing/2014/main" id="{A026DBC6-6B0F-4465-BD65-569279CB03E9}"/>
              </a:ext>
            </a:extLst>
          </p:cNvPr>
          <p:cNvSpPr>
            <a:spLocks noGrp="1"/>
          </p:cNvSpPr>
          <p:nvPr>
            <p:ph type="sldNum" sz="quarter" idx="12"/>
          </p:nvPr>
        </p:nvSpPr>
        <p:spPr/>
        <p:txBody>
          <a:bodyPr/>
          <a:lstStyle/>
          <a:p>
            <a:fld id="{330EA680-D336-4FF7-8B7A-9848BB0A1C32}" type="slidenum">
              <a:rPr lang="en-US" smtClean="0"/>
              <a:t>43</a:t>
            </a:fld>
            <a:endParaRPr lang="en-US"/>
          </a:p>
        </p:txBody>
      </p:sp>
    </p:spTree>
    <p:extLst>
      <p:ext uri="{BB962C8B-B14F-4D97-AF65-F5344CB8AC3E}">
        <p14:creationId xmlns:p14="http://schemas.microsoft.com/office/powerpoint/2010/main" val="243373125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B0813-41E1-4FD3-ACBC-03B94E93AD2B}"/>
              </a:ext>
            </a:extLst>
          </p:cNvPr>
          <p:cNvSpPr>
            <a:spLocks noGrp="1"/>
          </p:cNvSpPr>
          <p:nvPr>
            <p:ph type="title"/>
          </p:nvPr>
        </p:nvSpPr>
        <p:spPr>
          <a:xfrm>
            <a:off x="2592925" y="624110"/>
            <a:ext cx="8911687" cy="322668"/>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7CA1404C-23DB-46CA-A0C6-FB80380DD17F}"/>
              </a:ext>
            </a:extLst>
          </p:cNvPr>
          <p:cNvSpPr>
            <a:spLocks noGrp="1"/>
          </p:cNvSpPr>
          <p:nvPr>
            <p:ph idx="1"/>
          </p:nvPr>
        </p:nvSpPr>
        <p:spPr>
          <a:xfrm>
            <a:off x="1153551" y="1152907"/>
            <a:ext cx="10351061" cy="4783659"/>
          </a:xfrm>
        </p:spPr>
        <p:txBody>
          <a:bodyPr>
            <a:normAutofit/>
          </a:bodyPr>
          <a:lstStyle/>
          <a:p>
            <a:r>
              <a:rPr lang="en-US" sz="2000" b="1" dirty="0"/>
              <a:t>χ 2 Correlation Test for Nominal Data </a:t>
            </a:r>
          </a:p>
          <a:p>
            <a:pPr algn="just"/>
            <a:r>
              <a:rPr lang="en-US" sz="2000" dirty="0"/>
              <a:t>For nominal data, a correlation relationship between two attributes, A and B, can be discovered by a χ 2 (chi-square) test. </a:t>
            </a:r>
          </a:p>
          <a:p>
            <a:pPr algn="just"/>
            <a:r>
              <a:rPr lang="en-US" sz="2000" dirty="0"/>
              <a:t>Suppose A has c distinct values, namely a1,a2,...ac .</a:t>
            </a:r>
          </a:p>
          <a:p>
            <a:pPr algn="just"/>
            <a:r>
              <a:rPr lang="en-US" sz="2000" dirty="0"/>
              <a:t>B has r distinct values, namely b1,b2,...</a:t>
            </a:r>
            <a:r>
              <a:rPr lang="en-US" sz="2000" dirty="0" err="1"/>
              <a:t>br</a:t>
            </a:r>
            <a:r>
              <a:rPr lang="en-US" sz="2000" dirty="0"/>
              <a:t> . </a:t>
            </a:r>
          </a:p>
          <a:p>
            <a:pPr algn="just"/>
            <a:r>
              <a:rPr lang="en-US" sz="2000" dirty="0"/>
              <a:t>The data tuples described by A and B can be shown as a contingency table, with the c values of A making up the columns and the r values of B making up the rows. </a:t>
            </a:r>
          </a:p>
          <a:p>
            <a:pPr algn="just"/>
            <a:r>
              <a:rPr lang="en-US" sz="2000" dirty="0"/>
              <a:t>Let (Ai ,</a:t>
            </a:r>
            <a:r>
              <a:rPr lang="en-US" sz="2000" dirty="0" err="1"/>
              <a:t>Bj</a:t>
            </a:r>
            <a:r>
              <a:rPr lang="en-US" sz="2000" dirty="0"/>
              <a:t>) denote the joint event that attribute A takes on value ai and attribute B takes on value </a:t>
            </a:r>
            <a:r>
              <a:rPr lang="en-US" sz="2000" dirty="0" err="1"/>
              <a:t>bj</a:t>
            </a:r>
            <a:r>
              <a:rPr lang="en-US" sz="2000" dirty="0"/>
              <a:t> , that is, where (A = ai ,B = </a:t>
            </a:r>
            <a:r>
              <a:rPr lang="en-US" sz="2000" dirty="0" err="1"/>
              <a:t>bj</a:t>
            </a:r>
            <a:r>
              <a:rPr lang="en-US" sz="2000" dirty="0"/>
              <a:t>).</a:t>
            </a:r>
          </a:p>
          <a:p>
            <a:pPr algn="just"/>
            <a:r>
              <a:rPr lang="en-US" sz="2000" dirty="0"/>
              <a:t>Each and every possible (Ai ,</a:t>
            </a:r>
            <a:r>
              <a:rPr lang="en-US" sz="2000" dirty="0" err="1"/>
              <a:t>Bj</a:t>
            </a:r>
            <a:r>
              <a:rPr lang="en-US" sz="2000" dirty="0"/>
              <a:t>) joint event has its own cell (or slot) in the table. </a:t>
            </a:r>
          </a:p>
        </p:txBody>
      </p:sp>
      <p:sp>
        <p:nvSpPr>
          <p:cNvPr id="4" name="Date Placeholder 3">
            <a:extLst>
              <a:ext uri="{FF2B5EF4-FFF2-40B4-BE49-F238E27FC236}">
                <a16:creationId xmlns:a16="http://schemas.microsoft.com/office/drawing/2014/main" id="{5FEC3105-3D73-447B-81D1-7EFC8325BDCE}"/>
              </a:ext>
            </a:extLst>
          </p:cNvPr>
          <p:cNvSpPr>
            <a:spLocks noGrp="1"/>
          </p:cNvSpPr>
          <p:nvPr>
            <p:ph type="dt" sz="half" idx="10"/>
          </p:nvPr>
        </p:nvSpPr>
        <p:spPr/>
        <p:txBody>
          <a:bodyPr/>
          <a:lstStyle/>
          <a:p>
            <a:fld id="{2B6F97BE-05F1-4E75-97F2-498729D585D8}" type="datetime1">
              <a:rPr lang="en-US" smtClean="0"/>
              <a:t>8/5/2025</a:t>
            </a:fld>
            <a:endParaRPr lang="en-US"/>
          </a:p>
        </p:txBody>
      </p:sp>
      <p:sp>
        <p:nvSpPr>
          <p:cNvPr id="5" name="Slide Number Placeholder 4">
            <a:extLst>
              <a:ext uri="{FF2B5EF4-FFF2-40B4-BE49-F238E27FC236}">
                <a16:creationId xmlns:a16="http://schemas.microsoft.com/office/drawing/2014/main" id="{849FAB7E-9903-4D0E-B6A0-0D0FEFB1EB16}"/>
              </a:ext>
            </a:extLst>
          </p:cNvPr>
          <p:cNvSpPr>
            <a:spLocks noGrp="1"/>
          </p:cNvSpPr>
          <p:nvPr>
            <p:ph type="sldNum" sz="quarter" idx="12"/>
          </p:nvPr>
        </p:nvSpPr>
        <p:spPr/>
        <p:txBody>
          <a:bodyPr/>
          <a:lstStyle/>
          <a:p>
            <a:fld id="{330EA680-D336-4FF7-8B7A-9848BB0A1C32}" type="slidenum">
              <a:rPr lang="en-US" smtClean="0"/>
              <a:t>44</a:t>
            </a:fld>
            <a:endParaRPr lang="en-US"/>
          </a:p>
        </p:txBody>
      </p:sp>
    </p:spTree>
    <p:extLst>
      <p:ext uri="{BB962C8B-B14F-4D97-AF65-F5344CB8AC3E}">
        <p14:creationId xmlns:p14="http://schemas.microsoft.com/office/powerpoint/2010/main" val="33150364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64461-A5C5-4C9D-92CB-38116A30679C}"/>
              </a:ext>
            </a:extLst>
          </p:cNvPr>
          <p:cNvSpPr>
            <a:spLocks noGrp="1"/>
          </p:cNvSpPr>
          <p:nvPr>
            <p:ph type="title"/>
          </p:nvPr>
        </p:nvSpPr>
        <p:spPr>
          <a:xfrm>
            <a:off x="2592925" y="624110"/>
            <a:ext cx="8911687" cy="365125"/>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4E520F12-3EC3-4F37-B81E-A7A5AEB93DBB}"/>
              </a:ext>
            </a:extLst>
          </p:cNvPr>
          <p:cNvSpPr>
            <a:spLocks noGrp="1"/>
          </p:cNvSpPr>
          <p:nvPr>
            <p:ph idx="1"/>
          </p:nvPr>
        </p:nvSpPr>
        <p:spPr>
          <a:xfrm>
            <a:off x="970671" y="1152907"/>
            <a:ext cx="10533941" cy="5141202"/>
          </a:xfrm>
        </p:spPr>
        <p:txBody>
          <a:bodyPr>
            <a:noAutofit/>
          </a:bodyPr>
          <a:lstStyle/>
          <a:p>
            <a:pPr algn="just"/>
            <a:r>
              <a:rPr lang="en-US" sz="2000" dirty="0"/>
              <a:t>The χ 2 value (also known as the Pearson χ 2 statistic) is computed as </a:t>
            </a:r>
          </a:p>
          <a:p>
            <a:pPr algn="just"/>
            <a:endParaRPr lang="en-US" sz="2000" dirty="0"/>
          </a:p>
          <a:p>
            <a:pPr algn="just"/>
            <a:endParaRPr lang="en-US" sz="2000" dirty="0"/>
          </a:p>
          <a:p>
            <a:pPr algn="just"/>
            <a:r>
              <a:rPr lang="en-US" sz="2000" dirty="0"/>
              <a:t>where </a:t>
            </a:r>
            <a:r>
              <a:rPr lang="en-US" sz="2000" dirty="0" err="1"/>
              <a:t>o</a:t>
            </a:r>
            <a:r>
              <a:rPr lang="en-US" sz="2000" baseline="-25000" dirty="0" err="1"/>
              <a:t>ij</a:t>
            </a:r>
            <a:r>
              <a:rPr lang="en-US" sz="2000" dirty="0"/>
              <a:t> is the observed frequency (i.e., actual count) of the joint event (A</a:t>
            </a:r>
            <a:r>
              <a:rPr lang="en-US" sz="2000" baseline="-25000" dirty="0"/>
              <a:t>i</a:t>
            </a:r>
            <a:r>
              <a:rPr lang="en-US" sz="2000" dirty="0"/>
              <a:t> ,</a:t>
            </a:r>
            <a:r>
              <a:rPr lang="en-US" sz="2000" dirty="0" err="1"/>
              <a:t>B</a:t>
            </a:r>
            <a:r>
              <a:rPr lang="en-US" sz="2000" baseline="-25000" dirty="0" err="1"/>
              <a:t>j</a:t>
            </a:r>
            <a:r>
              <a:rPr lang="en-US" sz="2000" dirty="0"/>
              <a:t>) and </a:t>
            </a:r>
            <a:r>
              <a:rPr lang="en-US" sz="2000" dirty="0" err="1"/>
              <a:t>e</a:t>
            </a:r>
            <a:r>
              <a:rPr lang="en-US" sz="2000" baseline="-25000" dirty="0" err="1"/>
              <a:t>ij</a:t>
            </a:r>
            <a:r>
              <a:rPr lang="en-US" sz="2000" dirty="0"/>
              <a:t> is the expected frequency of (A</a:t>
            </a:r>
            <a:r>
              <a:rPr lang="en-US" sz="2000" baseline="-25000" dirty="0"/>
              <a:t>i</a:t>
            </a:r>
            <a:r>
              <a:rPr lang="en-US" sz="2000" dirty="0"/>
              <a:t> ,</a:t>
            </a:r>
            <a:r>
              <a:rPr lang="en-US" sz="2000" dirty="0" err="1"/>
              <a:t>B</a:t>
            </a:r>
            <a:r>
              <a:rPr lang="en-US" sz="2000" baseline="-25000" dirty="0" err="1"/>
              <a:t>j</a:t>
            </a:r>
            <a:r>
              <a:rPr lang="en-US" sz="2000" dirty="0"/>
              <a:t>), which can be computed as </a:t>
            </a:r>
          </a:p>
          <a:p>
            <a:pPr algn="just"/>
            <a:endParaRPr lang="en-US" sz="2000" dirty="0"/>
          </a:p>
          <a:p>
            <a:pPr algn="just"/>
            <a:endParaRPr lang="en-US" sz="2000" dirty="0"/>
          </a:p>
          <a:p>
            <a:pPr algn="just"/>
            <a:r>
              <a:rPr lang="en-US" sz="2000" dirty="0"/>
              <a:t>where n is the number of data tuples, count(A = a</a:t>
            </a:r>
            <a:r>
              <a:rPr lang="en-US" sz="2000" baseline="-25000" dirty="0"/>
              <a:t>i</a:t>
            </a:r>
            <a:r>
              <a:rPr lang="en-US" sz="2000" dirty="0"/>
              <a:t>) is the number of tuples having value a</a:t>
            </a:r>
            <a:r>
              <a:rPr lang="en-US" sz="2000" baseline="-25000" dirty="0"/>
              <a:t>i</a:t>
            </a:r>
            <a:r>
              <a:rPr lang="en-US" sz="2000" dirty="0"/>
              <a:t> for A, and count(B = </a:t>
            </a:r>
            <a:r>
              <a:rPr lang="en-US" sz="2000" dirty="0" err="1"/>
              <a:t>b</a:t>
            </a:r>
            <a:r>
              <a:rPr lang="en-US" sz="2000" baseline="-25000" dirty="0" err="1"/>
              <a:t>j</a:t>
            </a:r>
            <a:r>
              <a:rPr lang="en-US" sz="2000" dirty="0"/>
              <a:t>) is the number of tuples having value </a:t>
            </a:r>
            <a:r>
              <a:rPr lang="en-US" sz="2000" dirty="0" err="1"/>
              <a:t>b</a:t>
            </a:r>
            <a:r>
              <a:rPr lang="en-US" sz="2000" baseline="-25000" dirty="0" err="1"/>
              <a:t>j</a:t>
            </a:r>
            <a:r>
              <a:rPr lang="en-US" sz="2000" dirty="0"/>
              <a:t> for B. </a:t>
            </a:r>
          </a:p>
          <a:p>
            <a:pPr algn="just"/>
            <a:r>
              <a:rPr lang="en-US" sz="2000" dirty="0"/>
              <a:t>The sum in Eq. (3.1) is computed over all of the r × c cells. </a:t>
            </a:r>
          </a:p>
        </p:txBody>
      </p:sp>
      <p:sp>
        <p:nvSpPr>
          <p:cNvPr id="4" name="Date Placeholder 3">
            <a:extLst>
              <a:ext uri="{FF2B5EF4-FFF2-40B4-BE49-F238E27FC236}">
                <a16:creationId xmlns:a16="http://schemas.microsoft.com/office/drawing/2014/main" id="{6EBC30B9-4955-4347-9652-C2B7A75E2775}"/>
              </a:ext>
            </a:extLst>
          </p:cNvPr>
          <p:cNvSpPr>
            <a:spLocks noGrp="1"/>
          </p:cNvSpPr>
          <p:nvPr>
            <p:ph type="dt" sz="half" idx="10"/>
          </p:nvPr>
        </p:nvSpPr>
        <p:spPr/>
        <p:txBody>
          <a:bodyPr/>
          <a:lstStyle/>
          <a:p>
            <a:fld id="{B62C2E3F-325C-4C87-AD1D-460A9A6C295F}" type="datetime1">
              <a:rPr lang="en-US" smtClean="0"/>
              <a:t>8/5/2025</a:t>
            </a:fld>
            <a:endParaRPr lang="en-US"/>
          </a:p>
        </p:txBody>
      </p:sp>
      <p:sp>
        <p:nvSpPr>
          <p:cNvPr id="5" name="Slide Number Placeholder 4">
            <a:extLst>
              <a:ext uri="{FF2B5EF4-FFF2-40B4-BE49-F238E27FC236}">
                <a16:creationId xmlns:a16="http://schemas.microsoft.com/office/drawing/2014/main" id="{105B4BD3-2145-4936-ACF4-6F1DF256C085}"/>
              </a:ext>
            </a:extLst>
          </p:cNvPr>
          <p:cNvSpPr>
            <a:spLocks noGrp="1"/>
          </p:cNvSpPr>
          <p:nvPr>
            <p:ph type="sldNum" sz="quarter" idx="12"/>
          </p:nvPr>
        </p:nvSpPr>
        <p:spPr/>
        <p:txBody>
          <a:bodyPr/>
          <a:lstStyle/>
          <a:p>
            <a:fld id="{330EA680-D336-4FF7-8B7A-9848BB0A1C32}" type="slidenum">
              <a:rPr lang="en-US" smtClean="0"/>
              <a:t>45</a:t>
            </a:fld>
            <a:endParaRPr lang="en-US"/>
          </a:p>
        </p:txBody>
      </p:sp>
      <p:pic>
        <p:nvPicPr>
          <p:cNvPr id="7" name="Picture 6">
            <a:extLst>
              <a:ext uri="{FF2B5EF4-FFF2-40B4-BE49-F238E27FC236}">
                <a16:creationId xmlns:a16="http://schemas.microsoft.com/office/drawing/2014/main" id="{4BBA3CE4-39C3-4889-BC83-BE2F93853FA2}"/>
              </a:ext>
            </a:extLst>
          </p:cNvPr>
          <p:cNvPicPr>
            <a:picLocks noChangeAspect="1"/>
          </p:cNvPicPr>
          <p:nvPr/>
        </p:nvPicPr>
        <p:blipFill>
          <a:blip r:embed="rId2"/>
          <a:stretch>
            <a:fillRect/>
          </a:stretch>
        </p:blipFill>
        <p:spPr>
          <a:xfrm>
            <a:off x="1919066" y="1591321"/>
            <a:ext cx="7013919" cy="637615"/>
          </a:xfrm>
          <a:prstGeom prst="rect">
            <a:avLst/>
          </a:prstGeom>
        </p:spPr>
      </p:pic>
      <p:pic>
        <p:nvPicPr>
          <p:cNvPr id="8" name="Picture 7">
            <a:extLst>
              <a:ext uri="{FF2B5EF4-FFF2-40B4-BE49-F238E27FC236}">
                <a16:creationId xmlns:a16="http://schemas.microsoft.com/office/drawing/2014/main" id="{B73C2BA6-F401-416B-85DE-16AE0794CB10}"/>
              </a:ext>
            </a:extLst>
          </p:cNvPr>
          <p:cNvPicPr>
            <a:picLocks noChangeAspect="1"/>
          </p:cNvPicPr>
          <p:nvPr/>
        </p:nvPicPr>
        <p:blipFill>
          <a:blip r:embed="rId3"/>
          <a:stretch>
            <a:fillRect/>
          </a:stretch>
        </p:blipFill>
        <p:spPr>
          <a:xfrm>
            <a:off x="1919066" y="3324484"/>
            <a:ext cx="7196799" cy="637615"/>
          </a:xfrm>
          <a:prstGeom prst="rect">
            <a:avLst/>
          </a:prstGeom>
        </p:spPr>
      </p:pic>
    </p:spTree>
    <p:extLst>
      <p:ext uri="{BB962C8B-B14F-4D97-AF65-F5344CB8AC3E}">
        <p14:creationId xmlns:p14="http://schemas.microsoft.com/office/powerpoint/2010/main" val="27521026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4C9E9-FDA2-4BFE-A582-A953BE1FE1CB}"/>
              </a:ext>
            </a:extLst>
          </p:cNvPr>
          <p:cNvSpPr>
            <a:spLocks noGrp="1"/>
          </p:cNvSpPr>
          <p:nvPr>
            <p:ph type="title"/>
          </p:nvPr>
        </p:nvSpPr>
        <p:spPr>
          <a:xfrm>
            <a:off x="2592925" y="624110"/>
            <a:ext cx="8911687" cy="365125"/>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F88C9793-0794-46FC-8816-7EC20572BA9B}"/>
              </a:ext>
            </a:extLst>
          </p:cNvPr>
          <p:cNvSpPr>
            <a:spLocks noGrp="1"/>
          </p:cNvSpPr>
          <p:nvPr>
            <p:ph idx="1"/>
          </p:nvPr>
        </p:nvSpPr>
        <p:spPr>
          <a:xfrm>
            <a:off x="1195754" y="1519311"/>
            <a:ext cx="10308858" cy="4391911"/>
          </a:xfrm>
        </p:spPr>
        <p:txBody>
          <a:bodyPr>
            <a:normAutofit/>
          </a:bodyPr>
          <a:lstStyle/>
          <a:p>
            <a:pPr algn="just"/>
            <a:r>
              <a:rPr lang="en-US" sz="2000" dirty="0"/>
              <a:t>The χ 2 statistic tests the hypothesis that A and B are independent, that is, there is no correlation between them. </a:t>
            </a:r>
          </a:p>
          <a:p>
            <a:pPr algn="just"/>
            <a:r>
              <a:rPr lang="en-US" sz="2000" dirty="0"/>
              <a:t>The test is based on a significance level, with (r − 1) × (c − 1) degrees of freedom. </a:t>
            </a:r>
          </a:p>
          <a:p>
            <a:pPr algn="just"/>
            <a:r>
              <a:rPr lang="en-US" sz="2000" dirty="0"/>
              <a:t>We illustrate the use of this statistic in Example in the next slide.</a:t>
            </a:r>
          </a:p>
          <a:p>
            <a:pPr algn="just"/>
            <a:r>
              <a:rPr lang="en-US" sz="2000" dirty="0"/>
              <a:t> If the hypothesis can be rejected, then we say that A and B are statistically correlated.</a:t>
            </a:r>
          </a:p>
        </p:txBody>
      </p:sp>
      <p:sp>
        <p:nvSpPr>
          <p:cNvPr id="4" name="Date Placeholder 3">
            <a:extLst>
              <a:ext uri="{FF2B5EF4-FFF2-40B4-BE49-F238E27FC236}">
                <a16:creationId xmlns:a16="http://schemas.microsoft.com/office/drawing/2014/main" id="{704C01CA-1507-4257-A807-0ED27F4009DA}"/>
              </a:ext>
            </a:extLst>
          </p:cNvPr>
          <p:cNvSpPr>
            <a:spLocks noGrp="1"/>
          </p:cNvSpPr>
          <p:nvPr>
            <p:ph type="dt" sz="half" idx="10"/>
          </p:nvPr>
        </p:nvSpPr>
        <p:spPr/>
        <p:txBody>
          <a:bodyPr/>
          <a:lstStyle/>
          <a:p>
            <a:fld id="{7564A141-A821-4D1F-B3DA-DF5541447125}" type="datetime1">
              <a:rPr lang="en-US" smtClean="0"/>
              <a:t>8/5/2025</a:t>
            </a:fld>
            <a:endParaRPr lang="en-US"/>
          </a:p>
        </p:txBody>
      </p:sp>
      <p:sp>
        <p:nvSpPr>
          <p:cNvPr id="5" name="Slide Number Placeholder 4">
            <a:extLst>
              <a:ext uri="{FF2B5EF4-FFF2-40B4-BE49-F238E27FC236}">
                <a16:creationId xmlns:a16="http://schemas.microsoft.com/office/drawing/2014/main" id="{12012D4B-8900-4E36-A0DE-02B948C85A61}"/>
              </a:ext>
            </a:extLst>
          </p:cNvPr>
          <p:cNvSpPr>
            <a:spLocks noGrp="1"/>
          </p:cNvSpPr>
          <p:nvPr>
            <p:ph type="sldNum" sz="quarter" idx="12"/>
          </p:nvPr>
        </p:nvSpPr>
        <p:spPr/>
        <p:txBody>
          <a:bodyPr/>
          <a:lstStyle/>
          <a:p>
            <a:fld id="{330EA680-D336-4FF7-8B7A-9848BB0A1C32}" type="slidenum">
              <a:rPr lang="en-US" smtClean="0"/>
              <a:t>46</a:t>
            </a:fld>
            <a:endParaRPr lang="en-US"/>
          </a:p>
        </p:txBody>
      </p:sp>
    </p:spTree>
    <p:extLst>
      <p:ext uri="{BB962C8B-B14F-4D97-AF65-F5344CB8AC3E}">
        <p14:creationId xmlns:p14="http://schemas.microsoft.com/office/powerpoint/2010/main" val="242709417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CD85B-2160-4B7E-A70D-465A7F515650}"/>
              </a:ext>
            </a:extLst>
          </p:cNvPr>
          <p:cNvSpPr>
            <a:spLocks noGrp="1"/>
          </p:cNvSpPr>
          <p:nvPr>
            <p:ph type="title"/>
          </p:nvPr>
        </p:nvSpPr>
        <p:spPr>
          <a:xfrm>
            <a:off x="2592925" y="624110"/>
            <a:ext cx="8911687" cy="528797"/>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010DC070-22CD-4382-BE3E-C5E1E88C1C21}"/>
              </a:ext>
            </a:extLst>
          </p:cNvPr>
          <p:cNvSpPr>
            <a:spLocks noGrp="1"/>
          </p:cNvSpPr>
          <p:nvPr>
            <p:ph idx="1"/>
          </p:nvPr>
        </p:nvSpPr>
        <p:spPr>
          <a:xfrm>
            <a:off x="998806" y="1152907"/>
            <a:ext cx="10505806" cy="5347926"/>
          </a:xfrm>
        </p:spPr>
        <p:txBody>
          <a:bodyPr/>
          <a:lstStyle/>
          <a:p>
            <a:pPr algn="just"/>
            <a:r>
              <a:rPr lang="en-US" sz="2000" b="1" dirty="0"/>
              <a:t>Example-  Correlation analysis of nominal attributes using χ 2 . </a:t>
            </a:r>
          </a:p>
          <a:p>
            <a:pPr algn="just"/>
            <a:r>
              <a:rPr lang="en-US" sz="2000" dirty="0"/>
              <a:t>Suppose that a group of 1500 people was surveyed. </a:t>
            </a:r>
          </a:p>
          <a:p>
            <a:pPr algn="just"/>
            <a:r>
              <a:rPr lang="en-US" sz="2000" dirty="0"/>
              <a:t>The gender of each person was noted.</a:t>
            </a:r>
          </a:p>
          <a:p>
            <a:pPr algn="just"/>
            <a:r>
              <a:rPr lang="en-US" sz="2000" dirty="0"/>
              <a:t> Each person was polled as to whether his or her preferred type of reading material was fiction or nonfiction. </a:t>
            </a:r>
          </a:p>
          <a:p>
            <a:pPr algn="just"/>
            <a:r>
              <a:rPr lang="en-US" sz="2000" dirty="0"/>
              <a:t>Thus, we have two attributes, gender and preferred reading. </a:t>
            </a:r>
          </a:p>
          <a:p>
            <a:pPr algn="just"/>
            <a:r>
              <a:rPr lang="en-US" sz="2000" dirty="0"/>
              <a:t>The observed frequency (or count) of each possible joint event is summarized in the contingency table shown below, where the numbers in parentheses are the expected frequencies. </a:t>
            </a:r>
          </a:p>
          <a:p>
            <a:endParaRPr lang="en-US" dirty="0"/>
          </a:p>
        </p:txBody>
      </p:sp>
      <p:sp>
        <p:nvSpPr>
          <p:cNvPr id="4" name="Date Placeholder 3">
            <a:extLst>
              <a:ext uri="{FF2B5EF4-FFF2-40B4-BE49-F238E27FC236}">
                <a16:creationId xmlns:a16="http://schemas.microsoft.com/office/drawing/2014/main" id="{F9A49B7F-A49E-4A8C-9319-6E1373A278EC}"/>
              </a:ext>
            </a:extLst>
          </p:cNvPr>
          <p:cNvSpPr>
            <a:spLocks noGrp="1"/>
          </p:cNvSpPr>
          <p:nvPr>
            <p:ph type="dt" sz="half" idx="10"/>
          </p:nvPr>
        </p:nvSpPr>
        <p:spPr/>
        <p:txBody>
          <a:bodyPr/>
          <a:lstStyle/>
          <a:p>
            <a:fld id="{BDC90D1F-1149-4501-B6CF-6F55752440D3}" type="datetime1">
              <a:rPr lang="en-US" smtClean="0"/>
              <a:t>8/5/2025</a:t>
            </a:fld>
            <a:endParaRPr lang="en-US"/>
          </a:p>
        </p:txBody>
      </p:sp>
      <p:sp>
        <p:nvSpPr>
          <p:cNvPr id="5" name="Slide Number Placeholder 4">
            <a:extLst>
              <a:ext uri="{FF2B5EF4-FFF2-40B4-BE49-F238E27FC236}">
                <a16:creationId xmlns:a16="http://schemas.microsoft.com/office/drawing/2014/main" id="{9702E6A4-0E73-4043-804F-5226482DE613}"/>
              </a:ext>
            </a:extLst>
          </p:cNvPr>
          <p:cNvSpPr>
            <a:spLocks noGrp="1"/>
          </p:cNvSpPr>
          <p:nvPr>
            <p:ph type="sldNum" sz="quarter" idx="12"/>
          </p:nvPr>
        </p:nvSpPr>
        <p:spPr/>
        <p:txBody>
          <a:bodyPr/>
          <a:lstStyle/>
          <a:p>
            <a:fld id="{330EA680-D336-4FF7-8B7A-9848BB0A1C32}" type="slidenum">
              <a:rPr lang="en-US" smtClean="0"/>
              <a:t>47</a:t>
            </a:fld>
            <a:endParaRPr lang="en-US"/>
          </a:p>
        </p:txBody>
      </p:sp>
      <p:pic>
        <p:nvPicPr>
          <p:cNvPr id="7" name="Picture 6">
            <a:extLst>
              <a:ext uri="{FF2B5EF4-FFF2-40B4-BE49-F238E27FC236}">
                <a16:creationId xmlns:a16="http://schemas.microsoft.com/office/drawing/2014/main" id="{DA37E868-3CF5-4AE4-9B46-00061148FAB3}"/>
              </a:ext>
            </a:extLst>
          </p:cNvPr>
          <p:cNvPicPr>
            <a:picLocks noChangeAspect="1"/>
          </p:cNvPicPr>
          <p:nvPr/>
        </p:nvPicPr>
        <p:blipFill>
          <a:blip r:embed="rId2"/>
          <a:stretch>
            <a:fillRect/>
          </a:stretch>
        </p:blipFill>
        <p:spPr>
          <a:xfrm>
            <a:off x="1807882" y="4575841"/>
            <a:ext cx="4990390" cy="1739794"/>
          </a:xfrm>
          <a:prstGeom prst="rect">
            <a:avLst/>
          </a:prstGeom>
        </p:spPr>
      </p:pic>
    </p:spTree>
    <p:extLst>
      <p:ext uri="{BB962C8B-B14F-4D97-AF65-F5344CB8AC3E}">
        <p14:creationId xmlns:p14="http://schemas.microsoft.com/office/powerpoint/2010/main" val="40325467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A28C0-7FFE-498D-8880-FE709CC28618}"/>
              </a:ext>
            </a:extLst>
          </p:cNvPr>
          <p:cNvSpPr>
            <a:spLocks noGrp="1"/>
          </p:cNvSpPr>
          <p:nvPr>
            <p:ph type="title"/>
          </p:nvPr>
        </p:nvSpPr>
        <p:spPr>
          <a:xfrm>
            <a:off x="2592925" y="624110"/>
            <a:ext cx="8911687" cy="365125"/>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F9C01082-D4DE-4EAB-AF77-471614B3DDB4}"/>
              </a:ext>
            </a:extLst>
          </p:cNvPr>
          <p:cNvSpPr>
            <a:spLocks noGrp="1"/>
          </p:cNvSpPr>
          <p:nvPr>
            <p:ph idx="1"/>
          </p:nvPr>
        </p:nvSpPr>
        <p:spPr>
          <a:xfrm>
            <a:off x="1100380" y="1348353"/>
            <a:ext cx="10404232" cy="4562869"/>
          </a:xfrm>
        </p:spPr>
        <p:txBody>
          <a:bodyPr/>
          <a:lstStyle/>
          <a:p>
            <a:pPr algn="just"/>
            <a:r>
              <a:rPr lang="en-US" sz="2000" dirty="0"/>
              <a:t>The expected frequencies are calculated based on the data distribution for both attributes using Eq. (3.2). </a:t>
            </a:r>
          </a:p>
          <a:p>
            <a:pPr algn="just"/>
            <a:r>
              <a:rPr lang="en-US" sz="2000" dirty="0"/>
              <a:t>Using Eq. (3.2), we can verify the expected frequencies for each cell. </a:t>
            </a:r>
          </a:p>
          <a:p>
            <a:pPr algn="just"/>
            <a:r>
              <a:rPr lang="en-US" sz="2000" dirty="0"/>
              <a:t>For example, the expected frequency for the cell (male, fiction) is </a:t>
            </a:r>
          </a:p>
          <a:p>
            <a:pPr algn="just"/>
            <a:endParaRPr lang="en-US" sz="2000" dirty="0"/>
          </a:p>
          <a:p>
            <a:pPr algn="just"/>
            <a:endParaRPr lang="en-US" sz="2000" dirty="0"/>
          </a:p>
          <a:p>
            <a:pPr algn="just"/>
            <a:endParaRPr lang="en-US" sz="2000" dirty="0"/>
          </a:p>
          <a:p>
            <a:pPr algn="just"/>
            <a:r>
              <a:rPr lang="en-US" sz="2000" dirty="0"/>
              <a:t>In any row, the sum of the expected frequencies must equal the total observed frequency for that row, and the sum of the expected frequencies in any column must also equal the total observed frequency for that column.</a:t>
            </a:r>
          </a:p>
          <a:p>
            <a:endParaRPr lang="en-US" dirty="0"/>
          </a:p>
          <a:p>
            <a:endParaRPr lang="en-US" dirty="0"/>
          </a:p>
          <a:p>
            <a:endParaRPr lang="en-US" dirty="0"/>
          </a:p>
          <a:p>
            <a:endParaRPr lang="en-US" dirty="0"/>
          </a:p>
          <a:p>
            <a:endParaRPr lang="en-US" dirty="0"/>
          </a:p>
          <a:p>
            <a:endParaRPr lang="en-US" dirty="0"/>
          </a:p>
        </p:txBody>
      </p:sp>
      <p:sp>
        <p:nvSpPr>
          <p:cNvPr id="4" name="Date Placeholder 3">
            <a:extLst>
              <a:ext uri="{FF2B5EF4-FFF2-40B4-BE49-F238E27FC236}">
                <a16:creationId xmlns:a16="http://schemas.microsoft.com/office/drawing/2014/main" id="{E68E1248-A15F-41CE-BDFE-BBD1B0C123DA}"/>
              </a:ext>
            </a:extLst>
          </p:cNvPr>
          <p:cNvSpPr>
            <a:spLocks noGrp="1"/>
          </p:cNvSpPr>
          <p:nvPr>
            <p:ph type="dt" sz="half" idx="10"/>
          </p:nvPr>
        </p:nvSpPr>
        <p:spPr/>
        <p:txBody>
          <a:bodyPr/>
          <a:lstStyle/>
          <a:p>
            <a:fld id="{19B724B8-462D-434D-905B-FF0CC6152513}" type="datetime1">
              <a:rPr lang="en-US" smtClean="0"/>
              <a:t>8/5/2025</a:t>
            </a:fld>
            <a:endParaRPr lang="en-US"/>
          </a:p>
        </p:txBody>
      </p:sp>
      <p:sp>
        <p:nvSpPr>
          <p:cNvPr id="5" name="Slide Number Placeholder 4">
            <a:extLst>
              <a:ext uri="{FF2B5EF4-FFF2-40B4-BE49-F238E27FC236}">
                <a16:creationId xmlns:a16="http://schemas.microsoft.com/office/drawing/2014/main" id="{4C1F4E2B-CE5A-4714-8C5F-10EA1024F2C1}"/>
              </a:ext>
            </a:extLst>
          </p:cNvPr>
          <p:cNvSpPr>
            <a:spLocks noGrp="1"/>
          </p:cNvSpPr>
          <p:nvPr>
            <p:ph type="sldNum" sz="quarter" idx="12"/>
          </p:nvPr>
        </p:nvSpPr>
        <p:spPr/>
        <p:txBody>
          <a:bodyPr/>
          <a:lstStyle/>
          <a:p>
            <a:fld id="{330EA680-D336-4FF7-8B7A-9848BB0A1C32}" type="slidenum">
              <a:rPr lang="en-US" smtClean="0"/>
              <a:t>48</a:t>
            </a:fld>
            <a:endParaRPr lang="en-US"/>
          </a:p>
        </p:txBody>
      </p:sp>
      <p:pic>
        <p:nvPicPr>
          <p:cNvPr id="6" name="Picture 5">
            <a:extLst>
              <a:ext uri="{FF2B5EF4-FFF2-40B4-BE49-F238E27FC236}">
                <a16:creationId xmlns:a16="http://schemas.microsoft.com/office/drawing/2014/main" id="{FA1FFEF6-4AB2-4EB2-A10F-47E7BCCB13DD}"/>
              </a:ext>
            </a:extLst>
          </p:cNvPr>
          <p:cNvPicPr>
            <a:picLocks noChangeAspect="1"/>
          </p:cNvPicPr>
          <p:nvPr/>
        </p:nvPicPr>
        <p:blipFill>
          <a:blip r:embed="rId2"/>
          <a:stretch>
            <a:fillRect/>
          </a:stretch>
        </p:blipFill>
        <p:spPr>
          <a:xfrm>
            <a:off x="2199032" y="3200879"/>
            <a:ext cx="5590180" cy="857816"/>
          </a:xfrm>
          <a:prstGeom prst="rect">
            <a:avLst/>
          </a:prstGeom>
        </p:spPr>
      </p:pic>
    </p:spTree>
    <p:extLst>
      <p:ext uri="{BB962C8B-B14F-4D97-AF65-F5344CB8AC3E}">
        <p14:creationId xmlns:p14="http://schemas.microsoft.com/office/powerpoint/2010/main" val="20038473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48815-26A4-400E-AD14-78629F033C2D}"/>
              </a:ext>
            </a:extLst>
          </p:cNvPr>
          <p:cNvSpPr>
            <a:spLocks noGrp="1"/>
          </p:cNvSpPr>
          <p:nvPr>
            <p:ph type="title"/>
          </p:nvPr>
        </p:nvSpPr>
        <p:spPr>
          <a:xfrm>
            <a:off x="2592925" y="624110"/>
            <a:ext cx="8911687" cy="322668"/>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0D9B8A7C-2649-4A79-B2D4-7BD078EEF4D6}"/>
              </a:ext>
            </a:extLst>
          </p:cNvPr>
          <p:cNvSpPr>
            <a:spLocks noGrp="1"/>
          </p:cNvSpPr>
          <p:nvPr>
            <p:ph idx="1"/>
          </p:nvPr>
        </p:nvSpPr>
        <p:spPr>
          <a:xfrm>
            <a:off x="956602" y="1336431"/>
            <a:ext cx="10548009" cy="4897459"/>
          </a:xfrm>
        </p:spPr>
        <p:txBody>
          <a:bodyPr/>
          <a:lstStyle/>
          <a:p>
            <a:endParaRPr lang="en-US" dirty="0"/>
          </a:p>
          <a:p>
            <a:endParaRPr lang="en-US" dirty="0"/>
          </a:p>
          <a:p>
            <a:endParaRPr lang="en-US" dirty="0"/>
          </a:p>
          <a:p>
            <a:endParaRPr lang="en-US" dirty="0"/>
          </a:p>
          <a:p>
            <a:pPr algn="just"/>
            <a:r>
              <a:rPr lang="en-US" sz="2000" dirty="0"/>
              <a:t>For this 2 × 2 table, the degrees of freedom are (2 − 1)(2 − 1) = 1. </a:t>
            </a:r>
          </a:p>
          <a:p>
            <a:pPr algn="just"/>
            <a:r>
              <a:rPr lang="en-US" sz="2000" dirty="0"/>
              <a:t>For 1 degree of freedom, the χ 2 value needed to reject the hypothesis at the 0.001 significance level is 10.828 (taken from the table of upper percentage points of the χ 2 distribution, typically available from any textbook on statistics).</a:t>
            </a:r>
          </a:p>
          <a:p>
            <a:pPr algn="just"/>
            <a:r>
              <a:rPr lang="en-US" sz="2000" dirty="0"/>
              <a:t> Since our computed value is above this, we can reject the hypothesis that gender and preferred reading are independent and conclude that the two attributes are (strongly) correlated for the given group of people.</a:t>
            </a:r>
          </a:p>
        </p:txBody>
      </p:sp>
      <p:sp>
        <p:nvSpPr>
          <p:cNvPr id="4" name="Date Placeholder 3">
            <a:extLst>
              <a:ext uri="{FF2B5EF4-FFF2-40B4-BE49-F238E27FC236}">
                <a16:creationId xmlns:a16="http://schemas.microsoft.com/office/drawing/2014/main" id="{8BEEB2AB-3172-4E70-9F0B-555BB3A6E10E}"/>
              </a:ext>
            </a:extLst>
          </p:cNvPr>
          <p:cNvSpPr>
            <a:spLocks noGrp="1"/>
          </p:cNvSpPr>
          <p:nvPr>
            <p:ph type="dt" sz="half" idx="10"/>
          </p:nvPr>
        </p:nvSpPr>
        <p:spPr/>
        <p:txBody>
          <a:bodyPr/>
          <a:lstStyle/>
          <a:p>
            <a:fld id="{0921D2B2-C13F-4FD2-849C-A74BA93033E8}" type="datetime1">
              <a:rPr lang="en-US" smtClean="0"/>
              <a:t>8/5/2025</a:t>
            </a:fld>
            <a:endParaRPr lang="en-US"/>
          </a:p>
        </p:txBody>
      </p:sp>
      <p:sp>
        <p:nvSpPr>
          <p:cNvPr id="5" name="Slide Number Placeholder 4">
            <a:extLst>
              <a:ext uri="{FF2B5EF4-FFF2-40B4-BE49-F238E27FC236}">
                <a16:creationId xmlns:a16="http://schemas.microsoft.com/office/drawing/2014/main" id="{9535950B-DD28-49E7-9A72-69260C613168}"/>
              </a:ext>
            </a:extLst>
          </p:cNvPr>
          <p:cNvSpPr>
            <a:spLocks noGrp="1"/>
          </p:cNvSpPr>
          <p:nvPr>
            <p:ph type="sldNum" sz="quarter" idx="12"/>
          </p:nvPr>
        </p:nvSpPr>
        <p:spPr/>
        <p:txBody>
          <a:bodyPr/>
          <a:lstStyle/>
          <a:p>
            <a:fld id="{330EA680-D336-4FF7-8B7A-9848BB0A1C32}" type="slidenum">
              <a:rPr lang="en-US" smtClean="0"/>
              <a:t>49</a:t>
            </a:fld>
            <a:endParaRPr lang="en-US"/>
          </a:p>
        </p:txBody>
      </p:sp>
      <p:pic>
        <p:nvPicPr>
          <p:cNvPr id="6" name="Content Placeholder 5">
            <a:extLst>
              <a:ext uri="{FF2B5EF4-FFF2-40B4-BE49-F238E27FC236}">
                <a16:creationId xmlns:a16="http://schemas.microsoft.com/office/drawing/2014/main" id="{D0FA96A7-7D9B-48FD-96E2-679B196DC3E4}"/>
              </a:ext>
            </a:extLst>
          </p:cNvPr>
          <p:cNvPicPr>
            <a:picLocks noChangeAspect="1"/>
          </p:cNvPicPr>
          <p:nvPr/>
        </p:nvPicPr>
        <p:blipFill>
          <a:blip r:embed="rId2"/>
          <a:stretch>
            <a:fillRect/>
          </a:stretch>
        </p:blipFill>
        <p:spPr>
          <a:xfrm>
            <a:off x="1311578" y="1542560"/>
            <a:ext cx="7708435" cy="1293630"/>
          </a:xfrm>
          <a:prstGeom prst="rect">
            <a:avLst/>
          </a:prstGeom>
        </p:spPr>
      </p:pic>
    </p:spTree>
    <p:extLst>
      <p:ext uri="{BB962C8B-B14F-4D97-AF65-F5344CB8AC3E}">
        <p14:creationId xmlns:p14="http://schemas.microsoft.com/office/powerpoint/2010/main" val="30068947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47970-2078-47FE-B953-67EC18CCCA23}"/>
              </a:ext>
            </a:extLst>
          </p:cNvPr>
          <p:cNvSpPr>
            <a:spLocks noGrp="1"/>
          </p:cNvSpPr>
          <p:nvPr>
            <p:ph type="title"/>
          </p:nvPr>
        </p:nvSpPr>
        <p:spPr>
          <a:xfrm>
            <a:off x="2592925" y="624110"/>
            <a:ext cx="8911687" cy="322668"/>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B792B95B-1E91-4BC2-B1F0-8A46114AD58F}"/>
              </a:ext>
            </a:extLst>
          </p:cNvPr>
          <p:cNvSpPr>
            <a:spLocks noGrp="1"/>
          </p:cNvSpPr>
          <p:nvPr>
            <p:ph idx="1"/>
          </p:nvPr>
        </p:nvSpPr>
        <p:spPr>
          <a:xfrm>
            <a:off x="1311579" y="1266092"/>
            <a:ext cx="10193033" cy="5070474"/>
          </a:xfrm>
        </p:spPr>
        <p:txBody>
          <a:bodyPr>
            <a:normAutofit/>
          </a:bodyPr>
          <a:lstStyle/>
          <a:p>
            <a:pPr algn="just"/>
            <a:r>
              <a:rPr lang="en-US" sz="2000" b="1" dirty="0"/>
              <a:t>Correlation Coefficient for Numeric Data </a:t>
            </a:r>
          </a:p>
          <a:p>
            <a:pPr algn="just"/>
            <a:r>
              <a:rPr lang="en-US" sz="2000" dirty="0"/>
              <a:t>For numeric attributes, we can evaluate the correlation between two attributes, A and B, by computing the correlation coefficient (also known as Pearson’s product moment coefficient, named after its </a:t>
            </a:r>
            <a:r>
              <a:rPr lang="en-US" sz="2000" dirty="0" err="1"/>
              <a:t>inventer</a:t>
            </a:r>
            <a:r>
              <a:rPr lang="en-US" sz="2000" dirty="0"/>
              <a:t>, Karl Pearson). </a:t>
            </a:r>
          </a:p>
          <a:p>
            <a:pPr algn="just"/>
            <a:r>
              <a:rPr lang="en-US" sz="2000" dirty="0"/>
              <a:t>This is</a:t>
            </a:r>
          </a:p>
          <a:p>
            <a:pPr algn="just"/>
            <a:endParaRPr lang="en-US" sz="2000" dirty="0"/>
          </a:p>
          <a:p>
            <a:pPr algn="just"/>
            <a:endParaRPr lang="en-US" sz="2000" dirty="0"/>
          </a:p>
          <a:p>
            <a:pPr algn="just"/>
            <a:r>
              <a:rPr lang="en-US" sz="2000" dirty="0"/>
              <a:t>where n is the number of tuples, ai and bi are the respective values of A and B in tuple </a:t>
            </a:r>
            <a:r>
              <a:rPr lang="en-US" sz="2000" dirty="0" err="1"/>
              <a:t>i</a:t>
            </a:r>
            <a:r>
              <a:rPr lang="en-US" sz="2000" dirty="0"/>
              <a:t>, A¯ and B¯ are the respective mean values of A and B, </a:t>
            </a:r>
            <a:r>
              <a:rPr lang="en-US" sz="2000" dirty="0" err="1"/>
              <a:t>σ</a:t>
            </a:r>
            <a:r>
              <a:rPr lang="en-US" sz="2000" baseline="-25000" dirty="0" err="1"/>
              <a:t>A</a:t>
            </a:r>
            <a:r>
              <a:rPr lang="en-US" sz="2000" dirty="0"/>
              <a:t> and </a:t>
            </a:r>
            <a:r>
              <a:rPr lang="en-US" sz="2000" dirty="0" err="1"/>
              <a:t>σ</a:t>
            </a:r>
            <a:r>
              <a:rPr lang="en-US" sz="2000" baseline="-25000" dirty="0" err="1"/>
              <a:t>B</a:t>
            </a:r>
            <a:r>
              <a:rPr lang="en-US" sz="2000" dirty="0"/>
              <a:t> are the respective standard deviations of A and B , and ∑(</a:t>
            </a:r>
            <a:r>
              <a:rPr lang="en-US" sz="2000" dirty="0" err="1"/>
              <a:t>a</a:t>
            </a:r>
            <a:r>
              <a:rPr lang="en-US" sz="2000" baseline="-25000" dirty="0" err="1"/>
              <a:t>i</a:t>
            </a:r>
            <a:r>
              <a:rPr lang="en-US" sz="2000" dirty="0" err="1"/>
              <a:t>b</a:t>
            </a:r>
            <a:r>
              <a:rPr lang="en-US" sz="2000" baseline="-25000" dirty="0" err="1"/>
              <a:t>i</a:t>
            </a:r>
            <a:r>
              <a:rPr lang="en-US" sz="2000" dirty="0"/>
              <a:t>) is the sum of the AB cross-product (i.e., for each tuple, the value for A is multiplied by the value for B in that tuple). </a:t>
            </a:r>
          </a:p>
          <a:p>
            <a:pPr algn="just"/>
            <a:r>
              <a:rPr lang="en-US" sz="2000" dirty="0"/>
              <a:t>Note that −1 ≤ </a:t>
            </a:r>
            <a:r>
              <a:rPr lang="en-US" sz="2000" dirty="0" err="1"/>
              <a:t>r</a:t>
            </a:r>
            <a:r>
              <a:rPr lang="en-US" sz="2000" baseline="-25000" dirty="0" err="1"/>
              <a:t>A,B</a:t>
            </a:r>
            <a:r>
              <a:rPr lang="en-US" sz="2000" dirty="0"/>
              <a:t> ≤ +1.</a:t>
            </a:r>
          </a:p>
        </p:txBody>
      </p:sp>
      <p:sp>
        <p:nvSpPr>
          <p:cNvPr id="4" name="Date Placeholder 3">
            <a:extLst>
              <a:ext uri="{FF2B5EF4-FFF2-40B4-BE49-F238E27FC236}">
                <a16:creationId xmlns:a16="http://schemas.microsoft.com/office/drawing/2014/main" id="{1629340D-1A76-43CB-83BE-228D36DA3DE7}"/>
              </a:ext>
            </a:extLst>
          </p:cNvPr>
          <p:cNvSpPr>
            <a:spLocks noGrp="1"/>
          </p:cNvSpPr>
          <p:nvPr>
            <p:ph type="dt" sz="half" idx="10"/>
          </p:nvPr>
        </p:nvSpPr>
        <p:spPr/>
        <p:txBody>
          <a:bodyPr/>
          <a:lstStyle/>
          <a:p>
            <a:fld id="{9CA3EA0F-94F6-4B11-AA32-03FE9CDFD90E}" type="datetime1">
              <a:rPr lang="en-US" smtClean="0"/>
              <a:t>8/5/2025</a:t>
            </a:fld>
            <a:endParaRPr lang="en-US"/>
          </a:p>
        </p:txBody>
      </p:sp>
      <p:sp>
        <p:nvSpPr>
          <p:cNvPr id="5" name="Slide Number Placeholder 4">
            <a:extLst>
              <a:ext uri="{FF2B5EF4-FFF2-40B4-BE49-F238E27FC236}">
                <a16:creationId xmlns:a16="http://schemas.microsoft.com/office/drawing/2014/main" id="{03131039-D991-459C-9E73-272DA1FE1214}"/>
              </a:ext>
            </a:extLst>
          </p:cNvPr>
          <p:cNvSpPr>
            <a:spLocks noGrp="1"/>
          </p:cNvSpPr>
          <p:nvPr>
            <p:ph type="sldNum" sz="quarter" idx="12"/>
          </p:nvPr>
        </p:nvSpPr>
        <p:spPr/>
        <p:txBody>
          <a:bodyPr/>
          <a:lstStyle/>
          <a:p>
            <a:fld id="{330EA680-D336-4FF7-8B7A-9848BB0A1C32}" type="slidenum">
              <a:rPr lang="en-US" smtClean="0"/>
              <a:t>50</a:t>
            </a:fld>
            <a:endParaRPr lang="en-US"/>
          </a:p>
        </p:txBody>
      </p:sp>
      <p:pic>
        <p:nvPicPr>
          <p:cNvPr id="6" name="Picture 5">
            <a:extLst>
              <a:ext uri="{FF2B5EF4-FFF2-40B4-BE49-F238E27FC236}">
                <a16:creationId xmlns:a16="http://schemas.microsoft.com/office/drawing/2014/main" id="{246C09CB-7C49-4F96-811F-3606128E1791}"/>
              </a:ext>
            </a:extLst>
          </p:cNvPr>
          <p:cNvPicPr>
            <a:picLocks noChangeAspect="1"/>
          </p:cNvPicPr>
          <p:nvPr/>
        </p:nvPicPr>
        <p:blipFill>
          <a:blip r:embed="rId2"/>
          <a:stretch>
            <a:fillRect/>
          </a:stretch>
        </p:blipFill>
        <p:spPr>
          <a:xfrm>
            <a:off x="2334063" y="3106004"/>
            <a:ext cx="7147561" cy="748544"/>
          </a:xfrm>
          <a:prstGeom prst="rect">
            <a:avLst/>
          </a:prstGeom>
        </p:spPr>
      </p:pic>
    </p:spTree>
    <p:extLst>
      <p:ext uri="{BB962C8B-B14F-4D97-AF65-F5344CB8AC3E}">
        <p14:creationId xmlns:p14="http://schemas.microsoft.com/office/powerpoint/2010/main" val="10424096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A9CB2-B184-417E-9C6F-E140E1DFAAE4}"/>
              </a:ext>
            </a:extLst>
          </p:cNvPr>
          <p:cNvSpPr>
            <a:spLocks noGrp="1"/>
          </p:cNvSpPr>
          <p:nvPr>
            <p:ph type="title"/>
          </p:nvPr>
        </p:nvSpPr>
        <p:spPr>
          <a:xfrm>
            <a:off x="2592925" y="624110"/>
            <a:ext cx="8911687" cy="365125"/>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2C17265A-7925-4418-9BF2-35A02402B119}"/>
              </a:ext>
            </a:extLst>
          </p:cNvPr>
          <p:cNvSpPr>
            <a:spLocks noGrp="1"/>
          </p:cNvSpPr>
          <p:nvPr>
            <p:ph idx="1"/>
          </p:nvPr>
        </p:nvSpPr>
        <p:spPr>
          <a:xfrm>
            <a:off x="1041009" y="1252025"/>
            <a:ext cx="10463603" cy="4659197"/>
          </a:xfrm>
        </p:spPr>
        <p:txBody>
          <a:bodyPr>
            <a:normAutofit lnSpcReduction="10000"/>
          </a:bodyPr>
          <a:lstStyle/>
          <a:p>
            <a:pPr algn="just"/>
            <a:r>
              <a:rPr lang="en-US" sz="2000" dirty="0"/>
              <a:t>If </a:t>
            </a:r>
            <a:r>
              <a:rPr lang="en-US" sz="2000" dirty="0" err="1"/>
              <a:t>r</a:t>
            </a:r>
            <a:r>
              <a:rPr lang="en-US" sz="2000" baseline="-25000" dirty="0" err="1"/>
              <a:t>A,B</a:t>
            </a:r>
            <a:r>
              <a:rPr lang="en-US" sz="2000" dirty="0"/>
              <a:t> is greater than 0, then A and B are positively correlated, meaning that the values of A increase as the values of B increase.</a:t>
            </a:r>
          </a:p>
          <a:p>
            <a:pPr algn="just"/>
            <a:r>
              <a:rPr lang="en-US" sz="2000" dirty="0"/>
              <a:t> The higher the value, the stronger the correlation (i.e., the more each attribute implies the other). </a:t>
            </a:r>
          </a:p>
          <a:p>
            <a:pPr algn="just"/>
            <a:r>
              <a:rPr lang="en-US" sz="2000" dirty="0"/>
              <a:t>Hence, a higher value may indicate that A (or B) may be removed as a redundancy.</a:t>
            </a:r>
          </a:p>
          <a:p>
            <a:pPr algn="just"/>
            <a:r>
              <a:rPr lang="en-US" sz="2000" dirty="0"/>
              <a:t>If the resulting value is equal to 0, then A and B are independent and there is no correlation between them. </a:t>
            </a:r>
          </a:p>
          <a:p>
            <a:pPr algn="just"/>
            <a:r>
              <a:rPr lang="en-US" sz="2000" dirty="0"/>
              <a:t>If the resulting value is less than 0, then A and B are negatively correlated, where the values of one attribute increase as the values of the other attribute decrease. </a:t>
            </a:r>
          </a:p>
          <a:p>
            <a:pPr algn="just"/>
            <a:r>
              <a:rPr lang="en-US" sz="2000" dirty="0"/>
              <a:t>This means that each attribute discourages the other. </a:t>
            </a:r>
          </a:p>
          <a:p>
            <a:pPr algn="just"/>
            <a:r>
              <a:rPr lang="en-US" sz="2000" dirty="0"/>
              <a:t>Scatter plots can also be used to view correlations between attributes.</a:t>
            </a:r>
          </a:p>
        </p:txBody>
      </p:sp>
      <p:sp>
        <p:nvSpPr>
          <p:cNvPr id="4" name="Date Placeholder 3">
            <a:extLst>
              <a:ext uri="{FF2B5EF4-FFF2-40B4-BE49-F238E27FC236}">
                <a16:creationId xmlns:a16="http://schemas.microsoft.com/office/drawing/2014/main" id="{8F194B9F-A661-4BFB-ABD5-5818363619D7}"/>
              </a:ext>
            </a:extLst>
          </p:cNvPr>
          <p:cNvSpPr>
            <a:spLocks noGrp="1"/>
          </p:cNvSpPr>
          <p:nvPr>
            <p:ph type="dt" sz="half" idx="10"/>
          </p:nvPr>
        </p:nvSpPr>
        <p:spPr/>
        <p:txBody>
          <a:bodyPr/>
          <a:lstStyle/>
          <a:p>
            <a:fld id="{7EA34646-4A31-4F31-9460-2347BFD5FC84}" type="datetime1">
              <a:rPr lang="en-US" smtClean="0"/>
              <a:t>8/5/2025</a:t>
            </a:fld>
            <a:endParaRPr lang="en-US"/>
          </a:p>
        </p:txBody>
      </p:sp>
      <p:sp>
        <p:nvSpPr>
          <p:cNvPr id="5" name="Slide Number Placeholder 4">
            <a:extLst>
              <a:ext uri="{FF2B5EF4-FFF2-40B4-BE49-F238E27FC236}">
                <a16:creationId xmlns:a16="http://schemas.microsoft.com/office/drawing/2014/main" id="{36AD4BE5-DE02-49C6-87F0-DC8AE76C34DD}"/>
              </a:ext>
            </a:extLst>
          </p:cNvPr>
          <p:cNvSpPr>
            <a:spLocks noGrp="1"/>
          </p:cNvSpPr>
          <p:nvPr>
            <p:ph type="sldNum" sz="quarter" idx="12"/>
          </p:nvPr>
        </p:nvSpPr>
        <p:spPr/>
        <p:txBody>
          <a:bodyPr/>
          <a:lstStyle/>
          <a:p>
            <a:fld id="{330EA680-D336-4FF7-8B7A-9848BB0A1C32}" type="slidenum">
              <a:rPr lang="en-US" smtClean="0"/>
              <a:t>51</a:t>
            </a:fld>
            <a:endParaRPr lang="en-US"/>
          </a:p>
        </p:txBody>
      </p:sp>
    </p:spTree>
    <p:extLst>
      <p:ext uri="{BB962C8B-B14F-4D97-AF65-F5344CB8AC3E}">
        <p14:creationId xmlns:p14="http://schemas.microsoft.com/office/powerpoint/2010/main" val="417959945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A87DA-C26B-4F6C-8084-BEBD69FACAD5}"/>
              </a:ext>
            </a:extLst>
          </p:cNvPr>
          <p:cNvSpPr>
            <a:spLocks noGrp="1"/>
          </p:cNvSpPr>
          <p:nvPr>
            <p:ph type="title"/>
          </p:nvPr>
        </p:nvSpPr>
        <p:spPr>
          <a:xfrm>
            <a:off x="2592925" y="624110"/>
            <a:ext cx="8911687" cy="365125"/>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0C1D51FB-1A6B-407B-B255-3AB97767C2E1}"/>
              </a:ext>
            </a:extLst>
          </p:cNvPr>
          <p:cNvSpPr>
            <a:spLocks noGrp="1"/>
          </p:cNvSpPr>
          <p:nvPr>
            <p:ph idx="1"/>
          </p:nvPr>
        </p:nvSpPr>
        <p:spPr>
          <a:xfrm>
            <a:off x="1560145" y="1308295"/>
            <a:ext cx="10193033" cy="4602927"/>
          </a:xfrm>
        </p:spPr>
        <p:txBody>
          <a:bodyPr>
            <a:normAutofit/>
          </a:bodyPr>
          <a:lstStyle/>
          <a:p>
            <a:pPr algn="just"/>
            <a:r>
              <a:rPr lang="en-US" sz="2000" b="1" dirty="0"/>
              <a:t>Covariance of Numeric Data </a:t>
            </a:r>
          </a:p>
          <a:p>
            <a:pPr algn="just"/>
            <a:r>
              <a:rPr lang="en-US" sz="2000" dirty="0"/>
              <a:t>In probability theory and statistics, correlation and covariance are two similar measures for assessing how much two attributes change together. </a:t>
            </a:r>
          </a:p>
          <a:p>
            <a:pPr algn="just"/>
            <a:r>
              <a:rPr lang="en-US" sz="2000" dirty="0"/>
              <a:t>Consider two numeric attributes A and B, and a set of n observations {(a1,b1),...,(</a:t>
            </a:r>
            <a:r>
              <a:rPr lang="en-US" sz="2000" dirty="0" err="1"/>
              <a:t>an,bn</a:t>
            </a:r>
            <a:r>
              <a:rPr lang="en-US" sz="2000" dirty="0"/>
              <a:t>)}. </a:t>
            </a:r>
          </a:p>
          <a:p>
            <a:pPr algn="just"/>
            <a:r>
              <a:rPr lang="en-US" sz="2000" dirty="0"/>
              <a:t>The mean values of A and B, respectively, are also known as the expected values on A and B, that is,</a:t>
            </a:r>
          </a:p>
          <a:p>
            <a:endParaRPr lang="en-US" sz="2000" dirty="0"/>
          </a:p>
        </p:txBody>
      </p:sp>
      <p:sp>
        <p:nvSpPr>
          <p:cNvPr id="4" name="Date Placeholder 3">
            <a:extLst>
              <a:ext uri="{FF2B5EF4-FFF2-40B4-BE49-F238E27FC236}">
                <a16:creationId xmlns:a16="http://schemas.microsoft.com/office/drawing/2014/main" id="{98413D40-16C4-4930-92F7-BEC0828A836B}"/>
              </a:ext>
            </a:extLst>
          </p:cNvPr>
          <p:cNvSpPr>
            <a:spLocks noGrp="1"/>
          </p:cNvSpPr>
          <p:nvPr>
            <p:ph type="dt" sz="half" idx="10"/>
          </p:nvPr>
        </p:nvSpPr>
        <p:spPr/>
        <p:txBody>
          <a:bodyPr/>
          <a:lstStyle/>
          <a:p>
            <a:fld id="{A5035A3F-B064-447F-B005-CB0D42C5042F}" type="datetime1">
              <a:rPr lang="en-US" smtClean="0"/>
              <a:t>8/5/2025</a:t>
            </a:fld>
            <a:endParaRPr lang="en-US"/>
          </a:p>
        </p:txBody>
      </p:sp>
      <p:sp>
        <p:nvSpPr>
          <p:cNvPr id="5" name="Slide Number Placeholder 4">
            <a:extLst>
              <a:ext uri="{FF2B5EF4-FFF2-40B4-BE49-F238E27FC236}">
                <a16:creationId xmlns:a16="http://schemas.microsoft.com/office/drawing/2014/main" id="{04555680-C664-44E4-8EA0-36E44C9FB3E3}"/>
              </a:ext>
            </a:extLst>
          </p:cNvPr>
          <p:cNvSpPr>
            <a:spLocks noGrp="1"/>
          </p:cNvSpPr>
          <p:nvPr>
            <p:ph type="sldNum" sz="quarter" idx="12"/>
          </p:nvPr>
        </p:nvSpPr>
        <p:spPr/>
        <p:txBody>
          <a:bodyPr/>
          <a:lstStyle/>
          <a:p>
            <a:fld id="{330EA680-D336-4FF7-8B7A-9848BB0A1C32}" type="slidenum">
              <a:rPr lang="en-US" smtClean="0"/>
              <a:t>52</a:t>
            </a:fld>
            <a:endParaRPr lang="en-US"/>
          </a:p>
        </p:txBody>
      </p:sp>
      <p:pic>
        <p:nvPicPr>
          <p:cNvPr id="6" name="Picture 5">
            <a:extLst>
              <a:ext uri="{FF2B5EF4-FFF2-40B4-BE49-F238E27FC236}">
                <a16:creationId xmlns:a16="http://schemas.microsoft.com/office/drawing/2014/main" id="{E37C3A99-8A05-4C1E-91D5-51047497DB1E}"/>
              </a:ext>
            </a:extLst>
          </p:cNvPr>
          <p:cNvPicPr>
            <a:picLocks noChangeAspect="1"/>
          </p:cNvPicPr>
          <p:nvPr/>
        </p:nvPicPr>
        <p:blipFill>
          <a:blip r:embed="rId2"/>
          <a:stretch>
            <a:fillRect/>
          </a:stretch>
        </p:blipFill>
        <p:spPr>
          <a:xfrm>
            <a:off x="1782304" y="4222481"/>
            <a:ext cx="8059119" cy="1327224"/>
          </a:xfrm>
          <a:prstGeom prst="rect">
            <a:avLst/>
          </a:prstGeom>
        </p:spPr>
      </p:pic>
    </p:spTree>
    <p:extLst>
      <p:ext uri="{BB962C8B-B14F-4D97-AF65-F5344CB8AC3E}">
        <p14:creationId xmlns:p14="http://schemas.microsoft.com/office/powerpoint/2010/main" val="37661890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9AC2A-16CE-4F80-B116-98594E474AB6}"/>
              </a:ext>
            </a:extLst>
          </p:cNvPr>
          <p:cNvSpPr>
            <a:spLocks noGrp="1"/>
          </p:cNvSpPr>
          <p:nvPr>
            <p:ph type="title"/>
          </p:nvPr>
        </p:nvSpPr>
        <p:spPr>
          <a:xfrm>
            <a:off x="2592925" y="624110"/>
            <a:ext cx="8911687" cy="315789"/>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DB3366D0-7A51-40EA-8F47-AD0A0C69238E}"/>
              </a:ext>
            </a:extLst>
          </p:cNvPr>
          <p:cNvSpPr>
            <a:spLocks noGrp="1"/>
          </p:cNvSpPr>
          <p:nvPr>
            <p:ph idx="1"/>
          </p:nvPr>
        </p:nvSpPr>
        <p:spPr>
          <a:xfrm>
            <a:off x="1100380" y="1201120"/>
            <a:ext cx="10404232" cy="5299713"/>
          </a:xfrm>
        </p:spPr>
        <p:txBody>
          <a:bodyPr>
            <a:normAutofit lnSpcReduction="10000"/>
          </a:bodyPr>
          <a:lstStyle/>
          <a:p>
            <a:pPr algn="just"/>
            <a:r>
              <a:rPr lang="en-US" sz="2000" dirty="0"/>
              <a:t>The covariance between A and B is defined as</a:t>
            </a:r>
          </a:p>
          <a:p>
            <a:pPr algn="just"/>
            <a:endParaRPr lang="en-US" sz="2000" dirty="0"/>
          </a:p>
          <a:p>
            <a:pPr algn="just"/>
            <a:endParaRPr lang="en-US" sz="2000" dirty="0"/>
          </a:p>
          <a:p>
            <a:pPr algn="just"/>
            <a:endParaRPr lang="en-US" sz="2000" dirty="0"/>
          </a:p>
          <a:p>
            <a:pPr algn="just"/>
            <a:r>
              <a:rPr lang="en-US" sz="2000" dirty="0"/>
              <a:t>If we compare Eq. (3.3) for </a:t>
            </a:r>
            <a:r>
              <a:rPr lang="en-US" sz="2000" dirty="0" err="1"/>
              <a:t>r</a:t>
            </a:r>
            <a:r>
              <a:rPr lang="en-US" sz="2000" baseline="-25000" dirty="0" err="1"/>
              <a:t>A,B</a:t>
            </a:r>
            <a:r>
              <a:rPr lang="en-US" sz="2000" dirty="0"/>
              <a:t> (correlation coefficient) with Eq. (3.4) for covariance, we see that</a:t>
            </a:r>
          </a:p>
          <a:p>
            <a:pPr algn="just"/>
            <a:endParaRPr lang="en-US" sz="2000" dirty="0"/>
          </a:p>
          <a:p>
            <a:pPr algn="just"/>
            <a:endParaRPr lang="en-US" sz="2000" dirty="0"/>
          </a:p>
          <a:p>
            <a:pPr algn="just"/>
            <a:r>
              <a:rPr lang="en-US" sz="2000" dirty="0"/>
              <a:t>where </a:t>
            </a:r>
            <a:r>
              <a:rPr lang="en-US" sz="2000" dirty="0" err="1"/>
              <a:t>σ</a:t>
            </a:r>
            <a:r>
              <a:rPr lang="en-US" sz="2000" baseline="-25000" dirty="0" err="1"/>
              <a:t>A</a:t>
            </a:r>
            <a:r>
              <a:rPr lang="en-US" sz="2000" dirty="0"/>
              <a:t> and </a:t>
            </a:r>
            <a:r>
              <a:rPr lang="en-US" sz="2000" dirty="0" err="1"/>
              <a:t>σ</a:t>
            </a:r>
            <a:r>
              <a:rPr lang="en-US" sz="2000" baseline="-25000" dirty="0" err="1"/>
              <a:t>B</a:t>
            </a:r>
            <a:r>
              <a:rPr lang="en-US" sz="2000" dirty="0"/>
              <a:t> are the standard deviations of A and B, respectively. It can also be shown that</a:t>
            </a:r>
          </a:p>
          <a:p>
            <a:pPr algn="just"/>
            <a:endParaRPr lang="en-US" sz="2000" dirty="0"/>
          </a:p>
          <a:p>
            <a:pPr algn="just"/>
            <a:endParaRPr lang="en-US" sz="2000" dirty="0"/>
          </a:p>
          <a:p>
            <a:pPr algn="just"/>
            <a:r>
              <a:rPr lang="en-US" sz="2000" dirty="0"/>
              <a:t>This equation may simplify calculations.</a:t>
            </a:r>
          </a:p>
          <a:p>
            <a:endParaRPr lang="en-US" dirty="0"/>
          </a:p>
        </p:txBody>
      </p:sp>
      <p:sp>
        <p:nvSpPr>
          <p:cNvPr id="4" name="Date Placeholder 3">
            <a:extLst>
              <a:ext uri="{FF2B5EF4-FFF2-40B4-BE49-F238E27FC236}">
                <a16:creationId xmlns:a16="http://schemas.microsoft.com/office/drawing/2014/main" id="{F08167CA-81D9-4950-B8EF-31AEDAE6A052}"/>
              </a:ext>
            </a:extLst>
          </p:cNvPr>
          <p:cNvSpPr>
            <a:spLocks noGrp="1"/>
          </p:cNvSpPr>
          <p:nvPr>
            <p:ph type="dt" sz="half" idx="10"/>
          </p:nvPr>
        </p:nvSpPr>
        <p:spPr/>
        <p:txBody>
          <a:bodyPr/>
          <a:lstStyle/>
          <a:p>
            <a:fld id="{D6AE551E-4A6A-468C-B052-60FF225E4F3B}" type="datetime1">
              <a:rPr lang="en-US" smtClean="0"/>
              <a:t>8/5/2025</a:t>
            </a:fld>
            <a:endParaRPr lang="en-US"/>
          </a:p>
        </p:txBody>
      </p:sp>
      <p:sp>
        <p:nvSpPr>
          <p:cNvPr id="5" name="Slide Number Placeholder 4">
            <a:extLst>
              <a:ext uri="{FF2B5EF4-FFF2-40B4-BE49-F238E27FC236}">
                <a16:creationId xmlns:a16="http://schemas.microsoft.com/office/drawing/2014/main" id="{2630F437-E202-42B6-B1B4-AAAD6167DDEF}"/>
              </a:ext>
            </a:extLst>
          </p:cNvPr>
          <p:cNvSpPr>
            <a:spLocks noGrp="1"/>
          </p:cNvSpPr>
          <p:nvPr>
            <p:ph type="sldNum" sz="quarter" idx="12"/>
          </p:nvPr>
        </p:nvSpPr>
        <p:spPr/>
        <p:txBody>
          <a:bodyPr/>
          <a:lstStyle/>
          <a:p>
            <a:fld id="{330EA680-D336-4FF7-8B7A-9848BB0A1C32}" type="slidenum">
              <a:rPr lang="en-US" smtClean="0"/>
              <a:t>53</a:t>
            </a:fld>
            <a:endParaRPr lang="en-US"/>
          </a:p>
        </p:txBody>
      </p:sp>
      <p:pic>
        <p:nvPicPr>
          <p:cNvPr id="6" name="Picture 5">
            <a:extLst>
              <a:ext uri="{FF2B5EF4-FFF2-40B4-BE49-F238E27FC236}">
                <a16:creationId xmlns:a16="http://schemas.microsoft.com/office/drawing/2014/main" id="{4088FED6-ADF4-4298-9269-A5DD9D34ED05}"/>
              </a:ext>
            </a:extLst>
          </p:cNvPr>
          <p:cNvPicPr>
            <a:picLocks noChangeAspect="1"/>
          </p:cNvPicPr>
          <p:nvPr/>
        </p:nvPicPr>
        <p:blipFill>
          <a:blip r:embed="rId2"/>
          <a:stretch>
            <a:fillRect/>
          </a:stretch>
        </p:blipFill>
        <p:spPr>
          <a:xfrm>
            <a:off x="2162175" y="1701143"/>
            <a:ext cx="6299900" cy="768377"/>
          </a:xfrm>
          <a:prstGeom prst="rect">
            <a:avLst/>
          </a:prstGeom>
        </p:spPr>
      </p:pic>
      <p:pic>
        <p:nvPicPr>
          <p:cNvPr id="7" name="Picture 6">
            <a:extLst>
              <a:ext uri="{FF2B5EF4-FFF2-40B4-BE49-F238E27FC236}">
                <a16:creationId xmlns:a16="http://schemas.microsoft.com/office/drawing/2014/main" id="{E8DFD77F-9FB4-46F6-9078-D196397BF4CA}"/>
              </a:ext>
            </a:extLst>
          </p:cNvPr>
          <p:cNvPicPr>
            <a:picLocks noChangeAspect="1"/>
          </p:cNvPicPr>
          <p:nvPr/>
        </p:nvPicPr>
        <p:blipFill>
          <a:blip r:embed="rId3"/>
          <a:stretch>
            <a:fillRect/>
          </a:stretch>
        </p:blipFill>
        <p:spPr>
          <a:xfrm>
            <a:off x="2856330" y="3377421"/>
            <a:ext cx="4911590" cy="768377"/>
          </a:xfrm>
          <a:prstGeom prst="rect">
            <a:avLst/>
          </a:prstGeom>
        </p:spPr>
      </p:pic>
      <p:pic>
        <p:nvPicPr>
          <p:cNvPr id="8" name="Picture 7">
            <a:extLst>
              <a:ext uri="{FF2B5EF4-FFF2-40B4-BE49-F238E27FC236}">
                <a16:creationId xmlns:a16="http://schemas.microsoft.com/office/drawing/2014/main" id="{00DDA79E-E3DD-446A-9598-C878327E56F1}"/>
              </a:ext>
            </a:extLst>
          </p:cNvPr>
          <p:cNvPicPr>
            <a:picLocks noChangeAspect="1"/>
          </p:cNvPicPr>
          <p:nvPr/>
        </p:nvPicPr>
        <p:blipFill>
          <a:blip r:embed="rId4"/>
          <a:stretch>
            <a:fillRect/>
          </a:stretch>
        </p:blipFill>
        <p:spPr>
          <a:xfrm>
            <a:off x="2162175" y="5053699"/>
            <a:ext cx="5199520" cy="463657"/>
          </a:xfrm>
          <a:prstGeom prst="rect">
            <a:avLst/>
          </a:prstGeom>
        </p:spPr>
      </p:pic>
    </p:spTree>
    <p:extLst>
      <p:ext uri="{BB962C8B-B14F-4D97-AF65-F5344CB8AC3E}">
        <p14:creationId xmlns:p14="http://schemas.microsoft.com/office/powerpoint/2010/main" val="31803113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812D0-FB20-488F-9955-99C99ED68052}"/>
              </a:ext>
            </a:extLst>
          </p:cNvPr>
          <p:cNvSpPr>
            <a:spLocks noGrp="1"/>
          </p:cNvSpPr>
          <p:nvPr>
            <p:ph type="title"/>
          </p:nvPr>
        </p:nvSpPr>
        <p:spPr>
          <a:xfrm>
            <a:off x="2592925" y="624110"/>
            <a:ext cx="8911687" cy="365125"/>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CA28DFC3-9F53-417E-A376-4F05272AC1C5}"/>
              </a:ext>
            </a:extLst>
          </p:cNvPr>
          <p:cNvSpPr>
            <a:spLocks noGrp="1"/>
          </p:cNvSpPr>
          <p:nvPr>
            <p:ph idx="1"/>
          </p:nvPr>
        </p:nvSpPr>
        <p:spPr>
          <a:xfrm>
            <a:off x="1311579" y="989235"/>
            <a:ext cx="10193033" cy="5511598"/>
          </a:xfrm>
        </p:spPr>
        <p:txBody>
          <a:bodyPr>
            <a:noAutofit/>
          </a:bodyPr>
          <a:lstStyle/>
          <a:p>
            <a:r>
              <a:rPr lang="en-US" sz="2000" dirty="0"/>
              <a:t>For two attributes A and B that tend to change together, if A is larger than A¯ (the expected value of A), then B is likely to be larger than B¯ (the expected value of B).</a:t>
            </a:r>
          </a:p>
          <a:p>
            <a:r>
              <a:rPr lang="en-US" sz="2000" dirty="0"/>
              <a:t> Therefore, the covariance between A and B is positive. </a:t>
            </a:r>
          </a:p>
          <a:p>
            <a:r>
              <a:rPr lang="en-US" sz="2000" dirty="0"/>
              <a:t>On the other hand, if one of the attributes tends to be above its expected value when the other attribute is below its expected value, then the covariance of A and B is negative.</a:t>
            </a:r>
          </a:p>
          <a:p>
            <a:r>
              <a:rPr lang="en-US" sz="2000" dirty="0"/>
              <a:t> If A and B are independent (i.e., they do not have correlation), then E(A · B) = E(A)· E(B). </a:t>
            </a:r>
          </a:p>
          <a:p>
            <a:r>
              <a:rPr lang="en-US" sz="2000" dirty="0"/>
              <a:t>Therefore, the covariance is </a:t>
            </a:r>
            <a:r>
              <a:rPr lang="en-US" sz="2000" dirty="0" err="1"/>
              <a:t>Cov</a:t>
            </a:r>
            <a:r>
              <a:rPr lang="en-US" sz="2000" dirty="0"/>
              <a:t>(A,B) = E(A · B) − A¯ B¯ = E(A)· E(B) − A¯ B¯ = 0.</a:t>
            </a:r>
          </a:p>
          <a:p>
            <a:r>
              <a:rPr lang="en-US" sz="2000" dirty="0"/>
              <a:t> However, the converse is not true. </a:t>
            </a:r>
          </a:p>
          <a:p>
            <a:r>
              <a:rPr lang="en-US" sz="2000" dirty="0"/>
              <a:t>Some pairs of random variables (attributes) may have a covariance of 0 but are not independent. </a:t>
            </a:r>
          </a:p>
          <a:p>
            <a:r>
              <a:rPr lang="en-US" sz="2000" dirty="0"/>
              <a:t>Only under some additional assumptions (e.g., the data follow multivariate normal distributions) does a covariance of 0 imply independence.</a:t>
            </a:r>
          </a:p>
        </p:txBody>
      </p:sp>
      <p:sp>
        <p:nvSpPr>
          <p:cNvPr id="4" name="Date Placeholder 3">
            <a:extLst>
              <a:ext uri="{FF2B5EF4-FFF2-40B4-BE49-F238E27FC236}">
                <a16:creationId xmlns:a16="http://schemas.microsoft.com/office/drawing/2014/main" id="{EA20B8E9-E4EB-4F61-8396-36BB5DE11E7D}"/>
              </a:ext>
            </a:extLst>
          </p:cNvPr>
          <p:cNvSpPr>
            <a:spLocks noGrp="1"/>
          </p:cNvSpPr>
          <p:nvPr>
            <p:ph type="dt" sz="half" idx="10"/>
          </p:nvPr>
        </p:nvSpPr>
        <p:spPr/>
        <p:txBody>
          <a:bodyPr/>
          <a:lstStyle/>
          <a:p>
            <a:fld id="{128ED48D-C109-48FE-8C0A-D63A3BC19922}" type="datetime1">
              <a:rPr lang="en-US" smtClean="0"/>
              <a:t>8/5/2025</a:t>
            </a:fld>
            <a:endParaRPr lang="en-US"/>
          </a:p>
        </p:txBody>
      </p:sp>
      <p:sp>
        <p:nvSpPr>
          <p:cNvPr id="5" name="Slide Number Placeholder 4">
            <a:extLst>
              <a:ext uri="{FF2B5EF4-FFF2-40B4-BE49-F238E27FC236}">
                <a16:creationId xmlns:a16="http://schemas.microsoft.com/office/drawing/2014/main" id="{AA47EC5C-5F7A-4B78-AE0C-4ABC1CFFB508}"/>
              </a:ext>
            </a:extLst>
          </p:cNvPr>
          <p:cNvSpPr>
            <a:spLocks noGrp="1"/>
          </p:cNvSpPr>
          <p:nvPr>
            <p:ph type="sldNum" sz="quarter" idx="12"/>
          </p:nvPr>
        </p:nvSpPr>
        <p:spPr/>
        <p:txBody>
          <a:bodyPr/>
          <a:lstStyle/>
          <a:p>
            <a:fld id="{330EA680-D336-4FF7-8B7A-9848BB0A1C32}" type="slidenum">
              <a:rPr lang="en-US" smtClean="0"/>
              <a:t>54</a:t>
            </a:fld>
            <a:endParaRPr lang="en-US"/>
          </a:p>
        </p:txBody>
      </p:sp>
    </p:spTree>
    <p:extLst>
      <p:ext uri="{BB962C8B-B14F-4D97-AF65-F5344CB8AC3E}">
        <p14:creationId xmlns:p14="http://schemas.microsoft.com/office/powerpoint/2010/main" val="225671579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98C75-50F8-4028-8708-56E8053C6EDC}"/>
              </a:ext>
            </a:extLst>
          </p:cNvPr>
          <p:cNvSpPr>
            <a:spLocks noGrp="1"/>
          </p:cNvSpPr>
          <p:nvPr>
            <p:ph type="title"/>
          </p:nvPr>
        </p:nvSpPr>
        <p:spPr>
          <a:xfrm>
            <a:off x="2592925" y="624110"/>
            <a:ext cx="8911687" cy="528797"/>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4F618BC3-AB61-4451-8C97-95671A9E8A3B}"/>
              </a:ext>
            </a:extLst>
          </p:cNvPr>
          <p:cNvSpPr>
            <a:spLocks noGrp="1"/>
          </p:cNvSpPr>
          <p:nvPr>
            <p:ph idx="1"/>
          </p:nvPr>
        </p:nvSpPr>
        <p:spPr>
          <a:xfrm>
            <a:off x="1195754" y="1350498"/>
            <a:ext cx="10308858" cy="4560724"/>
          </a:xfrm>
        </p:spPr>
        <p:txBody>
          <a:bodyPr/>
          <a:lstStyle/>
          <a:p>
            <a:r>
              <a:rPr lang="en-US" sz="2000" b="1" dirty="0"/>
              <a:t>Example - Covariance analysis of numeric attributes. </a:t>
            </a:r>
          </a:p>
          <a:p>
            <a:r>
              <a:rPr lang="en-US" sz="2000" dirty="0"/>
              <a:t>Consider Table below, which presents a simplified example of stock prices observed at five time points for </a:t>
            </a:r>
            <a:r>
              <a:rPr lang="en-US" sz="2000" dirty="0" err="1"/>
              <a:t>AllElectronics</a:t>
            </a:r>
            <a:r>
              <a:rPr lang="en-US" sz="2000" dirty="0"/>
              <a:t> and </a:t>
            </a:r>
            <a:r>
              <a:rPr lang="en-US" sz="2000" dirty="0" err="1"/>
              <a:t>HighTech</a:t>
            </a:r>
            <a:r>
              <a:rPr lang="en-US" sz="2000" dirty="0"/>
              <a:t>, a high-tech company.</a:t>
            </a:r>
          </a:p>
          <a:p>
            <a:endParaRPr lang="en-US" sz="2000" dirty="0"/>
          </a:p>
          <a:p>
            <a:endParaRPr lang="en-US" sz="2000" dirty="0"/>
          </a:p>
          <a:p>
            <a:endParaRPr lang="en-US" sz="2000" dirty="0"/>
          </a:p>
          <a:p>
            <a:endParaRPr lang="en-US" sz="2000" dirty="0"/>
          </a:p>
          <a:p>
            <a:endParaRPr lang="en-US" sz="2000" dirty="0"/>
          </a:p>
          <a:p>
            <a:r>
              <a:rPr lang="en-US" sz="2000" dirty="0"/>
              <a:t> If the stocks are affected by the same industry trends, will their prices rise or fall together?</a:t>
            </a:r>
          </a:p>
        </p:txBody>
      </p:sp>
      <p:sp>
        <p:nvSpPr>
          <p:cNvPr id="4" name="Date Placeholder 3">
            <a:extLst>
              <a:ext uri="{FF2B5EF4-FFF2-40B4-BE49-F238E27FC236}">
                <a16:creationId xmlns:a16="http://schemas.microsoft.com/office/drawing/2014/main" id="{9F6EFA28-77A3-478E-8DDB-EEB96FCDA158}"/>
              </a:ext>
            </a:extLst>
          </p:cNvPr>
          <p:cNvSpPr>
            <a:spLocks noGrp="1"/>
          </p:cNvSpPr>
          <p:nvPr>
            <p:ph type="dt" sz="half" idx="10"/>
          </p:nvPr>
        </p:nvSpPr>
        <p:spPr/>
        <p:txBody>
          <a:bodyPr/>
          <a:lstStyle/>
          <a:p>
            <a:fld id="{46D8F270-E612-4FFE-87DA-6442080FC4E9}" type="datetime1">
              <a:rPr lang="en-US" smtClean="0"/>
              <a:t>8/5/2025</a:t>
            </a:fld>
            <a:endParaRPr lang="en-US"/>
          </a:p>
        </p:txBody>
      </p:sp>
      <p:sp>
        <p:nvSpPr>
          <p:cNvPr id="5" name="Slide Number Placeholder 4">
            <a:extLst>
              <a:ext uri="{FF2B5EF4-FFF2-40B4-BE49-F238E27FC236}">
                <a16:creationId xmlns:a16="http://schemas.microsoft.com/office/drawing/2014/main" id="{964F43C7-E382-4F19-ABDA-49991631DAB4}"/>
              </a:ext>
            </a:extLst>
          </p:cNvPr>
          <p:cNvSpPr>
            <a:spLocks noGrp="1"/>
          </p:cNvSpPr>
          <p:nvPr>
            <p:ph type="sldNum" sz="quarter" idx="12"/>
          </p:nvPr>
        </p:nvSpPr>
        <p:spPr/>
        <p:txBody>
          <a:bodyPr/>
          <a:lstStyle/>
          <a:p>
            <a:fld id="{330EA680-D336-4FF7-8B7A-9848BB0A1C32}" type="slidenum">
              <a:rPr lang="en-US" smtClean="0"/>
              <a:t>55</a:t>
            </a:fld>
            <a:endParaRPr lang="en-US"/>
          </a:p>
        </p:txBody>
      </p:sp>
      <p:pic>
        <p:nvPicPr>
          <p:cNvPr id="6" name="Picture 5">
            <a:extLst>
              <a:ext uri="{FF2B5EF4-FFF2-40B4-BE49-F238E27FC236}">
                <a16:creationId xmlns:a16="http://schemas.microsoft.com/office/drawing/2014/main" id="{F3EFBA1F-CB7F-478D-BB68-1D6B373B844A}"/>
              </a:ext>
            </a:extLst>
          </p:cNvPr>
          <p:cNvPicPr>
            <a:picLocks noChangeAspect="1"/>
          </p:cNvPicPr>
          <p:nvPr/>
        </p:nvPicPr>
        <p:blipFill>
          <a:blip r:embed="rId2"/>
          <a:stretch>
            <a:fillRect/>
          </a:stretch>
        </p:blipFill>
        <p:spPr>
          <a:xfrm>
            <a:off x="2291434" y="2894297"/>
            <a:ext cx="5009698" cy="1957388"/>
          </a:xfrm>
          <a:prstGeom prst="rect">
            <a:avLst/>
          </a:prstGeom>
        </p:spPr>
      </p:pic>
    </p:spTree>
    <p:extLst>
      <p:ext uri="{BB962C8B-B14F-4D97-AF65-F5344CB8AC3E}">
        <p14:creationId xmlns:p14="http://schemas.microsoft.com/office/powerpoint/2010/main" val="406665272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338CA-8522-4C2A-823F-A46903AA09AE}"/>
              </a:ext>
            </a:extLst>
          </p:cNvPr>
          <p:cNvSpPr>
            <a:spLocks noGrp="1"/>
          </p:cNvSpPr>
          <p:nvPr>
            <p:ph type="title"/>
          </p:nvPr>
        </p:nvSpPr>
        <p:spPr>
          <a:xfrm>
            <a:off x="2592925" y="624110"/>
            <a:ext cx="8911687" cy="528797"/>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BE623869-35AA-40D4-9DBB-7C7E29DBAC9A}"/>
              </a:ext>
            </a:extLst>
          </p:cNvPr>
          <p:cNvSpPr>
            <a:spLocks noGrp="1"/>
          </p:cNvSpPr>
          <p:nvPr>
            <p:ph idx="1"/>
          </p:nvPr>
        </p:nvSpPr>
        <p:spPr>
          <a:xfrm>
            <a:off x="960895" y="1286359"/>
            <a:ext cx="10543717" cy="4844078"/>
          </a:xfrm>
        </p:spPr>
        <p:txBody>
          <a:bodyPr>
            <a:norm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algn="just"/>
            <a:r>
              <a:rPr lang="en-US" sz="2000" dirty="0"/>
              <a:t>Therefore, given the positive covariance we can say that stock prices for both companies rise together.</a:t>
            </a:r>
          </a:p>
        </p:txBody>
      </p:sp>
      <p:sp>
        <p:nvSpPr>
          <p:cNvPr id="4" name="Date Placeholder 3">
            <a:extLst>
              <a:ext uri="{FF2B5EF4-FFF2-40B4-BE49-F238E27FC236}">
                <a16:creationId xmlns:a16="http://schemas.microsoft.com/office/drawing/2014/main" id="{53B22CD4-2B37-4313-9DC5-5900367D99D5}"/>
              </a:ext>
            </a:extLst>
          </p:cNvPr>
          <p:cNvSpPr>
            <a:spLocks noGrp="1"/>
          </p:cNvSpPr>
          <p:nvPr>
            <p:ph type="dt" sz="half" idx="10"/>
          </p:nvPr>
        </p:nvSpPr>
        <p:spPr/>
        <p:txBody>
          <a:bodyPr/>
          <a:lstStyle/>
          <a:p>
            <a:fld id="{1E873D01-3136-4CD6-8FA5-31BA401BF99E}" type="datetime1">
              <a:rPr lang="en-US" smtClean="0"/>
              <a:t>8/5/2025</a:t>
            </a:fld>
            <a:endParaRPr lang="en-US"/>
          </a:p>
        </p:txBody>
      </p:sp>
      <p:sp>
        <p:nvSpPr>
          <p:cNvPr id="5" name="Slide Number Placeholder 4">
            <a:extLst>
              <a:ext uri="{FF2B5EF4-FFF2-40B4-BE49-F238E27FC236}">
                <a16:creationId xmlns:a16="http://schemas.microsoft.com/office/drawing/2014/main" id="{0C660EDC-4D65-457D-955F-5A6EC6DF8BE4}"/>
              </a:ext>
            </a:extLst>
          </p:cNvPr>
          <p:cNvSpPr>
            <a:spLocks noGrp="1"/>
          </p:cNvSpPr>
          <p:nvPr>
            <p:ph type="sldNum" sz="quarter" idx="12"/>
          </p:nvPr>
        </p:nvSpPr>
        <p:spPr/>
        <p:txBody>
          <a:bodyPr/>
          <a:lstStyle/>
          <a:p>
            <a:fld id="{330EA680-D336-4FF7-8B7A-9848BB0A1C32}" type="slidenum">
              <a:rPr lang="en-US" smtClean="0"/>
              <a:t>56</a:t>
            </a:fld>
            <a:endParaRPr lang="en-US"/>
          </a:p>
        </p:txBody>
      </p:sp>
      <p:pic>
        <p:nvPicPr>
          <p:cNvPr id="6" name="Picture 5">
            <a:extLst>
              <a:ext uri="{FF2B5EF4-FFF2-40B4-BE49-F238E27FC236}">
                <a16:creationId xmlns:a16="http://schemas.microsoft.com/office/drawing/2014/main" id="{93E4050C-7A96-4B6B-B8D5-EAA2AD336DDB}"/>
              </a:ext>
            </a:extLst>
          </p:cNvPr>
          <p:cNvPicPr>
            <a:picLocks noChangeAspect="1"/>
          </p:cNvPicPr>
          <p:nvPr/>
        </p:nvPicPr>
        <p:blipFill>
          <a:blip r:embed="rId2"/>
          <a:stretch>
            <a:fillRect/>
          </a:stretch>
        </p:blipFill>
        <p:spPr>
          <a:xfrm>
            <a:off x="1139483" y="1581149"/>
            <a:ext cx="9762979" cy="2820369"/>
          </a:xfrm>
          <a:prstGeom prst="rect">
            <a:avLst/>
          </a:prstGeom>
        </p:spPr>
      </p:pic>
    </p:spTree>
    <p:extLst>
      <p:ext uri="{BB962C8B-B14F-4D97-AF65-F5344CB8AC3E}">
        <p14:creationId xmlns:p14="http://schemas.microsoft.com/office/powerpoint/2010/main" val="111425659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44222-8807-44D0-8381-761AD9AF95C5}"/>
              </a:ext>
            </a:extLst>
          </p:cNvPr>
          <p:cNvSpPr>
            <a:spLocks noGrp="1"/>
          </p:cNvSpPr>
          <p:nvPr>
            <p:ph type="title"/>
          </p:nvPr>
        </p:nvSpPr>
        <p:spPr>
          <a:xfrm>
            <a:off x="2592925" y="624110"/>
            <a:ext cx="8911687" cy="322668"/>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4ED7F19D-DCA9-41AE-9196-E9B929A252D0}"/>
              </a:ext>
            </a:extLst>
          </p:cNvPr>
          <p:cNvSpPr>
            <a:spLocks noGrp="1"/>
          </p:cNvSpPr>
          <p:nvPr>
            <p:ph idx="1"/>
          </p:nvPr>
        </p:nvSpPr>
        <p:spPr>
          <a:xfrm>
            <a:off x="801858" y="1322363"/>
            <a:ext cx="10702754" cy="4588859"/>
          </a:xfrm>
        </p:spPr>
        <p:txBody>
          <a:bodyPr/>
          <a:lstStyle/>
          <a:p>
            <a:pPr algn="just"/>
            <a:r>
              <a:rPr lang="en-US" sz="2000" b="1" dirty="0"/>
              <a:t>Tuple Duplication</a:t>
            </a:r>
          </a:p>
          <a:p>
            <a:pPr algn="just"/>
            <a:r>
              <a:rPr lang="en-US" sz="2000" dirty="0"/>
              <a:t>In addition to detecting redundancies between attributes, duplication should also be detected at the tuple level (e.g., where there are two or more identical tuples for a given unique data entry case).</a:t>
            </a:r>
          </a:p>
          <a:p>
            <a:pPr algn="just"/>
            <a:r>
              <a:rPr lang="en-US" sz="2000" dirty="0"/>
              <a:t>The use of denormalized tables (often done to improve performance by avoiding joins) is another source of data redundancy.</a:t>
            </a:r>
          </a:p>
          <a:p>
            <a:pPr algn="just"/>
            <a:r>
              <a:rPr lang="en-US" sz="2000" dirty="0"/>
              <a:t>Inconsistencies often arise between various duplicates, due to inaccurate data entry or updating some but not all data occurrences. </a:t>
            </a:r>
          </a:p>
          <a:p>
            <a:pPr algn="just"/>
            <a:r>
              <a:rPr lang="en-US" sz="2000" dirty="0"/>
              <a:t>For example, if a purchase order database contains attributes for the purchaser’s name and address instead of a key to this information in a purchaser database, discrepancies can occur, such as the same purchaser’s name appearing with different addresses within the purchase order database.</a:t>
            </a:r>
          </a:p>
        </p:txBody>
      </p:sp>
      <p:sp>
        <p:nvSpPr>
          <p:cNvPr id="4" name="Date Placeholder 3">
            <a:extLst>
              <a:ext uri="{FF2B5EF4-FFF2-40B4-BE49-F238E27FC236}">
                <a16:creationId xmlns:a16="http://schemas.microsoft.com/office/drawing/2014/main" id="{CB0C954C-94E8-4740-BC12-E28B35F14D94}"/>
              </a:ext>
            </a:extLst>
          </p:cNvPr>
          <p:cNvSpPr>
            <a:spLocks noGrp="1"/>
          </p:cNvSpPr>
          <p:nvPr>
            <p:ph type="dt" sz="half" idx="10"/>
          </p:nvPr>
        </p:nvSpPr>
        <p:spPr/>
        <p:txBody>
          <a:bodyPr/>
          <a:lstStyle/>
          <a:p>
            <a:fld id="{12D986E3-F8AB-4F02-977B-02E128BEE81D}" type="datetime1">
              <a:rPr lang="en-US" smtClean="0"/>
              <a:t>8/5/2025</a:t>
            </a:fld>
            <a:endParaRPr lang="en-US"/>
          </a:p>
        </p:txBody>
      </p:sp>
      <p:sp>
        <p:nvSpPr>
          <p:cNvPr id="5" name="Slide Number Placeholder 4">
            <a:extLst>
              <a:ext uri="{FF2B5EF4-FFF2-40B4-BE49-F238E27FC236}">
                <a16:creationId xmlns:a16="http://schemas.microsoft.com/office/drawing/2014/main" id="{8F0F2230-45F3-4A2D-8F1B-50B58F18C652}"/>
              </a:ext>
            </a:extLst>
          </p:cNvPr>
          <p:cNvSpPr>
            <a:spLocks noGrp="1"/>
          </p:cNvSpPr>
          <p:nvPr>
            <p:ph type="sldNum" sz="quarter" idx="12"/>
          </p:nvPr>
        </p:nvSpPr>
        <p:spPr/>
        <p:txBody>
          <a:bodyPr/>
          <a:lstStyle/>
          <a:p>
            <a:fld id="{330EA680-D336-4FF7-8B7A-9848BB0A1C32}" type="slidenum">
              <a:rPr lang="en-US" smtClean="0"/>
              <a:t>57</a:t>
            </a:fld>
            <a:endParaRPr lang="en-US"/>
          </a:p>
        </p:txBody>
      </p:sp>
    </p:spTree>
    <p:extLst>
      <p:ext uri="{BB962C8B-B14F-4D97-AF65-F5344CB8AC3E}">
        <p14:creationId xmlns:p14="http://schemas.microsoft.com/office/powerpoint/2010/main" val="81088908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05BF5-8CE0-468E-A19D-968169C8B6A0}"/>
              </a:ext>
            </a:extLst>
          </p:cNvPr>
          <p:cNvSpPr>
            <a:spLocks noGrp="1"/>
          </p:cNvSpPr>
          <p:nvPr>
            <p:ph type="title"/>
          </p:nvPr>
        </p:nvSpPr>
        <p:spPr>
          <a:xfrm>
            <a:off x="2592925" y="624110"/>
            <a:ext cx="8911687" cy="365125"/>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BD9BA793-131E-4C3A-B5A1-E9ABDBD2CFE3}"/>
              </a:ext>
            </a:extLst>
          </p:cNvPr>
          <p:cNvSpPr>
            <a:spLocks noGrp="1"/>
          </p:cNvSpPr>
          <p:nvPr>
            <p:ph idx="1"/>
          </p:nvPr>
        </p:nvSpPr>
        <p:spPr>
          <a:xfrm>
            <a:off x="886265" y="1336431"/>
            <a:ext cx="10618347" cy="4574791"/>
          </a:xfrm>
        </p:spPr>
        <p:txBody>
          <a:bodyPr>
            <a:normAutofit/>
          </a:bodyPr>
          <a:lstStyle/>
          <a:p>
            <a:pPr algn="just"/>
            <a:r>
              <a:rPr lang="en-US" sz="2000" b="1" dirty="0"/>
              <a:t>Data Value Conflict Detection and Resolution </a:t>
            </a:r>
          </a:p>
          <a:p>
            <a:pPr algn="just"/>
            <a:r>
              <a:rPr lang="en-US" sz="2000" dirty="0"/>
              <a:t>Data integration also involves the detection and resolution of data value conflicts. </a:t>
            </a:r>
          </a:p>
          <a:p>
            <a:pPr algn="just"/>
            <a:r>
              <a:rPr lang="en-US" sz="2000" dirty="0"/>
              <a:t>For example, for the same real-world entity, attribute values from different sources may differ. </a:t>
            </a:r>
          </a:p>
          <a:p>
            <a:pPr algn="just"/>
            <a:r>
              <a:rPr lang="en-US" sz="2000" dirty="0"/>
              <a:t>This may be due to differences in representation, scaling, or encoding. </a:t>
            </a:r>
          </a:p>
          <a:p>
            <a:pPr algn="just"/>
            <a:r>
              <a:rPr lang="en-US" sz="2000" dirty="0"/>
              <a:t>For instance, a weight attribute may be stored in metric units in one system and British imperial units in another.</a:t>
            </a:r>
          </a:p>
          <a:p>
            <a:pPr algn="just"/>
            <a:r>
              <a:rPr lang="en-US" sz="2000" dirty="0"/>
              <a:t>For a hotel chain, the price of rooms in different cities may involve not only different currencies but also different services (e.g., free breakfast) and taxes. </a:t>
            </a:r>
          </a:p>
          <a:p>
            <a:pPr algn="just"/>
            <a:r>
              <a:rPr lang="en-US" sz="2000" dirty="0"/>
              <a:t>When exchanging information between schools, for example, each school may have its own curriculum and grading scheme. </a:t>
            </a:r>
          </a:p>
        </p:txBody>
      </p:sp>
      <p:sp>
        <p:nvSpPr>
          <p:cNvPr id="4" name="Date Placeholder 3">
            <a:extLst>
              <a:ext uri="{FF2B5EF4-FFF2-40B4-BE49-F238E27FC236}">
                <a16:creationId xmlns:a16="http://schemas.microsoft.com/office/drawing/2014/main" id="{E8AA633B-208D-44C3-8647-881884755B42}"/>
              </a:ext>
            </a:extLst>
          </p:cNvPr>
          <p:cNvSpPr>
            <a:spLocks noGrp="1"/>
          </p:cNvSpPr>
          <p:nvPr>
            <p:ph type="dt" sz="half" idx="10"/>
          </p:nvPr>
        </p:nvSpPr>
        <p:spPr/>
        <p:txBody>
          <a:bodyPr/>
          <a:lstStyle/>
          <a:p>
            <a:fld id="{3809BB29-A80C-466E-9C30-C74BCE5873D2}" type="datetime1">
              <a:rPr lang="en-US" smtClean="0"/>
              <a:t>8/5/2025</a:t>
            </a:fld>
            <a:endParaRPr lang="en-US"/>
          </a:p>
        </p:txBody>
      </p:sp>
      <p:sp>
        <p:nvSpPr>
          <p:cNvPr id="5" name="Slide Number Placeholder 4">
            <a:extLst>
              <a:ext uri="{FF2B5EF4-FFF2-40B4-BE49-F238E27FC236}">
                <a16:creationId xmlns:a16="http://schemas.microsoft.com/office/drawing/2014/main" id="{F47C3CA5-DF25-41AC-96A0-FCBCE7EC3DB2}"/>
              </a:ext>
            </a:extLst>
          </p:cNvPr>
          <p:cNvSpPr>
            <a:spLocks noGrp="1"/>
          </p:cNvSpPr>
          <p:nvPr>
            <p:ph type="sldNum" sz="quarter" idx="12"/>
          </p:nvPr>
        </p:nvSpPr>
        <p:spPr/>
        <p:txBody>
          <a:bodyPr/>
          <a:lstStyle/>
          <a:p>
            <a:fld id="{330EA680-D336-4FF7-8B7A-9848BB0A1C32}" type="slidenum">
              <a:rPr lang="en-US" smtClean="0"/>
              <a:t>58</a:t>
            </a:fld>
            <a:endParaRPr lang="en-US"/>
          </a:p>
        </p:txBody>
      </p:sp>
    </p:spTree>
    <p:extLst>
      <p:ext uri="{BB962C8B-B14F-4D97-AF65-F5344CB8AC3E}">
        <p14:creationId xmlns:p14="http://schemas.microsoft.com/office/powerpoint/2010/main" val="264230641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098F2-0198-4487-82C4-5E8E6E4A7B67}"/>
              </a:ext>
            </a:extLst>
          </p:cNvPr>
          <p:cNvSpPr>
            <a:spLocks noGrp="1"/>
          </p:cNvSpPr>
          <p:nvPr>
            <p:ph type="title"/>
          </p:nvPr>
        </p:nvSpPr>
        <p:spPr>
          <a:xfrm>
            <a:off x="2592925" y="624110"/>
            <a:ext cx="8911687" cy="365125"/>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009CC210-0C7C-4256-9B45-2A11A8C0B39C}"/>
              </a:ext>
            </a:extLst>
          </p:cNvPr>
          <p:cNvSpPr>
            <a:spLocks noGrp="1"/>
          </p:cNvSpPr>
          <p:nvPr>
            <p:ph idx="1"/>
          </p:nvPr>
        </p:nvSpPr>
        <p:spPr>
          <a:xfrm>
            <a:off x="872197" y="1565189"/>
            <a:ext cx="10632415" cy="4346033"/>
          </a:xfrm>
        </p:spPr>
        <p:txBody>
          <a:bodyPr>
            <a:normAutofit/>
          </a:bodyPr>
          <a:lstStyle/>
          <a:p>
            <a:pPr algn="just"/>
            <a:r>
              <a:rPr lang="en-US" sz="2000" dirty="0"/>
              <a:t>One university may adopt a quarter system, offer three courses on database systems, and assign grades from A+ to F, whereas another may adopt a semester system, offer two courses on databases, and assign grades from 1 to 10. </a:t>
            </a:r>
          </a:p>
          <a:p>
            <a:pPr algn="just"/>
            <a:r>
              <a:rPr lang="en-US" sz="2000" dirty="0"/>
              <a:t>It is difficult to work out precise course-to-grade transformation rules between the two universities, making information exchange difficult. </a:t>
            </a:r>
          </a:p>
          <a:p>
            <a:pPr algn="just"/>
            <a:r>
              <a:rPr lang="en-US" sz="2000" dirty="0"/>
              <a:t>Attributes may also differ on the abstraction level, where an attribute in one system is recorded at, say, a lower abstraction level than the “same” attribute in another. </a:t>
            </a:r>
          </a:p>
          <a:p>
            <a:pPr algn="just"/>
            <a:r>
              <a:rPr lang="en-US" sz="2000" dirty="0"/>
              <a:t>For example, the total sales in one database may refer to one branch of All Electronics, while an attribute of the same name in another database may refer to the total sales for All Electronics stores in a given region. </a:t>
            </a:r>
          </a:p>
        </p:txBody>
      </p:sp>
      <p:sp>
        <p:nvSpPr>
          <p:cNvPr id="4" name="Date Placeholder 3">
            <a:extLst>
              <a:ext uri="{FF2B5EF4-FFF2-40B4-BE49-F238E27FC236}">
                <a16:creationId xmlns:a16="http://schemas.microsoft.com/office/drawing/2014/main" id="{9A64FE06-2AFC-4147-86BC-1DD317E790A7}"/>
              </a:ext>
            </a:extLst>
          </p:cNvPr>
          <p:cNvSpPr>
            <a:spLocks noGrp="1"/>
          </p:cNvSpPr>
          <p:nvPr>
            <p:ph type="dt" sz="half" idx="10"/>
          </p:nvPr>
        </p:nvSpPr>
        <p:spPr/>
        <p:txBody>
          <a:bodyPr/>
          <a:lstStyle/>
          <a:p>
            <a:fld id="{BDB0B1BB-66F7-446D-AB65-8994DAF0F2C9}" type="datetime1">
              <a:rPr lang="en-US" smtClean="0"/>
              <a:t>8/5/2025</a:t>
            </a:fld>
            <a:endParaRPr lang="en-US"/>
          </a:p>
        </p:txBody>
      </p:sp>
      <p:sp>
        <p:nvSpPr>
          <p:cNvPr id="5" name="Slide Number Placeholder 4">
            <a:extLst>
              <a:ext uri="{FF2B5EF4-FFF2-40B4-BE49-F238E27FC236}">
                <a16:creationId xmlns:a16="http://schemas.microsoft.com/office/drawing/2014/main" id="{F70DC786-713F-4739-96EA-C24BD995E8AE}"/>
              </a:ext>
            </a:extLst>
          </p:cNvPr>
          <p:cNvSpPr>
            <a:spLocks noGrp="1"/>
          </p:cNvSpPr>
          <p:nvPr>
            <p:ph type="sldNum" sz="quarter" idx="12"/>
          </p:nvPr>
        </p:nvSpPr>
        <p:spPr/>
        <p:txBody>
          <a:bodyPr/>
          <a:lstStyle/>
          <a:p>
            <a:fld id="{330EA680-D336-4FF7-8B7A-9848BB0A1C32}" type="slidenum">
              <a:rPr lang="en-US" smtClean="0"/>
              <a:t>59</a:t>
            </a:fld>
            <a:endParaRPr lang="en-US"/>
          </a:p>
        </p:txBody>
      </p:sp>
    </p:spTree>
    <p:extLst>
      <p:ext uri="{BB962C8B-B14F-4D97-AF65-F5344CB8AC3E}">
        <p14:creationId xmlns:p14="http://schemas.microsoft.com/office/powerpoint/2010/main" val="101330459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405620"/>
          </a:xfrm>
        </p:spPr>
        <p:txBody>
          <a:bodyPr>
            <a:normAutofit fontScale="90000"/>
          </a:bodyPr>
          <a:lstStyle/>
          <a:p>
            <a:endParaRPr lang="en-IN" dirty="0"/>
          </a:p>
        </p:txBody>
      </p:sp>
      <p:sp>
        <p:nvSpPr>
          <p:cNvPr id="3" name="Content Placeholder 2"/>
          <p:cNvSpPr>
            <a:spLocks noGrp="1"/>
          </p:cNvSpPr>
          <p:nvPr>
            <p:ph idx="1"/>
          </p:nvPr>
        </p:nvSpPr>
        <p:spPr>
          <a:xfrm>
            <a:off x="1425146" y="1400433"/>
            <a:ext cx="10079466" cy="4510790"/>
          </a:xfrm>
        </p:spPr>
        <p:txBody>
          <a:bodyPr>
            <a:normAutofit/>
          </a:bodyPr>
          <a:lstStyle/>
          <a:p>
            <a:r>
              <a:rPr lang="en-US" sz="2400" b="1" dirty="0"/>
              <a:t>Data Reduction</a:t>
            </a:r>
          </a:p>
          <a:p>
            <a:pPr algn="just"/>
            <a:r>
              <a:rPr lang="en-US" sz="2000" dirty="0"/>
              <a:t> Imagine that you have selected data from the </a:t>
            </a:r>
            <a:r>
              <a:rPr lang="en-US" sz="2000" dirty="0" err="1"/>
              <a:t>AllElectronics</a:t>
            </a:r>
            <a:r>
              <a:rPr lang="en-US" sz="2000" dirty="0"/>
              <a:t> data warehouse for analysis. </a:t>
            </a:r>
          </a:p>
          <a:p>
            <a:pPr algn="just"/>
            <a:r>
              <a:rPr lang="en-US" sz="2000" dirty="0"/>
              <a:t>The data set will likely be huge! Complex data analysis and mining on huge amounts of data can take a long time, making such analysis impractical or infeasible.</a:t>
            </a:r>
          </a:p>
          <a:p>
            <a:pPr algn="just"/>
            <a:r>
              <a:rPr lang="en-US" sz="2000" dirty="0"/>
              <a:t> Data reduction techniques can be applied to obtain a reduced representation of the dataset that is much smaller in volume, yet loosely maintains the integrity of the original data. </a:t>
            </a:r>
          </a:p>
          <a:p>
            <a:pPr algn="just"/>
            <a:r>
              <a:rPr lang="en-US" sz="2000" dirty="0"/>
              <a:t>That is, mining on the reduced data set should be more efﬁcient yet produce the same analytical results.</a:t>
            </a:r>
          </a:p>
          <a:p>
            <a:endParaRPr lang="en-IN" dirty="0"/>
          </a:p>
        </p:txBody>
      </p:sp>
      <p:sp>
        <p:nvSpPr>
          <p:cNvPr id="4" name="Date Placeholder 3">
            <a:extLst>
              <a:ext uri="{FF2B5EF4-FFF2-40B4-BE49-F238E27FC236}">
                <a16:creationId xmlns:a16="http://schemas.microsoft.com/office/drawing/2014/main" id="{E700757E-8552-49D8-BE85-DF0411F370E3}"/>
              </a:ext>
            </a:extLst>
          </p:cNvPr>
          <p:cNvSpPr>
            <a:spLocks noGrp="1"/>
          </p:cNvSpPr>
          <p:nvPr>
            <p:ph type="dt" sz="half" idx="10"/>
          </p:nvPr>
        </p:nvSpPr>
        <p:spPr/>
        <p:txBody>
          <a:bodyPr/>
          <a:lstStyle/>
          <a:p>
            <a:fld id="{A18F8A72-4ADF-4127-9482-0CA7550E30D4}" type="datetime1">
              <a:rPr lang="en-US" smtClean="0"/>
              <a:t>8/5/2025</a:t>
            </a:fld>
            <a:endParaRPr lang="en-US"/>
          </a:p>
        </p:txBody>
      </p:sp>
      <p:sp>
        <p:nvSpPr>
          <p:cNvPr id="5" name="Slide Number Placeholder 4">
            <a:extLst>
              <a:ext uri="{FF2B5EF4-FFF2-40B4-BE49-F238E27FC236}">
                <a16:creationId xmlns:a16="http://schemas.microsoft.com/office/drawing/2014/main" id="{FB1EC4F5-0389-473E-9B13-7C293D758568}"/>
              </a:ext>
            </a:extLst>
          </p:cNvPr>
          <p:cNvSpPr>
            <a:spLocks noGrp="1"/>
          </p:cNvSpPr>
          <p:nvPr>
            <p:ph type="sldNum" sz="quarter" idx="12"/>
          </p:nvPr>
        </p:nvSpPr>
        <p:spPr/>
        <p:txBody>
          <a:bodyPr/>
          <a:lstStyle/>
          <a:p>
            <a:fld id="{330EA680-D336-4FF7-8B7A-9848BB0A1C32}" type="slidenum">
              <a:rPr lang="en-US" smtClean="0"/>
              <a:t>60</a:t>
            </a:fld>
            <a:endParaRPr lang="en-US"/>
          </a:p>
        </p:txBody>
      </p:sp>
    </p:spTree>
    <p:extLst>
      <p:ext uri="{BB962C8B-B14F-4D97-AF65-F5344CB8AC3E}">
        <p14:creationId xmlns:p14="http://schemas.microsoft.com/office/powerpoint/2010/main" val="207814838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55173" y="401688"/>
            <a:ext cx="8911687" cy="315004"/>
          </a:xfrm>
        </p:spPr>
        <p:txBody>
          <a:bodyPr>
            <a:normAutofit fontScale="90000"/>
          </a:bodyPr>
          <a:lstStyle/>
          <a:p>
            <a:endParaRPr lang="en-IN" dirty="0"/>
          </a:p>
        </p:txBody>
      </p:sp>
      <p:sp>
        <p:nvSpPr>
          <p:cNvPr id="3" name="Content Placeholder 2"/>
          <p:cNvSpPr>
            <a:spLocks noGrp="1"/>
          </p:cNvSpPr>
          <p:nvPr>
            <p:ph idx="1"/>
          </p:nvPr>
        </p:nvSpPr>
        <p:spPr>
          <a:xfrm>
            <a:off x="1375719" y="1375719"/>
            <a:ext cx="10128893" cy="4968810"/>
          </a:xfrm>
        </p:spPr>
        <p:txBody>
          <a:bodyPr>
            <a:noAutofit/>
          </a:bodyPr>
          <a:lstStyle/>
          <a:p>
            <a:pPr algn="just"/>
            <a:r>
              <a:rPr lang="en-IN" sz="2000" b="1" dirty="0"/>
              <a:t>Overview of Data Reduction Strategies </a:t>
            </a:r>
          </a:p>
          <a:p>
            <a:pPr algn="just"/>
            <a:r>
              <a:rPr lang="en-IN" sz="2000" dirty="0"/>
              <a:t>Data reduction strategies include dimensionality reduction, </a:t>
            </a:r>
            <a:r>
              <a:rPr lang="en-IN" sz="2000" dirty="0" err="1"/>
              <a:t>numerosity</a:t>
            </a:r>
            <a:r>
              <a:rPr lang="en-IN" sz="2000" dirty="0"/>
              <a:t> reduction, and data compression.</a:t>
            </a:r>
          </a:p>
          <a:p>
            <a:pPr algn="just"/>
            <a:r>
              <a:rPr lang="en-IN" sz="2000" dirty="0"/>
              <a:t>Dimensionality reduction is the process of reducing the number of random variables or attributes under consideration. </a:t>
            </a:r>
          </a:p>
          <a:p>
            <a:pPr algn="just"/>
            <a:r>
              <a:rPr lang="en-IN" sz="2000" dirty="0"/>
              <a:t>In Dimensionality reduction data encoding or transformations are applied so as to  obtain a reduced or compressed representation of the original data.</a:t>
            </a:r>
          </a:p>
          <a:p>
            <a:pPr algn="just"/>
            <a:r>
              <a:rPr lang="en-IN" sz="2000" dirty="0"/>
              <a:t>Dimensionality reduction methods include wavelet </a:t>
            </a:r>
            <a:r>
              <a:rPr lang="en-US" sz="2000" dirty="0"/>
              <a:t>transforms and principal components analysis, which transform or project the original data onto a smaller space.</a:t>
            </a:r>
          </a:p>
          <a:p>
            <a:pPr algn="just"/>
            <a:r>
              <a:rPr lang="en-US" sz="2000" dirty="0"/>
              <a:t>Attribute subset selection is a method of dimensionality reduction in which irrelevant, weakly relevant, or redundant attributes or dimensions are detected and removed. </a:t>
            </a:r>
          </a:p>
        </p:txBody>
      </p:sp>
      <p:sp>
        <p:nvSpPr>
          <p:cNvPr id="4" name="Date Placeholder 3">
            <a:extLst>
              <a:ext uri="{FF2B5EF4-FFF2-40B4-BE49-F238E27FC236}">
                <a16:creationId xmlns:a16="http://schemas.microsoft.com/office/drawing/2014/main" id="{AEB13917-B74D-4AD4-9CD1-8DD2ABC9C13A}"/>
              </a:ext>
            </a:extLst>
          </p:cNvPr>
          <p:cNvSpPr>
            <a:spLocks noGrp="1"/>
          </p:cNvSpPr>
          <p:nvPr>
            <p:ph type="dt" sz="half" idx="10"/>
          </p:nvPr>
        </p:nvSpPr>
        <p:spPr/>
        <p:txBody>
          <a:bodyPr/>
          <a:lstStyle/>
          <a:p>
            <a:fld id="{F93ABDA8-B9E8-4783-A4AF-47F4673592D4}" type="datetime1">
              <a:rPr lang="en-US" smtClean="0"/>
              <a:t>8/5/2025</a:t>
            </a:fld>
            <a:endParaRPr lang="en-US"/>
          </a:p>
        </p:txBody>
      </p:sp>
      <p:sp>
        <p:nvSpPr>
          <p:cNvPr id="5" name="Slide Number Placeholder 4">
            <a:extLst>
              <a:ext uri="{FF2B5EF4-FFF2-40B4-BE49-F238E27FC236}">
                <a16:creationId xmlns:a16="http://schemas.microsoft.com/office/drawing/2014/main" id="{966158CF-70E2-4E62-A5C1-88D84C33E085}"/>
              </a:ext>
            </a:extLst>
          </p:cNvPr>
          <p:cNvSpPr>
            <a:spLocks noGrp="1"/>
          </p:cNvSpPr>
          <p:nvPr>
            <p:ph type="sldNum" sz="quarter" idx="12"/>
          </p:nvPr>
        </p:nvSpPr>
        <p:spPr/>
        <p:txBody>
          <a:bodyPr/>
          <a:lstStyle/>
          <a:p>
            <a:fld id="{330EA680-D336-4FF7-8B7A-9848BB0A1C32}" type="slidenum">
              <a:rPr lang="en-US" smtClean="0"/>
              <a:t>61</a:t>
            </a:fld>
            <a:endParaRPr lang="en-US"/>
          </a:p>
        </p:txBody>
      </p:sp>
    </p:spTree>
    <p:extLst>
      <p:ext uri="{BB962C8B-B14F-4D97-AF65-F5344CB8AC3E}">
        <p14:creationId xmlns:p14="http://schemas.microsoft.com/office/powerpoint/2010/main" val="165574977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405620"/>
          </a:xfrm>
        </p:spPr>
        <p:txBody>
          <a:bodyPr>
            <a:normAutofit fontScale="90000"/>
          </a:bodyPr>
          <a:lstStyle/>
          <a:p>
            <a:endParaRPr lang="en-IN" dirty="0"/>
          </a:p>
        </p:txBody>
      </p:sp>
      <p:sp>
        <p:nvSpPr>
          <p:cNvPr id="3" name="Content Placeholder 2"/>
          <p:cNvSpPr>
            <a:spLocks noGrp="1"/>
          </p:cNvSpPr>
          <p:nvPr>
            <p:ph idx="1"/>
          </p:nvPr>
        </p:nvSpPr>
        <p:spPr>
          <a:xfrm>
            <a:off x="1112108" y="1375719"/>
            <a:ext cx="10392504" cy="4535503"/>
          </a:xfrm>
        </p:spPr>
        <p:txBody>
          <a:bodyPr/>
          <a:lstStyle/>
          <a:p>
            <a:pPr algn="just"/>
            <a:r>
              <a:rPr lang="en-US" sz="2000" dirty="0"/>
              <a:t>Numerosity reduction techniques replace the original data volume by alternative, smaller forms of data representation. </a:t>
            </a:r>
          </a:p>
          <a:p>
            <a:pPr algn="just"/>
            <a:r>
              <a:rPr lang="en-US" sz="2000" dirty="0"/>
              <a:t>Dimensionality reduction and numerosity reduction techniques can be considered forms of data compression. </a:t>
            </a:r>
          </a:p>
          <a:p>
            <a:pPr algn="just"/>
            <a:r>
              <a:rPr lang="en-US" sz="2000" dirty="0"/>
              <a:t>There are many other ways of organizing methods of data reduction. </a:t>
            </a:r>
          </a:p>
          <a:p>
            <a:pPr algn="just"/>
            <a:r>
              <a:rPr lang="en-US" sz="2000" dirty="0"/>
              <a:t>The computational time spent on data reduction should not outweigh or “erase” the time saved by mining on a reduced data set size.</a:t>
            </a:r>
          </a:p>
          <a:p>
            <a:endParaRPr lang="en-IN" dirty="0"/>
          </a:p>
        </p:txBody>
      </p:sp>
      <p:sp>
        <p:nvSpPr>
          <p:cNvPr id="4" name="Date Placeholder 3">
            <a:extLst>
              <a:ext uri="{FF2B5EF4-FFF2-40B4-BE49-F238E27FC236}">
                <a16:creationId xmlns:a16="http://schemas.microsoft.com/office/drawing/2014/main" id="{EEAD9110-467E-4128-B1E6-089CCEC702D6}"/>
              </a:ext>
            </a:extLst>
          </p:cNvPr>
          <p:cNvSpPr>
            <a:spLocks noGrp="1"/>
          </p:cNvSpPr>
          <p:nvPr>
            <p:ph type="dt" sz="half" idx="10"/>
          </p:nvPr>
        </p:nvSpPr>
        <p:spPr/>
        <p:txBody>
          <a:bodyPr/>
          <a:lstStyle/>
          <a:p>
            <a:fld id="{C3BFC51B-4262-4A65-8F4A-80F1ADAD6518}" type="datetime1">
              <a:rPr lang="en-US" smtClean="0"/>
              <a:t>8/5/2025</a:t>
            </a:fld>
            <a:endParaRPr lang="en-US"/>
          </a:p>
        </p:txBody>
      </p:sp>
      <p:sp>
        <p:nvSpPr>
          <p:cNvPr id="5" name="Slide Number Placeholder 4">
            <a:extLst>
              <a:ext uri="{FF2B5EF4-FFF2-40B4-BE49-F238E27FC236}">
                <a16:creationId xmlns:a16="http://schemas.microsoft.com/office/drawing/2014/main" id="{7F3B6C97-460C-4D3B-BB56-513AA22E8362}"/>
              </a:ext>
            </a:extLst>
          </p:cNvPr>
          <p:cNvSpPr>
            <a:spLocks noGrp="1"/>
          </p:cNvSpPr>
          <p:nvPr>
            <p:ph type="sldNum" sz="quarter" idx="12"/>
          </p:nvPr>
        </p:nvSpPr>
        <p:spPr/>
        <p:txBody>
          <a:bodyPr/>
          <a:lstStyle/>
          <a:p>
            <a:fld id="{330EA680-D336-4FF7-8B7A-9848BB0A1C32}" type="slidenum">
              <a:rPr lang="en-US" smtClean="0"/>
              <a:t>62</a:t>
            </a:fld>
            <a:endParaRPr lang="en-US"/>
          </a:p>
        </p:txBody>
      </p:sp>
    </p:spTree>
    <p:extLst>
      <p:ext uri="{BB962C8B-B14F-4D97-AF65-F5344CB8AC3E}">
        <p14:creationId xmlns:p14="http://schemas.microsoft.com/office/powerpoint/2010/main" val="366654654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96F58-CCBC-440A-9877-F5BE62B4D3E1}"/>
              </a:ext>
            </a:extLst>
          </p:cNvPr>
          <p:cNvSpPr>
            <a:spLocks noGrp="1"/>
          </p:cNvSpPr>
          <p:nvPr>
            <p:ph type="title"/>
          </p:nvPr>
        </p:nvSpPr>
        <p:spPr>
          <a:xfrm>
            <a:off x="2592925" y="624110"/>
            <a:ext cx="8911687" cy="528797"/>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ED7BB5B0-AD22-4681-9CA1-52A2ECA1B9EA}"/>
              </a:ext>
            </a:extLst>
          </p:cNvPr>
          <p:cNvSpPr>
            <a:spLocks noGrp="1"/>
          </p:cNvSpPr>
          <p:nvPr>
            <p:ph idx="1"/>
          </p:nvPr>
        </p:nvSpPr>
        <p:spPr>
          <a:xfrm>
            <a:off x="801858" y="1294228"/>
            <a:ext cx="10818056" cy="4248444"/>
          </a:xfrm>
        </p:spPr>
        <p:txBody>
          <a:bodyPr>
            <a:noAutofit/>
          </a:bodyPr>
          <a:lstStyle/>
          <a:p>
            <a:pPr algn="just"/>
            <a:r>
              <a:rPr lang="en-US" sz="2000" b="1" dirty="0"/>
              <a:t>Wavelet Transforms </a:t>
            </a:r>
          </a:p>
          <a:p>
            <a:pPr algn="just"/>
            <a:r>
              <a:rPr lang="en-US" sz="2000" dirty="0"/>
              <a:t>The discrete wavelet transform (DWT) is a linear signal processing technique that, when applied to a data vector X, transforms it to a numerically different vector, X</a:t>
            </a:r>
            <a:r>
              <a:rPr lang="en-US" sz="2000" baseline="30000" dirty="0"/>
              <a:t>1</a:t>
            </a:r>
            <a:r>
              <a:rPr lang="en-US" sz="2000" dirty="0"/>
              <a:t> , of wavelet coefficients. </a:t>
            </a:r>
          </a:p>
          <a:p>
            <a:pPr algn="just"/>
            <a:r>
              <a:rPr lang="en-US" sz="2000" dirty="0"/>
              <a:t>The two vectors are of the same length. </a:t>
            </a:r>
          </a:p>
          <a:p>
            <a:pPr algn="just"/>
            <a:r>
              <a:rPr lang="en-US" sz="2000" dirty="0"/>
              <a:t>When applying this technique to data reduction, we consider each tuple as an n-dimensional data vector, that is, X = (x1,x2,...,</a:t>
            </a:r>
            <a:r>
              <a:rPr lang="en-US" sz="2000" dirty="0" err="1"/>
              <a:t>xn</a:t>
            </a:r>
            <a:r>
              <a:rPr lang="en-US" sz="2000" dirty="0"/>
              <a:t>), depicting n measurements made on the tuple from n database attributes.</a:t>
            </a:r>
          </a:p>
          <a:p>
            <a:pPr algn="just"/>
            <a:r>
              <a:rPr lang="en-US" sz="2000" dirty="0"/>
              <a:t> “How can this technique be useful for data reduction if the wavelet transformed data are of the same length as the original data?” </a:t>
            </a:r>
          </a:p>
        </p:txBody>
      </p:sp>
      <p:sp>
        <p:nvSpPr>
          <p:cNvPr id="4" name="Date Placeholder 3">
            <a:extLst>
              <a:ext uri="{FF2B5EF4-FFF2-40B4-BE49-F238E27FC236}">
                <a16:creationId xmlns:a16="http://schemas.microsoft.com/office/drawing/2014/main" id="{1F76E8D7-4146-400E-9387-A63DC7F5B626}"/>
              </a:ext>
            </a:extLst>
          </p:cNvPr>
          <p:cNvSpPr>
            <a:spLocks noGrp="1"/>
          </p:cNvSpPr>
          <p:nvPr>
            <p:ph type="dt" sz="half" idx="10"/>
          </p:nvPr>
        </p:nvSpPr>
        <p:spPr/>
        <p:txBody>
          <a:bodyPr/>
          <a:lstStyle/>
          <a:p>
            <a:fld id="{E4C93EEE-D9EF-405B-B243-0BB37BF794C7}" type="datetime1">
              <a:rPr lang="en-US" smtClean="0"/>
              <a:t>8/5/2025</a:t>
            </a:fld>
            <a:endParaRPr lang="en-US"/>
          </a:p>
        </p:txBody>
      </p:sp>
      <p:sp>
        <p:nvSpPr>
          <p:cNvPr id="5" name="Slide Number Placeholder 4">
            <a:extLst>
              <a:ext uri="{FF2B5EF4-FFF2-40B4-BE49-F238E27FC236}">
                <a16:creationId xmlns:a16="http://schemas.microsoft.com/office/drawing/2014/main" id="{9D828D03-5E6B-4354-A932-BFA96193AC10}"/>
              </a:ext>
            </a:extLst>
          </p:cNvPr>
          <p:cNvSpPr>
            <a:spLocks noGrp="1"/>
          </p:cNvSpPr>
          <p:nvPr>
            <p:ph type="sldNum" sz="quarter" idx="12"/>
          </p:nvPr>
        </p:nvSpPr>
        <p:spPr/>
        <p:txBody>
          <a:bodyPr/>
          <a:lstStyle/>
          <a:p>
            <a:fld id="{330EA680-D336-4FF7-8B7A-9848BB0A1C32}" type="slidenum">
              <a:rPr lang="en-US" smtClean="0"/>
              <a:t>63</a:t>
            </a:fld>
            <a:endParaRPr lang="en-US"/>
          </a:p>
        </p:txBody>
      </p:sp>
    </p:spTree>
    <p:extLst>
      <p:ext uri="{BB962C8B-B14F-4D97-AF65-F5344CB8AC3E}">
        <p14:creationId xmlns:p14="http://schemas.microsoft.com/office/powerpoint/2010/main" val="209203859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D4B39-6B8D-4FEF-B33A-17B4C7ACEE26}"/>
              </a:ext>
            </a:extLst>
          </p:cNvPr>
          <p:cNvSpPr>
            <a:spLocks noGrp="1"/>
          </p:cNvSpPr>
          <p:nvPr>
            <p:ph type="title"/>
          </p:nvPr>
        </p:nvSpPr>
        <p:spPr>
          <a:xfrm>
            <a:off x="2592925" y="624110"/>
            <a:ext cx="8911687" cy="365125"/>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168F6229-55AE-4C69-AE2E-0ADC32E070C9}"/>
              </a:ext>
            </a:extLst>
          </p:cNvPr>
          <p:cNvSpPr>
            <a:spLocks noGrp="1"/>
          </p:cNvSpPr>
          <p:nvPr>
            <p:ph idx="1"/>
          </p:nvPr>
        </p:nvSpPr>
        <p:spPr>
          <a:xfrm>
            <a:off x="1311579" y="1378634"/>
            <a:ext cx="10193033" cy="4532588"/>
          </a:xfrm>
        </p:spPr>
        <p:txBody>
          <a:bodyPr/>
          <a:lstStyle/>
          <a:p>
            <a:pPr algn="just"/>
            <a:r>
              <a:rPr lang="en-US" sz="2000" dirty="0"/>
              <a:t>The usefulness lies in the fact that the wavelet transformed data can be truncated. </a:t>
            </a:r>
          </a:p>
          <a:p>
            <a:pPr algn="just"/>
            <a:r>
              <a:rPr lang="en-US" sz="2000" dirty="0"/>
              <a:t>A compressed approximation of the data can be retained by storing only a small fraction of the strongest of the wavelet coefficients. </a:t>
            </a:r>
          </a:p>
          <a:p>
            <a:pPr algn="just"/>
            <a:r>
              <a:rPr lang="en-US" sz="2000" dirty="0"/>
              <a:t>For example, all wavelet coefficients larger than some user-specified threshold can be retained. </a:t>
            </a:r>
          </a:p>
          <a:p>
            <a:pPr algn="just"/>
            <a:r>
              <a:rPr lang="en-US" sz="2000" dirty="0"/>
              <a:t>All other coefficients are set to 0. </a:t>
            </a:r>
          </a:p>
          <a:p>
            <a:pPr algn="just"/>
            <a:r>
              <a:rPr lang="en-US" sz="2000" dirty="0"/>
              <a:t>The resulting data representation is therefore very sparse, so that operations that can take advantage of data sparsity are computationally very fast if performed in wavelet space.</a:t>
            </a:r>
          </a:p>
          <a:p>
            <a:pPr algn="just"/>
            <a:r>
              <a:rPr lang="en-US" sz="2000" dirty="0"/>
              <a:t> The technique also works to remove noise without smoothing out the main features of the data, making it effective for data  cleaning as well.</a:t>
            </a:r>
          </a:p>
          <a:p>
            <a:endParaRPr lang="en-US" dirty="0"/>
          </a:p>
        </p:txBody>
      </p:sp>
      <p:sp>
        <p:nvSpPr>
          <p:cNvPr id="4" name="Date Placeholder 3">
            <a:extLst>
              <a:ext uri="{FF2B5EF4-FFF2-40B4-BE49-F238E27FC236}">
                <a16:creationId xmlns:a16="http://schemas.microsoft.com/office/drawing/2014/main" id="{3D54F922-771E-473E-B774-BD2FF89C233A}"/>
              </a:ext>
            </a:extLst>
          </p:cNvPr>
          <p:cNvSpPr>
            <a:spLocks noGrp="1"/>
          </p:cNvSpPr>
          <p:nvPr>
            <p:ph type="dt" sz="half" idx="10"/>
          </p:nvPr>
        </p:nvSpPr>
        <p:spPr/>
        <p:txBody>
          <a:bodyPr/>
          <a:lstStyle/>
          <a:p>
            <a:fld id="{E4C93EEE-D9EF-405B-B243-0BB37BF794C7}" type="datetime1">
              <a:rPr lang="en-US" smtClean="0"/>
              <a:t>8/5/2025</a:t>
            </a:fld>
            <a:endParaRPr lang="en-US"/>
          </a:p>
        </p:txBody>
      </p:sp>
      <p:sp>
        <p:nvSpPr>
          <p:cNvPr id="5" name="Slide Number Placeholder 4">
            <a:extLst>
              <a:ext uri="{FF2B5EF4-FFF2-40B4-BE49-F238E27FC236}">
                <a16:creationId xmlns:a16="http://schemas.microsoft.com/office/drawing/2014/main" id="{100BDF15-8025-41A6-97A5-F68876650E90}"/>
              </a:ext>
            </a:extLst>
          </p:cNvPr>
          <p:cNvSpPr>
            <a:spLocks noGrp="1"/>
          </p:cNvSpPr>
          <p:nvPr>
            <p:ph type="sldNum" sz="quarter" idx="12"/>
          </p:nvPr>
        </p:nvSpPr>
        <p:spPr/>
        <p:txBody>
          <a:bodyPr/>
          <a:lstStyle/>
          <a:p>
            <a:fld id="{330EA680-D336-4FF7-8B7A-9848BB0A1C32}" type="slidenum">
              <a:rPr lang="en-US" smtClean="0"/>
              <a:t>64</a:t>
            </a:fld>
            <a:endParaRPr lang="en-US"/>
          </a:p>
        </p:txBody>
      </p:sp>
    </p:spTree>
    <p:extLst>
      <p:ext uri="{BB962C8B-B14F-4D97-AF65-F5344CB8AC3E}">
        <p14:creationId xmlns:p14="http://schemas.microsoft.com/office/powerpoint/2010/main" val="375773175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339717"/>
          </a:xfrm>
        </p:spPr>
        <p:txBody>
          <a:bodyPr>
            <a:normAutofit fontScale="90000"/>
          </a:bodyPr>
          <a:lstStyle/>
          <a:p>
            <a:endParaRPr lang="en-IN" dirty="0"/>
          </a:p>
        </p:txBody>
      </p:sp>
      <p:sp>
        <p:nvSpPr>
          <p:cNvPr id="3" name="Content Placeholder 2"/>
          <p:cNvSpPr>
            <a:spLocks noGrp="1"/>
          </p:cNvSpPr>
          <p:nvPr>
            <p:ph idx="1"/>
          </p:nvPr>
        </p:nvSpPr>
        <p:spPr>
          <a:xfrm>
            <a:off x="996778" y="1260389"/>
            <a:ext cx="10507834" cy="4650833"/>
          </a:xfrm>
        </p:spPr>
        <p:txBody>
          <a:bodyPr>
            <a:noAutofit/>
          </a:bodyPr>
          <a:lstStyle/>
          <a:p>
            <a:pPr algn="just"/>
            <a:r>
              <a:rPr lang="en-US" sz="2000" b="1" dirty="0"/>
              <a:t>Principal Components Analysis</a:t>
            </a:r>
          </a:p>
          <a:p>
            <a:pPr algn="just"/>
            <a:r>
              <a:rPr lang="en-US" sz="2000" dirty="0"/>
              <a:t>Suppose that the data to be reduced consist of tuples or data vectors described by n attributes or dimensions. </a:t>
            </a:r>
          </a:p>
          <a:p>
            <a:pPr algn="just"/>
            <a:r>
              <a:rPr lang="en-US" sz="2000" dirty="0"/>
              <a:t>Principal components analysis (PCA; also called the </a:t>
            </a:r>
            <a:r>
              <a:rPr lang="en-US" sz="2000" dirty="0" err="1"/>
              <a:t>Karhunen-Loeve</a:t>
            </a:r>
            <a:r>
              <a:rPr lang="en-US" sz="2000" dirty="0"/>
              <a:t>, or K-L, method) searches for k n-dimensional orthogonal vectors that can best be used to represent the data, where </a:t>
            </a:r>
            <a:r>
              <a:rPr lang="en-US" sz="2000" dirty="0" err="1"/>
              <a:t>k≤n</a:t>
            </a:r>
            <a:r>
              <a:rPr lang="en-US" sz="2000" dirty="0"/>
              <a:t>. </a:t>
            </a:r>
          </a:p>
          <a:p>
            <a:pPr algn="just"/>
            <a:r>
              <a:rPr lang="en-US" sz="2000" dirty="0"/>
              <a:t>The original data are thus projected onto a much smaller space, resulting in dimensionality reduction. </a:t>
            </a:r>
          </a:p>
        </p:txBody>
      </p:sp>
      <p:sp>
        <p:nvSpPr>
          <p:cNvPr id="4" name="Date Placeholder 3">
            <a:extLst>
              <a:ext uri="{FF2B5EF4-FFF2-40B4-BE49-F238E27FC236}">
                <a16:creationId xmlns:a16="http://schemas.microsoft.com/office/drawing/2014/main" id="{D3F96CCD-1AD2-4D3B-B430-7E8FF3A94A8B}"/>
              </a:ext>
            </a:extLst>
          </p:cNvPr>
          <p:cNvSpPr>
            <a:spLocks noGrp="1"/>
          </p:cNvSpPr>
          <p:nvPr>
            <p:ph type="dt" sz="half" idx="10"/>
          </p:nvPr>
        </p:nvSpPr>
        <p:spPr/>
        <p:txBody>
          <a:bodyPr/>
          <a:lstStyle/>
          <a:p>
            <a:fld id="{18DCB21A-7C9E-4201-8D95-1DF2CE5A5716}" type="datetime1">
              <a:rPr lang="en-US" smtClean="0"/>
              <a:t>8/5/2025</a:t>
            </a:fld>
            <a:endParaRPr lang="en-US"/>
          </a:p>
        </p:txBody>
      </p:sp>
      <p:sp>
        <p:nvSpPr>
          <p:cNvPr id="5" name="Slide Number Placeholder 4">
            <a:extLst>
              <a:ext uri="{FF2B5EF4-FFF2-40B4-BE49-F238E27FC236}">
                <a16:creationId xmlns:a16="http://schemas.microsoft.com/office/drawing/2014/main" id="{A2E3BC51-6CA6-4F28-B075-46DCF86C3364}"/>
              </a:ext>
            </a:extLst>
          </p:cNvPr>
          <p:cNvSpPr>
            <a:spLocks noGrp="1"/>
          </p:cNvSpPr>
          <p:nvPr>
            <p:ph type="sldNum" sz="quarter" idx="12"/>
          </p:nvPr>
        </p:nvSpPr>
        <p:spPr/>
        <p:txBody>
          <a:bodyPr/>
          <a:lstStyle/>
          <a:p>
            <a:fld id="{330EA680-D336-4FF7-8B7A-9848BB0A1C32}" type="slidenum">
              <a:rPr lang="en-US" smtClean="0"/>
              <a:t>65</a:t>
            </a:fld>
            <a:endParaRPr lang="en-US"/>
          </a:p>
        </p:txBody>
      </p:sp>
    </p:spTree>
    <p:extLst>
      <p:ext uri="{BB962C8B-B14F-4D97-AF65-F5344CB8AC3E}">
        <p14:creationId xmlns:p14="http://schemas.microsoft.com/office/powerpoint/2010/main" val="159913122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224387"/>
          </a:xfrm>
        </p:spPr>
        <p:txBody>
          <a:bodyPr>
            <a:normAutofit fontScale="90000"/>
          </a:bodyPr>
          <a:lstStyle/>
          <a:p>
            <a:endParaRPr lang="en-IN" dirty="0"/>
          </a:p>
        </p:txBody>
      </p:sp>
      <p:sp>
        <p:nvSpPr>
          <p:cNvPr id="3" name="Content Placeholder 2"/>
          <p:cNvSpPr>
            <a:spLocks noGrp="1"/>
          </p:cNvSpPr>
          <p:nvPr>
            <p:ph idx="1"/>
          </p:nvPr>
        </p:nvSpPr>
        <p:spPr>
          <a:xfrm>
            <a:off x="1285103" y="1392701"/>
            <a:ext cx="10219509" cy="5108131"/>
          </a:xfrm>
        </p:spPr>
        <p:txBody>
          <a:bodyPr>
            <a:normAutofit fontScale="25000" lnSpcReduction="20000"/>
          </a:bodyPr>
          <a:lstStyle/>
          <a:p>
            <a:pPr algn="just"/>
            <a:endParaRPr lang="en-US" sz="8000" dirty="0"/>
          </a:p>
          <a:p>
            <a:pPr algn="just"/>
            <a:r>
              <a:rPr lang="en-US" sz="8000" dirty="0"/>
              <a:t>PCA often reveals relationships that were not previously suspected and thereby allows interpretations that would not ordinarily result. </a:t>
            </a:r>
            <a:endParaRPr lang="en-IN" sz="8000" dirty="0"/>
          </a:p>
          <a:p>
            <a:pPr algn="just"/>
            <a:r>
              <a:rPr lang="en-US" sz="8000" dirty="0"/>
              <a:t>The basic procedure is as follows:</a:t>
            </a:r>
          </a:p>
          <a:p>
            <a:pPr algn="just">
              <a:buFont typeface="+mj-lt"/>
              <a:buAutoNum type="arabicPeriod"/>
            </a:pPr>
            <a:r>
              <a:rPr lang="en-US" sz="8000" dirty="0"/>
              <a:t>The input data are normalized, so that each attribute falls within the same  range. This step helps ensure that attributes with large domains will not dominate attributes with smaller domains. </a:t>
            </a:r>
          </a:p>
          <a:p>
            <a:pPr algn="just">
              <a:buFont typeface="+mj-lt"/>
              <a:buAutoNum type="arabicPeriod"/>
            </a:pPr>
            <a:r>
              <a:rPr lang="en-US" sz="8000" dirty="0"/>
              <a:t>PCA computes k orthonormal vectors that provide a basis for the normalized input data. These are unit vectors that each point in a direction perpendicular to the others. These vectors are referred to as the principal components. The input data are a linear combination of the principal components.</a:t>
            </a:r>
          </a:p>
          <a:p>
            <a:pPr marL="0" indent="0" algn="just">
              <a:buNone/>
            </a:pPr>
            <a:endParaRPr lang="en-US" sz="8000" dirty="0"/>
          </a:p>
          <a:p>
            <a:pPr marL="0" indent="0" algn="just">
              <a:buNone/>
            </a:pPr>
            <a:endParaRPr lang="en-US" sz="3200" dirty="0"/>
          </a:p>
          <a:p>
            <a:pPr marL="0" indent="0" algn="just">
              <a:buNone/>
            </a:pPr>
            <a:endParaRPr lang="en-US" sz="3200" dirty="0"/>
          </a:p>
          <a:p>
            <a:pPr marL="0" indent="0">
              <a:buNone/>
            </a:pPr>
            <a:endParaRPr lang="en-US" dirty="0"/>
          </a:p>
          <a:p>
            <a:pPr marL="0" indent="0">
              <a:buNone/>
            </a:pPr>
            <a:r>
              <a:rPr lang="en-US" dirty="0"/>
              <a:t> </a:t>
            </a:r>
          </a:p>
          <a:p>
            <a:pPr>
              <a:buFont typeface="+mj-lt"/>
              <a:buAutoNum type="arabicPeriod"/>
            </a:pPr>
            <a:endParaRPr lang="en-US" dirty="0"/>
          </a:p>
          <a:p>
            <a:pPr>
              <a:buFont typeface="+mj-lt"/>
              <a:buAutoNum type="arabicPeriod"/>
            </a:pPr>
            <a:endParaRPr lang="en-US" dirty="0"/>
          </a:p>
          <a:p>
            <a:pPr>
              <a:buFont typeface="+mj-lt"/>
              <a:buAutoNum type="arabicPeriod"/>
            </a:pPr>
            <a:endParaRPr lang="en-US" dirty="0"/>
          </a:p>
          <a:p>
            <a:pPr>
              <a:buFont typeface="+mj-lt"/>
              <a:buAutoNum type="arabicPeriod"/>
            </a:pPr>
            <a:endParaRPr lang="en-US" dirty="0"/>
          </a:p>
          <a:p>
            <a:pPr marL="0" indent="0">
              <a:buNone/>
            </a:pPr>
            <a:endParaRPr lang="en-US" dirty="0"/>
          </a:p>
          <a:p>
            <a:pPr>
              <a:buFont typeface="+mj-lt"/>
              <a:buAutoNum type="arabicPeriod"/>
            </a:pPr>
            <a:endParaRPr lang="en-IN" dirty="0"/>
          </a:p>
        </p:txBody>
      </p:sp>
      <p:sp>
        <p:nvSpPr>
          <p:cNvPr id="4" name="Date Placeholder 3">
            <a:extLst>
              <a:ext uri="{FF2B5EF4-FFF2-40B4-BE49-F238E27FC236}">
                <a16:creationId xmlns:a16="http://schemas.microsoft.com/office/drawing/2014/main" id="{FC86441B-0AFD-478D-A1E8-A56065EEDD0F}"/>
              </a:ext>
            </a:extLst>
          </p:cNvPr>
          <p:cNvSpPr>
            <a:spLocks noGrp="1"/>
          </p:cNvSpPr>
          <p:nvPr>
            <p:ph type="dt" sz="half" idx="10"/>
          </p:nvPr>
        </p:nvSpPr>
        <p:spPr/>
        <p:txBody>
          <a:bodyPr/>
          <a:lstStyle/>
          <a:p>
            <a:fld id="{8B75827D-C8FB-439D-BDA8-9B7383969B7C}" type="datetime1">
              <a:rPr lang="en-US" smtClean="0"/>
              <a:t>8/5/2025</a:t>
            </a:fld>
            <a:endParaRPr lang="en-US"/>
          </a:p>
        </p:txBody>
      </p:sp>
      <p:sp>
        <p:nvSpPr>
          <p:cNvPr id="5" name="Slide Number Placeholder 4">
            <a:extLst>
              <a:ext uri="{FF2B5EF4-FFF2-40B4-BE49-F238E27FC236}">
                <a16:creationId xmlns:a16="http://schemas.microsoft.com/office/drawing/2014/main" id="{F96FAAFB-3EF5-498E-A641-B8E5EEA08B43}"/>
              </a:ext>
            </a:extLst>
          </p:cNvPr>
          <p:cNvSpPr>
            <a:spLocks noGrp="1"/>
          </p:cNvSpPr>
          <p:nvPr>
            <p:ph type="sldNum" sz="quarter" idx="12"/>
          </p:nvPr>
        </p:nvSpPr>
        <p:spPr/>
        <p:txBody>
          <a:bodyPr/>
          <a:lstStyle/>
          <a:p>
            <a:fld id="{330EA680-D336-4FF7-8B7A-9848BB0A1C32}" type="slidenum">
              <a:rPr lang="en-US" smtClean="0"/>
              <a:t>66</a:t>
            </a:fld>
            <a:endParaRPr lang="en-US"/>
          </a:p>
        </p:txBody>
      </p:sp>
    </p:spTree>
    <p:extLst>
      <p:ext uri="{BB962C8B-B14F-4D97-AF65-F5344CB8AC3E}">
        <p14:creationId xmlns:p14="http://schemas.microsoft.com/office/powerpoint/2010/main" val="216022223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8EBED-CA24-4483-B4DD-EBF99C39B301}"/>
              </a:ext>
            </a:extLst>
          </p:cNvPr>
          <p:cNvSpPr>
            <a:spLocks noGrp="1"/>
          </p:cNvSpPr>
          <p:nvPr>
            <p:ph type="title"/>
          </p:nvPr>
        </p:nvSpPr>
        <p:spPr>
          <a:xfrm>
            <a:off x="2592925" y="624110"/>
            <a:ext cx="8911687" cy="365125"/>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E330252B-EE1B-4831-A19C-CFAC786B30CE}"/>
              </a:ext>
            </a:extLst>
          </p:cNvPr>
          <p:cNvSpPr>
            <a:spLocks noGrp="1"/>
          </p:cNvSpPr>
          <p:nvPr>
            <p:ph idx="1"/>
          </p:nvPr>
        </p:nvSpPr>
        <p:spPr>
          <a:xfrm>
            <a:off x="1069382" y="1152907"/>
            <a:ext cx="10435229" cy="4758315"/>
          </a:xfrm>
        </p:spPr>
        <p:txBody>
          <a:bodyPr/>
          <a:lstStyle/>
          <a:p>
            <a:pPr>
              <a:buFont typeface="+mj-lt"/>
              <a:buAutoNum type="arabicPeriod" startAt="3"/>
            </a:pPr>
            <a:r>
              <a:rPr lang="en-US" sz="2000" dirty="0"/>
              <a:t>The principal components are sorted in order of decreasing “signiﬁcance” or strength. The principal components essentially serve as a new set of axes for the data, providing important information about variance. That is, the sorted axes are such that the ﬁrst axis shows the most variance among the data, the second axis shows the next highest variance, and so on. For example, Figure below shows the ﬁrst two principal components,Y1 and Y2,for the given set of data originally mapped to the axes X1 and X2. This information helps identify groups or patterns within the data.</a:t>
            </a:r>
          </a:p>
          <a:p>
            <a:endParaRPr lang="en-US" dirty="0"/>
          </a:p>
        </p:txBody>
      </p:sp>
      <p:sp>
        <p:nvSpPr>
          <p:cNvPr id="4" name="Date Placeholder 3">
            <a:extLst>
              <a:ext uri="{FF2B5EF4-FFF2-40B4-BE49-F238E27FC236}">
                <a16:creationId xmlns:a16="http://schemas.microsoft.com/office/drawing/2014/main" id="{8CD97EC1-26DF-4150-8FEF-9A026492791E}"/>
              </a:ext>
            </a:extLst>
          </p:cNvPr>
          <p:cNvSpPr>
            <a:spLocks noGrp="1"/>
          </p:cNvSpPr>
          <p:nvPr>
            <p:ph type="dt" sz="half" idx="10"/>
          </p:nvPr>
        </p:nvSpPr>
        <p:spPr/>
        <p:txBody>
          <a:bodyPr/>
          <a:lstStyle/>
          <a:p>
            <a:fld id="{E4C93EEE-D9EF-405B-B243-0BB37BF794C7}" type="datetime1">
              <a:rPr lang="en-US" smtClean="0"/>
              <a:t>8/5/2025</a:t>
            </a:fld>
            <a:endParaRPr lang="en-US"/>
          </a:p>
        </p:txBody>
      </p:sp>
      <p:sp>
        <p:nvSpPr>
          <p:cNvPr id="5" name="Slide Number Placeholder 4">
            <a:extLst>
              <a:ext uri="{FF2B5EF4-FFF2-40B4-BE49-F238E27FC236}">
                <a16:creationId xmlns:a16="http://schemas.microsoft.com/office/drawing/2014/main" id="{AF072CC0-5A19-4964-9F62-D555CE7BB31B}"/>
              </a:ext>
            </a:extLst>
          </p:cNvPr>
          <p:cNvSpPr>
            <a:spLocks noGrp="1"/>
          </p:cNvSpPr>
          <p:nvPr>
            <p:ph type="sldNum" sz="quarter" idx="12"/>
          </p:nvPr>
        </p:nvSpPr>
        <p:spPr/>
        <p:txBody>
          <a:bodyPr/>
          <a:lstStyle/>
          <a:p>
            <a:fld id="{330EA680-D336-4FF7-8B7A-9848BB0A1C32}" type="slidenum">
              <a:rPr lang="en-US" smtClean="0"/>
              <a:t>67</a:t>
            </a:fld>
            <a:endParaRPr lang="en-US"/>
          </a:p>
        </p:txBody>
      </p:sp>
      <p:pic>
        <p:nvPicPr>
          <p:cNvPr id="6" name="Picture 5">
            <a:extLst>
              <a:ext uri="{FF2B5EF4-FFF2-40B4-BE49-F238E27FC236}">
                <a16:creationId xmlns:a16="http://schemas.microsoft.com/office/drawing/2014/main" id="{EC2FF4CF-7AB3-4F53-994E-B2120761038E}"/>
              </a:ext>
            </a:extLst>
          </p:cNvPr>
          <p:cNvPicPr>
            <a:picLocks noChangeAspect="1"/>
          </p:cNvPicPr>
          <p:nvPr/>
        </p:nvPicPr>
        <p:blipFill>
          <a:blip r:embed="rId2"/>
          <a:stretch>
            <a:fillRect/>
          </a:stretch>
        </p:blipFill>
        <p:spPr>
          <a:xfrm>
            <a:off x="3684712" y="3634617"/>
            <a:ext cx="6203206" cy="2440277"/>
          </a:xfrm>
          <a:prstGeom prst="rect">
            <a:avLst/>
          </a:prstGeom>
        </p:spPr>
      </p:pic>
    </p:spTree>
    <p:extLst>
      <p:ext uri="{BB962C8B-B14F-4D97-AF65-F5344CB8AC3E}">
        <p14:creationId xmlns:p14="http://schemas.microsoft.com/office/powerpoint/2010/main" val="392090704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422095"/>
          </a:xfrm>
        </p:spPr>
        <p:txBody>
          <a:bodyPr>
            <a:normAutofit fontScale="90000"/>
          </a:bodyPr>
          <a:lstStyle/>
          <a:p>
            <a:endParaRPr lang="en-IN" dirty="0"/>
          </a:p>
        </p:txBody>
      </p:sp>
      <p:sp>
        <p:nvSpPr>
          <p:cNvPr id="3" name="Content Placeholder 2"/>
          <p:cNvSpPr>
            <a:spLocks noGrp="1"/>
          </p:cNvSpPr>
          <p:nvPr>
            <p:ph idx="1"/>
          </p:nvPr>
        </p:nvSpPr>
        <p:spPr>
          <a:xfrm>
            <a:off x="1655805" y="1293341"/>
            <a:ext cx="9848807" cy="4617881"/>
          </a:xfrm>
        </p:spPr>
        <p:txBody>
          <a:bodyPr>
            <a:normAutofit/>
          </a:bodyPr>
          <a:lstStyle/>
          <a:p>
            <a:pPr algn="just">
              <a:buFont typeface="+mj-lt"/>
              <a:buAutoNum type="arabicPeriod" startAt="4"/>
            </a:pPr>
            <a:r>
              <a:rPr lang="en-US" sz="2000" dirty="0"/>
              <a:t>Because the components are sorted in decreasing order of “signiﬁcance”, the data size can be reduced by eliminating the weaker components, that is, those with low variance. Using the strongest principal components, it should be possible to reconstruct a good approximation of the original data.</a:t>
            </a:r>
          </a:p>
          <a:p>
            <a:pPr algn="just"/>
            <a:r>
              <a:rPr lang="en-US" sz="2000" dirty="0"/>
              <a:t>PCA can be applied to ordered and unordered attributes, and can handle sparse data and skewed data. </a:t>
            </a:r>
          </a:p>
          <a:p>
            <a:pPr algn="just"/>
            <a:r>
              <a:rPr lang="en-US" sz="2000" dirty="0"/>
              <a:t>Principal components may be used as inputs to multiple regression and cluster analysis.</a:t>
            </a:r>
          </a:p>
          <a:p>
            <a:pPr algn="just"/>
            <a:r>
              <a:rPr lang="en-US" sz="2000" dirty="0"/>
              <a:t> In comparison with wavelet transforms, PCA tends to be better at handling sparse data, whereas wavelet transforms are more suitable for data of high dimensionality.</a:t>
            </a:r>
          </a:p>
          <a:p>
            <a:endParaRPr lang="en-IN" dirty="0"/>
          </a:p>
        </p:txBody>
      </p:sp>
      <p:sp>
        <p:nvSpPr>
          <p:cNvPr id="4" name="Date Placeholder 3">
            <a:extLst>
              <a:ext uri="{FF2B5EF4-FFF2-40B4-BE49-F238E27FC236}">
                <a16:creationId xmlns:a16="http://schemas.microsoft.com/office/drawing/2014/main" id="{CAC49CB1-A763-4540-B92D-A71DAC4DE159}"/>
              </a:ext>
            </a:extLst>
          </p:cNvPr>
          <p:cNvSpPr>
            <a:spLocks noGrp="1"/>
          </p:cNvSpPr>
          <p:nvPr>
            <p:ph type="dt" sz="half" idx="10"/>
          </p:nvPr>
        </p:nvSpPr>
        <p:spPr/>
        <p:txBody>
          <a:bodyPr/>
          <a:lstStyle/>
          <a:p>
            <a:fld id="{2692F3F6-FB2E-4F9D-A849-88D5A65B53A2}" type="datetime1">
              <a:rPr lang="en-US" smtClean="0"/>
              <a:t>8/5/2025</a:t>
            </a:fld>
            <a:endParaRPr lang="en-US"/>
          </a:p>
        </p:txBody>
      </p:sp>
      <p:sp>
        <p:nvSpPr>
          <p:cNvPr id="5" name="Slide Number Placeholder 4">
            <a:extLst>
              <a:ext uri="{FF2B5EF4-FFF2-40B4-BE49-F238E27FC236}">
                <a16:creationId xmlns:a16="http://schemas.microsoft.com/office/drawing/2014/main" id="{958C97A2-7671-4F13-A742-AB068F7A9D04}"/>
              </a:ext>
            </a:extLst>
          </p:cNvPr>
          <p:cNvSpPr>
            <a:spLocks noGrp="1"/>
          </p:cNvSpPr>
          <p:nvPr>
            <p:ph type="sldNum" sz="quarter" idx="12"/>
          </p:nvPr>
        </p:nvSpPr>
        <p:spPr/>
        <p:txBody>
          <a:bodyPr/>
          <a:lstStyle/>
          <a:p>
            <a:fld id="{330EA680-D336-4FF7-8B7A-9848BB0A1C32}" type="slidenum">
              <a:rPr lang="en-US" smtClean="0"/>
              <a:t>68</a:t>
            </a:fld>
            <a:endParaRPr lang="en-US"/>
          </a:p>
        </p:txBody>
      </p:sp>
    </p:spTree>
    <p:extLst>
      <p:ext uri="{BB962C8B-B14F-4D97-AF65-F5344CB8AC3E}">
        <p14:creationId xmlns:p14="http://schemas.microsoft.com/office/powerpoint/2010/main" val="62998758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422095"/>
          </a:xfrm>
        </p:spPr>
        <p:txBody>
          <a:bodyPr>
            <a:normAutofit fontScale="90000"/>
          </a:bodyPr>
          <a:lstStyle/>
          <a:p>
            <a:endParaRPr lang="en-IN" dirty="0"/>
          </a:p>
        </p:txBody>
      </p:sp>
      <p:sp>
        <p:nvSpPr>
          <p:cNvPr id="3" name="Content Placeholder 2"/>
          <p:cNvSpPr>
            <a:spLocks noGrp="1"/>
          </p:cNvSpPr>
          <p:nvPr>
            <p:ph idx="1"/>
          </p:nvPr>
        </p:nvSpPr>
        <p:spPr>
          <a:xfrm>
            <a:off x="1178011" y="1276865"/>
            <a:ext cx="10326601" cy="4634357"/>
          </a:xfrm>
        </p:spPr>
        <p:txBody>
          <a:bodyPr>
            <a:normAutofit/>
          </a:bodyPr>
          <a:lstStyle/>
          <a:p>
            <a:pPr algn="just"/>
            <a:r>
              <a:rPr lang="en-US" sz="2000" b="1" dirty="0"/>
              <a:t>Attribute Subset Selection</a:t>
            </a:r>
          </a:p>
          <a:p>
            <a:pPr algn="just"/>
            <a:r>
              <a:rPr lang="en-US" sz="2000" dirty="0"/>
              <a:t>Data sets for analysis may contain hundreds of attributes, many of which may be irrelevant to the mining task or redundant. </a:t>
            </a:r>
          </a:p>
          <a:p>
            <a:pPr algn="just"/>
            <a:r>
              <a:rPr lang="en-US" sz="2000" dirty="0"/>
              <a:t>For example, if the task is to classify customers based on whether or not they are likely to purchase a popular new CD at </a:t>
            </a:r>
            <a:r>
              <a:rPr lang="en-US" sz="2000" dirty="0" err="1"/>
              <a:t>AllElectronics</a:t>
            </a:r>
            <a:r>
              <a:rPr lang="en-US" sz="2000" dirty="0"/>
              <a:t> when notiﬁed of a sale, attributes such as the customer’s telephone number are likely to be irrelevant, unlike attributes such as age or music taste.</a:t>
            </a:r>
          </a:p>
          <a:p>
            <a:pPr algn="just"/>
            <a:r>
              <a:rPr lang="en-US" sz="2000" dirty="0"/>
              <a:t>Although it may be possible for a domain expert to pick out some of the useful attributes, this can be a difﬁcult and time consuming task, especially when the data’s behavior is not well known.</a:t>
            </a:r>
          </a:p>
        </p:txBody>
      </p:sp>
      <p:sp>
        <p:nvSpPr>
          <p:cNvPr id="4" name="Date Placeholder 3">
            <a:extLst>
              <a:ext uri="{FF2B5EF4-FFF2-40B4-BE49-F238E27FC236}">
                <a16:creationId xmlns:a16="http://schemas.microsoft.com/office/drawing/2014/main" id="{AE343C87-66A3-4280-A105-80EE92B64690}"/>
              </a:ext>
            </a:extLst>
          </p:cNvPr>
          <p:cNvSpPr>
            <a:spLocks noGrp="1"/>
          </p:cNvSpPr>
          <p:nvPr>
            <p:ph type="dt" sz="half" idx="10"/>
          </p:nvPr>
        </p:nvSpPr>
        <p:spPr/>
        <p:txBody>
          <a:bodyPr/>
          <a:lstStyle/>
          <a:p>
            <a:fld id="{A982F7C7-CFA5-4E70-BFED-C10FAD294C5F}" type="datetime1">
              <a:rPr lang="en-US" smtClean="0"/>
              <a:t>8/5/2025</a:t>
            </a:fld>
            <a:endParaRPr lang="en-US"/>
          </a:p>
        </p:txBody>
      </p:sp>
      <p:sp>
        <p:nvSpPr>
          <p:cNvPr id="5" name="Slide Number Placeholder 4">
            <a:extLst>
              <a:ext uri="{FF2B5EF4-FFF2-40B4-BE49-F238E27FC236}">
                <a16:creationId xmlns:a16="http://schemas.microsoft.com/office/drawing/2014/main" id="{90C3D2AC-8467-44EB-B736-A83D4769E623}"/>
              </a:ext>
            </a:extLst>
          </p:cNvPr>
          <p:cNvSpPr>
            <a:spLocks noGrp="1"/>
          </p:cNvSpPr>
          <p:nvPr>
            <p:ph type="sldNum" sz="quarter" idx="12"/>
          </p:nvPr>
        </p:nvSpPr>
        <p:spPr/>
        <p:txBody>
          <a:bodyPr/>
          <a:lstStyle/>
          <a:p>
            <a:fld id="{330EA680-D336-4FF7-8B7A-9848BB0A1C32}" type="slidenum">
              <a:rPr lang="en-US" smtClean="0"/>
              <a:t>69</a:t>
            </a:fld>
            <a:endParaRPr lang="en-US"/>
          </a:p>
        </p:txBody>
      </p:sp>
    </p:spTree>
    <p:extLst>
      <p:ext uri="{BB962C8B-B14F-4D97-AF65-F5344CB8AC3E}">
        <p14:creationId xmlns:p14="http://schemas.microsoft.com/office/powerpoint/2010/main" val="238337212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C5B49-B5FC-4666-BAD3-018E7404AB11}"/>
              </a:ext>
            </a:extLst>
          </p:cNvPr>
          <p:cNvSpPr>
            <a:spLocks noGrp="1"/>
          </p:cNvSpPr>
          <p:nvPr>
            <p:ph type="title"/>
          </p:nvPr>
        </p:nvSpPr>
        <p:spPr>
          <a:xfrm>
            <a:off x="2592925" y="624110"/>
            <a:ext cx="8911687" cy="322668"/>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8D102EFE-C5F8-41C0-902A-ED17271E2B5F}"/>
              </a:ext>
            </a:extLst>
          </p:cNvPr>
          <p:cNvSpPr>
            <a:spLocks noGrp="1"/>
          </p:cNvSpPr>
          <p:nvPr>
            <p:ph idx="1"/>
          </p:nvPr>
        </p:nvSpPr>
        <p:spPr>
          <a:xfrm>
            <a:off x="1139483" y="1280160"/>
            <a:ext cx="10365129" cy="4631062"/>
          </a:xfrm>
        </p:spPr>
        <p:txBody>
          <a:bodyPr>
            <a:normAutofit lnSpcReduction="10000"/>
          </a:bodyPr>
          <a:lstStyle/>
          <a:p>
            <a:pPr algn="just"/>
            <a:r>
              <a:rPr lang="en-US" sz="2000" dirty="0"/>
              <a:t>Leaving out relevant attributes or keeping irrelevant attributes may be detrimental(harmful), causing confusion for the mining algorithm employed. </a:t>
            </a:r>
          </a:p>
          <a:p>
            <a:pPr algn="just"/>
            <a:r>
              <a:rPr lang="en-US" sz="2000" dirty="0"/>
              <a:t>This can result in discovered patterns of poor quality. </a:t>
            </a:r>
          </a:p>
          <a:p>
            <a:pPr algn="just"/>
            <a:r>
              <a:rPr lang="en-US" sz="2000" dirty="0"/>
              <a:t>In addition, the added volume of irrelevant or redundant attributes can slow down the mining process.</a:t>
            </a:r>
          </a:p>
          <a:p>
            <a:pPr algn="just"/>
            <a:r>
              <a:rPr lang="en-US" sz="2000" dirty="0"/>
              <a:t>Attribute subset selection reduces the data set size by removing irrelevant or redundant attributes (or dimensions). </a:t>
            </a:r>
          </a:p>
          <a:p>
            <a:pPr algn="just"/>
            <a:r>
              <a:rPr lang="en-US" sz="2000" dirty="0"/>
              <a:t>The goal of attribute subset selection is to ﬁnd a minimum set of attributes such that the resulting probability distribution of the data classes is as close as possible to the original distribution obtained using all attributes. </a:t>
            </a:r>
          </a:p>
          <a:p>
            <a:pPr algn="just"/>
            <a:r>
              <a:rPr lang="en-US" sz="2000" dirty="0"/>
              <a:t>Mining on a reduced set of attributes has an additional beneﬁt: It reduces the number of attributes appearing in the discovered patterns, helping to make the patterns easier to understand. </a:t>
            </a:r>
          </a:p>
          <a:p>
            <a:pPr algn="just"/>
            <a:endParaRPr lang="en-US" sz="2000" dirty="0"/>
          </a:p>
          <a:p>
            <a:pPr algn="just"/>
            <a:endParaRPr lang="en-IN" sz="2000" dirty="0"/>
          </a:p>
          <a:p>
            <a:endParaRPr lang="en-US" dirty="0"/>
          </a:p>
        </p:txBody>
      </p:sp>
      <p:sp>
        <p:nvSpPr>
          <p:cNvPr id="4" name="Date Placeholder 3">
            <a:extLst>
              <a:ext uri="{FF2B5EF4-FFF2-40B4-BE49-F238E27FC236}">
                <a16:creationId xmlns:a16="http://schemas.microsoft.com/office/drawing/2014/main" id="{12CF6AC6-1321-484D-BE4B-67CD2236F886}"/>
              </a:ext>
            </a:extLst>
          </p:cNvPr>
          <p:cNvSpPr>
            <a:spLocks noGrp="1"/>
          </p:cNvSpPr>
          <p:nvPr>
            <p:ph type="dt" sz="half" idx="10"/>
          </p:nvPr>
        </p:nvSpPr>
        <p:spPr/>
        <p:txBody>
          <a:bodyPr/>
          <a:lstStyle/>
          <a:p>
            <a:fld id="{E4C93EEE-D9EF-405B-B243-0BB37BF794C7}" type="datetime1">
              <a:rPr lang="en-US" smtClean="0"/>
              <a:t>8/5/2025</a:t>
            </a:fld>
            <a:endParaRPr lang="en-US"/>
          </a:p>
        </p:txBody>
      </p:sp>
      <p:sp>
        <p:nvSpPr>
          <p:cNvPr id="5" name="Slide Number Placeholder 4">
            <a:extLst>
              <a:ext uri="{FF2B5EF4-FFF2-40B4-BE49-F238E27FC236}">
                <a16:creationId xmlns:a16="http://schemas.microsoft.com/office/drawing/2014/main" id="{9371B9C4-13CE-4C0B-BA54-3FD2689D9F8C}"/>
              </a:ext>
            </a:extLst>
          </p:cNvPr>
          <p:cNvSpPr>
            <a:spLocks noGrp="1"/>
          </p:cNvSpPr>
          <p:nvPr>
            <p:ph type="sldNum" sz="quarter" idx="12"/>
          </p:nvPr>
        </p:nvSpPr>
        <p:spPr/>
        <p:txBody>
          <a:bodyPr/>
          <a:lstStyle/>
          <a:p>
            <a:fld id="{330EA680-D336-4FF7-8B7A-9848BB0A1C32}" type="slidenum">
              <a:rPr lang="en-US" smtClean="0"/>
              <a:t>70</a:t>
            </a:fld>
            <a:endParaRPr lang="en-US"/>
          </a:p>
        </p:txBody>
      </p:sp>
    </p:spTree>
    <p:extLst>
      <p:ext uri="{BB962C8B-B14F-4D97-AF65-F5344CB8AC3E}">
        <p14:creationId xmlns:p14="http://schemas.microsoft.com/office/powerpoint/2010/main" val="381282034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389144"/>
          </a:xfrm>
        </p:spPr>
        <p:txBody>
          <a:bodyPr>
            <a:normAutofit fontScale="90000"/>
          </a:bodyPr>
          <a:lstStyle/>
          <a:p>
            <a:endParaRPr lang="en-IN" dirty="0"/>
          </a:p>
        </p:txBody>
      </p:sp>
      <p:sp>
        <p:nvSpPr>
          <p:cNvPr id="3" name="Content Placeholder 2"/>
          <p:cNvSpPr>
            <a:spLocks noGrp="1"/>
          </p:cNvSpPr>
          <p:nvPr>
            <p:ph idx="1"/>
          </p:nvPr>
        </p:nvSpPr>
        <p:spPr>
          <a:xfrm>
            <a:off x="1202724" y="1326292"/>
            <a:ext cx="10301888" cy="4584930"/>
          </a:xfrm>
        </p:spPr>
        <p:txBody>
          <a:bodyPr>
            <a:noAutofit/>
          </a:bodyPr>
          <a:lstStyle/>
          <a:p>
            <a:pPr algn="just"/>
            <a:r>
              <a:rPr lang="en-US" sz="2000" dirty="0"/>
              <a:t>“How can we ﬁnd a ‘good’ subset of the original attributes?” </a:t>
            </a:r>
          </a:p>
          <a:p>
            <a:pPr algn="just"/>
            <a:r>
              <a:rPr lang="en-US" sz="2000" dirty="0"/>
              <a:t>For n attributes, there are 2</a:t>
            </a:r>
            <a:r>
              <a:rPr lang="en-US" sz="2000" baseline="30000" dirty="0"/>
              <a:t>n</a:t>
            </a:r>
            <a:r>
              <a:rPr lang="en-US" sz="2000" dirty="0"/>
              <a:t> possible subsets.</a:t>
            </a:r>
          </a:p>
          <a:p>
            <a:pPr algn="just"/>
            <a:r>
              <a:rPr lang="en-US" sz="2000" dirty="0"/>
              <a:t>An exhaustive search for the optimal subset of attributes can be prohibitively expensive, especially as n and the number of data classes increase. </a:t>
            </a:r>
          </a:p>
          <a:p>
            <a:pPr algn="just"/>
            <a:r>
              <a:rPr lang="en-US" sz="2000" dirty="0"/>
              <a:t>Therefore, heuristic methods that explore a reduced search space are commonly used for attribute subset selection. </a:t>
            </a:r>
          </a:p>
          <a:p>
            <a:pPr algn="just"/>
            <a:r>
              <a:rPr lang="en-US" sz="2000" dirty="0"/>
              <a:t>The “best” (and “worst”) attributes are typically determined using tests of statistical signiﬁcance, which assume that the attributes are independent of one another. </a:t>
            </a:r>
          </a:p>
          <a:p>
            <a:pPr algn="just"/>
            <a:r>
              <a:rPr lang="en-US" sz="2000" dirty="0"/>
              <a:t>Many other attribute evaluation measures can be used such as the information gain and Gini index measures used in building decision trees for classiﬁcation. </a:t>
            </a:r>
          </a:p>
          <a:p>
            <a:pPr algn="just"/>
            <a:endParaRPr lang="en-US" sz="2000" dirty="0"/>
          </a:p>
        </p:txBody>
      </p:sp>
      <p:sp>
        <p:nvSpPr>
          <p:cNvPr id="4" name="Date Placeholder 3">
            <a:extLst>
              <a:ext uri="{FF2B5EF4-FFF2-40B4-BE49-F238E27FC236}">
                <a16:creationId xmlns:a16="http://schemas.microsoft.com/office/drawing/2014/main" id="{AEC337FE-3DC8-424C-A844-D1728A61B526}"/>
              </a:ext>
            </a:extLst>
          </p:cNvPr>
          <p:cNvSpPr>
            <a:spLocks noGrp="1"/>
          </p:cNvSpPr>
          <p:nvPr>
            <p:ph type="dt" sz="half" idx="10"/>
          </p:nvPr>
        </p:nvSpPr>
        <p:spPr/>
        <p:txBody>
          <a:bodyPr/>
          <a:lstStyle/>
          <a:p>
            <a:fld id="{F07BFD9C-AB7D-4348-AA24-0E663B9466D2}" type="datetime1">
              <a:rPr lang="en-US" smtClean="0"/>
              <a:t>8/5/2025</a:t>
            </a:fld>
            <a:endParaRPr lang="en-US"/>
          </a:p>
        </p:txBody>
      </p:sp>
      <p:sp>
        <p:nvSpPr>
          <p:cNvPr id="5" name="Slide Number Placeholder 4">
            <a:extLst>
              <a:ext uri="{FF2B5EF4-FFF2-40B4-BE49-F238E27FC236}">
                <a16:creationId xmlns:a16="http://schemas.microsoft.com/office/drawing/2014/main" id="{6A68F091-5384-4D16-971A-081259B080D6}"/>
              </a:ext>
            </a:extLst>
          </p:cNvPr>
          <p:cNvSpPr>
            <a:spLocks noGrp="1"/>
          </p:cNvSpPr>
          <p:nvPr>
            <p:ph type="sldNum" sz="quarter" idx="12"/>
          </p:nvPr>
        </p:nvSpPr>
        <p:spPr/>
        <p:txBody>
          <a:bodyPr/>
          <a:lstStyle/>
          <a:p>
            <a:fld id="{330EA680-D336-4FF7-8B7A-9848BB0A1C32}" type="slidenum">
              <a:rPr lang="en-US" smtClean="0"/>
              <a:t>71</a:t>
            </a:fld>
            <a:endParaRPr lang="en-US"/>
          </a:p>
        </p:txBody>
      </p:sp>
    </p:spTree>
    <p:extLst>
      <p:ext uri="{BB962C8B-B14F-4D97-AF65-F5344CB8AC3E}">
        <p14:creationId xmlns:p14="http://schemas.microsoft.com/office/powerpoint/2010/main" val="418198049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BD15F-E8EB-447E-A36A-6213AB71A08D}"/>
              </a:ext>
            </a:extLst>
          </p:cNvPr>
          <p:cNvSpPr>
            <a:spLocks noGrp="1"/>
          </p:cNvSpPr>
          <p:nvPr>
            <p:ph type="title"/>
          </p:nvPr>
        </p:nvSpPr>
        <p:spPr>
          <a:xfrm>
            <a:off x="2592925" y="624110"/>
            <a:ext cx="8911687" cy="365125"/>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B40C84BB-7E0A-4A52-9043-DDE443C5865F}"/>
              </a:ext>
            </a:extLst>
          </p:cNvPr>
          <p:cNvSpPr>
            <a:spLocks noGrp="1"/>
          </p:cNvSpPr>
          <p:nvPr>
            <p:ph idx="1"/>
          </p:nvPr>
        </p:nvSpPr>
        <p:spPr>
          <a:xfrm>
            <a:off x="1311579" y="1350498"/>
            <a:ext cx="10193033" cy="4560724"/>
          </a:xfrm>
        </p:spPr>
        <p:txBody>
          <a:bodyPr/>
          <a:lstStyle/>
          <a:p>
            <a:r>
              <a:rPr lang="en-US" sz="2000" dirty="0"/>
              <a:t>Basic heuristic methods of attribute subset selection include the techniques that follow, some of which are illustrated in Figure below.</a:t>
            </a:r>
          </a:p>
          <a:p>
            <a:endParaRPr lang="en-US" sz="2000" dirty="0"/>
          </a:p>
          <a:p>
            <a:endParaRPr lang="en-US" dirty="0"/>
          </a:p>
        </p:txBody>
      </p:sp>
      <p:sp>
        <p:nvSpPr>
          <p:cNvPr id="4" name="Date Placeholder 3">
            <a:extLst>
              <a:ext uri="{FF2B5EF4-FFF2-40B4-BE49-F238E27FC236}">
                <a16:creationId xmlns:a16="http://schemas.microsoft.com/office/drawing/2014/main" id="{4049F836-3DC0-4EE5-8559-0538AC74EFD0}"/>
              </a:ext>
            </a:extLst>
          </p:cNvPr>
          <p:cNvSpPr>
            <a:spLocks noGrp="1"/>
          </p:cNvSpPr>
          <p:nvPr>
            <p:ph type="dt" sz="half" idx="10"/>
          </p:nvPr>
        </p:nvSpPr>
        <p:spPr/>
        <p:txBody>
          <a:bodyPr/>
          <a:lstStyle/>
          <a:p>
            <a:fld id="{E4C93EEE-D9EF-405B-B243-0BB37BF794C7}" type="datetime1">
              <a:rPr lang="en-US" smtClean="0"/>
              <a:t>8/5/2025</a:t>
            </a:fld>
            <a:endParaRPr lang="en-US"/>
          </a:p>
        </p:txBody>
      </p:sp>
      <p:sp>
        <p:nvSpPr>
          <p:cNvPr id="5" name="Slide Number Placeholder 4">
            <a:extLst>
              <a:ext uri="{FF2B5EF4-FFF2-40B4-BE49-F238E27FC236}">
                <a16:creationId xmlns:a16="http://schemas.microsoft.com/office/drawing/2014/main" id="{60482EA6-1837-4117-A574-3E0DED5402CD}"/>
              </a:ext>
            </a:extLst>
          </p:cNvPr>
          <p:cNvSpPr>
            <a:spLocks noGrp="1"/>
          </p:cNvSpPr>
          <p:nvPr>
            <p:ph type="sldNum" sz="quarter" idx="12"/>
          </p:nvPr>
        </p:nvSpPr>
        <p:spPr/>
        <p:txBody>
          <a:bodyPr/>
          <a:lstStyle/>
          <a:p>
            <a:fld id="{330EA680-D336-4FF7-8B7A-9848BB0A1C32}" type="slidenum">
              <a:rPr lang="en-US" smtClean="0"/>
              <a:t>72</a:t>
            </a:fld>
            <a:endParaRPr lang="en-US"/>
          </a:p>
        </p:txBody>
      </p:sp>
      <p:pic>
        <p:nvPicPr>
          <p:cNvPr id="6" name="Content Placeholder 5">
            <a:extLst>
              <a:ext uri="{FF2B5EF4-FFF2-40B4-BE49-F238E27FC236}">
                <a16:creationId xmlns:a16="http://schemas.microsoft.com/office/drawing/2014/main" id="{39608AF6-3986-4BBE-BB3D-DC51ED36526B}"/>
              </a:ext>
            </a:extLst>
          </p:cNvPr>
          <p:cNvPicPr>
            <a:picLocks noChangeAspect="1"/>
          </p:cNvPicPr>
          <p:nvPr/>
        </p:nvPicPr>
        <p:blipFill>
          <a:blip r:embed="rId2"/>
          <a:stretch>
            <a:fillRect/>
          </a:stretch>
        </p:blipFill>
        <p:spPr>
          <a:xfrm>
            <a:off x="2592925" y="2240209"/>
            <a:ext cx="7604960" cy="3890227"/>
          </a:xfrm>
          <a:prstGeom prst="rect">
            <a:avLst/>
          </a:prstGeom>
        </p:spPr>
      </p:pic>
    </p:spTree>
    <p:extLst>
      <p:ext uri="{BB962C8B-B14F-4D97-AF65-F5344CB8AC3E}">
        <p14:creationId xmlns:p14="http://schemas.microsoft.com/office/powerpoint/2010/main" val="115108370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86249" y="1420837"/>
            <a:ext cx="10318363" cy="4490385"/>
          </a:xfrm>
        </p:spPr>
        <p:txBody>
          <a:bodyPr>
            <a:normAutofit/>
          </a:bodyPr>
          <a:lstStyle/>
          <a:p>
            <a:pPr algn="just">
              <a:buFont typeface="+mj-lt"/>
              <a:buAutoNum type="arabicPeriod"/>
            </a:pPr>
            <a:r>
              <a:rPr lang="en-US" sz="2000" dirty="0"/>
              <a:t>Stepwise forward selection: The procedure starts with an empty set of attributes as the reduced set. The best of the original attributes is determined and added to the reduced set. At each subsequent iteration or step, the best of the remaining original attributes is added to the set.</a:t>
            </a:r>
          </a:p>
          <a:p>
            <a:pPr algn="just">
              <a:buFont typeface="+mj-lt"/>
              <a:buAutoNum type="arabicPeriod"/>
            </a:pPr>
            <a:r>
              <a:rPr lang="en-US" sz="2000" dirty="0"/>
              <a:t>Stepwise backward elimination: The procedure starts with the full set of attributes. At each step, it removes the worst attribute remaining in the set. </a:t>
            </a:r>
          </a:p>
          <a:p>
            <a:pPr algn="just">
              <a:buFont typeface="+mj-lt"/>
              <a:buAutoNum type="arabicPeriod"/>
            </a:pPr>
            <a:r>
              <a:rPr lang="en-US" sz="2000" dirty="0"/>
              <a:t>Combination of forward selection and backward elimination: The stepwise forward selection and backward elimination methods can be combined so that, at each step, the procedure selects the best attribute and removes the worst from among the remaining attributes.</a:t>
            </a:r>
          </a:p>
          <a:p>
            <a:pPr marL="0" indent="0">
              <a:buNone/>
            </a:pPr>
            <a:endParaRPr lang="en-IN" dirty="0"/>
          </a:p>
        </p:txBody>
      </p:sp>
      <p:sp>
        <p:nvSpPr>
          <p:cNvPr id="4" name="Date Placeholder 3">
            <a:extLst>
              <a:ext uri="{FF2B5EF4-FFF2-40B4-BE49-F238E27FC236}">
                <a16:creationId xmlns:a16="http://schemas.microsoft.com/office/drawing/2014/main" id="{07A2A50A-BC97-4B25-9112-002A6172B1C3}"/>
              </a:ext>
            </a:extLst>
          </p:cNvPr>
          <p:cNvSpPr>
            <a:spLocks noGrp="1"/>
          </p:cNvSpPr>
          <p:nvPr>
            <p:ph type="dt" sz="half" idx="10"/>
          </p:nvPr>
        </p:nvSpPr>
        <p:spPr/>
        <p:txBody>
          <a:bodyPr/>
          <a:lstStyle/>
          <a:p>
            <a:fld id="{0C7AA2CD-39F9-497D-BE19-0B438836E244}" type="datetime1">
              <a:rPr lang="en-US" smtClean="0"/>
              <a:t>8/5/2025</a:t>
            </a:fld>
            <a:endParaRPr lang="en-US"/>
          </a:p>
        </p:txBody>
      </p:sp>
      <p:sp>
        <p:nvSpPr>
          <p:cNvPr id="5" name="Slide Number Placeholder 4">
            <a:extLst>
              <a:ext uri="{FF2B5EF4-FFF2-40B4-BE49-F238E27FC236}">
                <a16:creationId xmlns:a16="http://schemas.microsoft.com/office/drawing/2014/main" id="{A1171508-8D83-4C13-BED8-9E579E8797F4}"/>
              </a:ext>
            </a:extLst>
          </p:cNvPr>
          <p:cNvSpPr>
            <a:spLocks noGrp="1"/>
          </p:cNvSpPr>
          <p:nvPr>
            <p:ph type="sldNum" sz="quarter" idx="12"/>
          </p:nvPr>
        </p:nvSpPr>
        <p:spPr/>
        <p:txBody>
          <a:bodyPr/>
          <a:lstStyle/>
          <a:p>
            <a:fld id="{330EA680-D336-4FF7-8B7A-9848BB0A1C32}" type="slidenum">
              <a:rPr lang="en-US" smtClean="0"/>
              <a:t>73</a:t>
            </a:fld>
            <a:endParaRPr lang="en-US"/>
          </a:p>
        </p:txBody>
      </p:sp>
    </p:spTree>
    <p:extLst>
      <p:ext uri="{BB962C8B-B14F-4D97-AF65-F5344CB8AC3E}">
        <p14:creationId xmlns:p14="http://schemas.microsoft.com/office/powerpoint/2010/main" val="330768445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23E1A-1869-465C-9671-D41CD8E0EE58}"/>
              </a:ext>
            </a:extLst>
          </p:cNvPr>
          <p:cNvSpPr>
            <a:spLocks noGrp="1"/>
          </p:cNvSpPr>
          <p:nvPr>
            <p:ph type="title"/>
          </p:nvPr>
        </p:nvSpPr>
        <p:spPr>
          <a:xfrm>
            <a:off x="2592925" y="624110"/>
            <a:ext cx="8911687" cy="365125"/>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9A9AE3C3-6E72-44A7-9D03-5940D91A2497}"/>
              </a:ext>
            </a:extLst>
          </p:cNvPr>
          <p:cNvSpPr>
            <a:spLocks noGrp="1"/>
          </p:cNvSpPr>
          <p:nvPr>
            <p:ph idx="1"/>
          </p:nvPr>
        </p:nvSpPr>
        <p:spPr>
          <a:xfrm>
            <a:off x="1311579" y="1463040"/>
            <a:ext cx="10193033" cy="4448182"/>
          </a:xfrm>
        </p:spPr>
        <p:txBody>
          <a:bodyPr/>
          <a:lstStyle/>
          <a:p>
            <a:pPr algn="just">
              <a:buFont typeface="+mj-lt"/>
              <a:buAutoNum type="arabicPeriod" startAt="4"/>
            </a:pPr>
            <a:r>
              <a:rPr lang="en-US" sz="2000" dirty="0"/>
              <a:t>Decision tree induction: Decision tree algorithms (e.g., ID3, C4.5, and CART) were originally intended for classiﬁcation. Decision tree induction constructs a ﬂowchart like structure where each internal (</a:t>
            </a:r>
            <a:r>
              <a:rPr lang="en-US" sz="2000" dirty="0" err="1"/>
              <a:t>nonleaf</a:t>
            </a:r>
            <a:r>
              <a:rPr lang="en-US" sz="2000" dirty="0"/>
              <a:t>) node denotes a test on an attribute, each branch corresponds to an outcome of the test, and each external(leaf)node denotes a class prediction. At each node, the algorithm chooses the “best” attribute to partition the data into individual classes. When decision tree induction is used for attribute subset selection, a tree is constructed from the given data. All attributes that do not appear in the tree are assumed to be irrelevant. The set of attributes appearing in the tree form the reduced subset of attributes.</a:t>
            </a:r>
          </a:p>
          <a:p>
            <a:endParaRPr lang="en-US" dirty="0"/>
          </a:p>
        </p:txBody>
      </p:sp>
      <p:sp>
        <p:nvSpPr>
          <p:cNvPr id="4" name="Date Placeholder 3">
            <a:extLst>
              <a:ext uri="{FF2B5EF4-FFF2-40B4-BE49-F238E27FC236}">
                <a16:creationId xmlns:a16="http://schemas.microsoft.com/office/drawing/2014/main" id="{C8CB6DCD-4C7D-4DF4-A2D3-50D93DDE85EF}"/>
              </a:ext>
            </a:extLst>
          </p:cNvPr>
          <p:cNvSpPr>
            <a:spLocks noGrp="1"/>
          </p:cNvSpPr>
          <p:nvPr>
            <p:ph type="dt" sz="half" idx="10"/>
          </p:nvPr>
        </p:nvSpPr>
        <p:spPr/>
        <p:txBody>
          <a:bodyPr/>
          <a:lstStyle/>
          <a:p>
            <a:fld id="{E4C93EEE-D9EF-405B-B243-0BB37BF794C7}" type="datetime1">
              <a:rPr lang="en-US" smtClean="0"/>
              <a:t>8/5/2025</a:t>
            </a:fld>
            <a:endParaRPr lang="en-US"/>
          </a:p>
        </p:txBody>
      </p:sp>
      <p:sp>
        <p:nvSpPr>
          <p:cNvPr id="5" name="Slide Number Placeholder 4">
            <a:extLst>
              <a:ext uri="{FF2B5EF4-FFF2-40B4-BE49-F238E27FC236}">
                <a16:creationId xmlns:a16="http://schemas.microsoft.com/office/drawing/2014/main" id="{11D13510-9C73-4493-B810-3CF5A8C07485}"/>
              </a:ext>
            </a:extLst>
          </p:cNvPr>
          <p:cNvSpPr>
            <a:spLocks noGrp="1"/>
          </p:cNvSpPr>
          <p:nvPr>
            <p:ph type="sldNum" sz="quarter" idx="12"/>
          </p:nvPr>
        </p:nvSpPr>
        <p:spPr/>
        <p:txBody>
          <a:bodyPr/>
          <a:lstStyle/>
          <a:p>
            <a:fld id="{330EA680-D336-4FF7-8B7A-9848BB0A1C32}" type="slidenum">
              <a:rPr lang="en-US" smtClean="0"/>
              <a:t>74</a:t>
            </a:fld>
            <a:endParaRPr lang="en-US"/>
          </a:p>
        </p:txBody>
      </p:sp>
    </p:spTree>
    <p:extLst>
      <p:ext uri="{BB962C8B-B14F-4D97-AF65-F5344CB8AC3E}">
        <p14:creationId xmlns:p14="http://schemas.microsoft.com/office/powerpoint/2010/main" val="129486663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446809"/>
          </a:xfrm>
        </p:spPr>
        <p:txBody>
          <a:bodyPr>
            <a:normAutofit fontScale="90000"/>
          </a:bodyPr>
          <a:lstStyle/>
          <a:p>
            <a:endParaRPr lang="en-IN" dirty="0"/>
          </a:p>
        </p:txBody>
      </p:sp>
      <p:sp>
        <p:nvSpPr>
          <p:cNvPr id="3" name="Content Placeholder 2"/>
          <p:cNvSpPr>
            <a:spLocks noGrp="1"/>
          </p:cNvSpPr>
          <p:nvPr>
            <p:ph idx="1"/>
          </p:nvPr>
        </p:nvSpPr>
        <p:spPr>
          <a:xfrm>
            <a:off x="1070919" y="1252151"/>
            <a:ext cx="10433693" cy="4659071"/>
          </a:xfrm>
        </p:spPr>
        <p:txBody>
          <a:bodyPr/>
          <a:lstStyle/>
          <a:p>
            <a:pPr algn="just"/>
            <a:r>
              <a:rPr lang="en-US" sz="2000" dirty="0"/>
              <a:t>The stopping criteria for the methods may vary. </a:t>
            </a:r>
          </a:p>
          <a:p>
            <a:pPr algn="just"/>
            <a:r>
              <a:rPr lang="en-US" sz="2000" dirty="0"/>
              <a:t>The procedure may employ a threshold on the measure used to determine when to stop the attribute selection process. </a:t>
            </a:r>
          </a:p>
          <a:p>
            <a:pPr algn="just"/>
            <a:r>
              <a:rPr lang="en-US" sz="2000" dirty="0"/>
              <a:t>In some cases, we may want to create new attributes based on others. </a:t>
            </a:r>
          </a:p>
          <a:p>
            <a:pPr algn="just"/>
            <a:r>
              <a:rPr lang="en-US" sz="2000" dirty="0"/>
              <a:t>Such attribute construction can help improve accuracy and understanding of structure in high dimensional data.</a:t>
            </a:r>
          </a:p>
          <a:p>
            <a:pPr algn="just"/>
            <a:r>
              <a:rPr lang="en-US" sz="2000" dirty="0"/>
              <a:t>For example, we may wish to add the attribute area based on the attributes height and width. </a:t>
            </a:r>
          </a:p>
          <a:p>
            <a:pPr algn="just"/>
            <a:r>
              <a:rPr lang="en-US" sz="2000" dirty="0"/>
              <a:t>By combining attributes, attribute construction can discover missing information about the relationships between data attributes that can be useful for knowledge discovery.</a:t>
            </a:r>
          </a:p>
          <a:p>
            <a:endParaRPr lang="en-IN" dirty="0"/>
          </a:p>
        </p:txBody>
      </p:sp>
      <p:sp>
        <p:nvSpPr>
          <p:cNvPr id="4" name="Date Placeholder 3">
            <a:extLst>
              <a:ext uri="{FF2B5EF4-FFF2-40B4-BE49-F238E27FC236}">
                <a16:creationId xmlns:a16="http://schemas.microsoft.com/office/drawing/2014/main" id="{B5BDA22D-B2F5-49C9-9B9E-8A8BC866FF30}"/>
              </a:ext>
            </a:extLst>
          </p:cNvPr>
          <p:cNvSpPr>
            <a:spLocks noGrp="1"/>
          </p:cNvSpPr>
          <p:nvPr>
            <p:ph type="dt" sz="half" idx="10"/>
          </p:nvPr>
        </p:nvSpPr>
        <p:spPr/>
        <p:txBody>
          <a:bodyPr/>
          <a:lstStyle/>
          <a:p>
            <a:fld id="{6E71AF5C-F383-4EC0-82EB-59B5762ED0C7}" type="datetime1">
              <a:rPr lang="en-US" smtClean="0"/>
              <a:t>8/5/2025</a:t>
            </a:fld>
            <a:endParaRPr lang="en-US"/>
          </a:p>
        </p:txBody>
      </p:sp>
      <p:sp>
        <p:nvSpPr>
          <p:cNvPr id="5" name="Slide Number Placeholder 4">
            <a:extLst>
              <a:ext uri="{FF2B5EF4-FFF2-40B4-BE49-F238E27FC236}">
                <a16:creationId xmlns:a16="http://schemas.microsoft.com/office/drawing/2014/main" id="{2E62F173-F08E-4CD8-8B34-34E9AF4D713F}"/>
              </a:ext>
            </a:extLst>
          </p:cNvPr>
          <p:cNvSpPr>
            <a:spLocks noGrp="1"/>
          </p:cNvSpPr>
          <p:nvPr>
            <p:ph type="sldNum" sz="quarter" idx="12"/>
          </p:nvPr>
        </p:nvSpPr>
        <p:spPr/>
        <p:txBody>
          <a:bodyPr/>
          <a:lstStyle/>
          <a:p>
            <a:fld id="{330EA680-D336-4FF7-8B7A-9848BB0A1C32}" type="slidenum">
              <a:rPr lang="en-US" smtClean="0"/>
              <a:t>75</a:t>
            </a:fld>
            <a:endParaRPr lang="en-US"/>
          </a:p>
        </p:txBody>
      </p:sp>
    </p:spTree>
    <p:extLst>
      <p:ext uri="{BB962C8B-B14F-4D97-AF65-F5344CB8AC3E}">
        <p14:creationId xmlns:p14="http://schemas.microsoft.com/office/powerpoint/2010/main" val="24962139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339717"/>
          </a:xfrm>
        </p:spPr>
        <p:txBody>
          <a:bodyPr>
            <a:normAutofit fontScale="90000"/>
          </a:bodyPr>
          <a:lstStyle/>
          <a:p>
            <a:endParaRPr lang="en-IN" dirty="0"/>
          </a:p>
        </p:txBody>
      </p:sp>
      <p:sp>
        <p:nvSpPr>
          <p:cNvPr id="3" name="Content Placeholder 2"/>
          <p:cNvSpPr>
            <a:spLocks noGrp="1"/>
          </p:cNvSpPr>
          <p:nvPr>
            <p:ph idx="1"/>
          </p:nvPr>
        </p:nvSpPr>
        <p:spPr>
          <a:xfrm>
            <a:off x="787791" y="1252025"/>
            <a:ext cx="10716821" cy="4659197"/>
          </a:xfrm>
        </p:spPr>
        <p:txBody>
          <a:bodyPr>
            <a:noAutofit/>
          </a:bodyPr>
          <a:lstStyle/>
          <a:p>
            <a:pPr algn="just"/>
            <a:r>
              <a:rPr lang="en-US" sz="2000" dirty="0"/>
              <a:t> </a:t>
            </a:r>
            <a:r>
              <a:rPr lang="en-US" sz="2000" b="1" dirty="0"/>
              <a:t>Histograms </a:t>
            </a:r>
          </a:p>
          <a:p>
            <a:pPr algn="just"/>
            <a:r>
              <a:rPr lang="en-US" sz="2000" dirty="0"/>
              <a:t>Histograms use binning to approximate data distributions and are a popular form of data reduction.</a:t>
            </a:r>
          </a:p>
          <a:p>
            <a:pPr algn="just"/>
            <a:r>
              <a:rPr lang="en-US" sz="2000" dirty="0"/>
              <a:t>A histogram for an attribute, A, partitions the data distribution of A into disjoint subsets, referred to as buckets or bins.</a:t>
            </a:r>
          </a:p>
          <a:p>
            <a:pPr algn="just"/>
            <a:r>
              <a:rPr lang="en-US" sz="2000" dirty="0"/>
              <a:t>If each bucket represents only a single attribute–value/frequency pair, the buckets are called singleton buckets. </a:t>
            </a:r>
          </a:p>
          <a:p>
            <a:pPr algn="just"/>
            <a:r>
              <a:rPr lang="en-US" sz="2000" dirty="0"/>
              <a:t>Often, buckets instead represent continuous ranges for the given attribute.</a:t>
            </a:r>
          </a:p>
          <a:p>
            <a:pPr algn="just"/>
            <a:r>
              <a:rPr lang="en-US" sz="2000" dirty="0"/>
              <a:t>Example- Histograms. The following data are a list of </a:t>
            </a:r>
            <a:r>
              <a:rPr lang="en-US" sz="2000" dirty="0" err="1"/>
              <a:t>AllElectronics</a:t>
            </a:r>
            <a:r>
              <a:rPr lang="en-US" sz="2000" dirty="0"/>
              <a:t> prices for commonly sold items (rounded to the nearest dollar). The numbers have been sorted: 1, 1, 5, 5, 5, 5, 5, 8, 8, 10, 10, 10, 10, 12, 14, 14, 14, 15, 15, 15, 15, 15, 15, 18, 18, 18, 18, 18, 18, 18, 18, 20, 20, 20, 20, 20, 20, 20, 21, 21, 21, 21, 25, 25, 25, 25, 25, 28, 28, 30, 30, 30. </a:t>
            </a:r>
          </a:p>
        </p:txBody>
      </p:sp>
      <p:sp>
        <p:nvSpPr>
          <p:cNvPr id="4" name="Date Placeholder 3">
            <a:extLst>
              <a:ext uri="{FF2B5EF4-FFF2-40B4-BE49-F238E27FC236}">
                <a16:creationId xmlns:a16="http://schemas.microsoft.com/office/drawing/2014/main" id="{5E60B488-67AE-4784-B786-9EFEE2C5F3DE}"/>
              </a:ext>
            </a:extLst>
          </p:cNvPr>
          <p:cNvSpPr>
            <a:spLocks noGrp="1"/>
          </p:cNvSpPr>
          <p:nvPr>
            <p:ph type="dt" sz="half" idx="10"/>
          </p:nvPr>
        </p:nvSpPr>
        <p:spPr/>
        <p:txBody>
          <a:bodyPr/>
          <a:lstStyle/>
          <a:p>
            <a:fld id="{1C1FD402-B853-4CD0-A609-966172413D3F}" type="datetime1">
              <a:rPr lang="en-US" smtClean="0"/>
              <a:t>8/5/2025</a:t>
            </a:fld>
            <a:endParaRPr lang="en-US"/>
          </a:p>
        </p:txBody>
      </p:sp>
      <p:sp>
        <p:nvSpPr>
          <p:cNvPr id="5" name="Slide Number Placeholder 4">
            <a:extLst>
              <a:ext uri="{FF2B5EF4-FFF2-40B4-BE49-F238E27FC236}">
                <a16:creationId xmlns:a16="http://schemas.microsoft.com/office/drawing/2014/main" id="{DDDD2661-1A30-442D-A849-DF434ABFF745}"/>
              </a:ext>
            </a:extLst>
          </p:cNvPr>
          <p:cNvSpPr>
            <a:spLocks noGrp="1"/>
          </p:cNvSpPr>
          <p:nvPr>
            <p:ph type="sldNum" sz="quarter" idx="12"/>
          </p:nvPr>
        </p:nvSpPr>
        <p:spPr/>
        <p:txBody>
          <a:bodyPr/>
          <a:lstStyle/>
          <a:p>
            <a:fld id="{330EA680-D336-4FF7-8B7A-9848BB0A1C32}" type="slidenum">
              <a:rPr lang="en-US" smtClean="0"/>
              <a:t>76</a:t>
            </a:fld>
            <a:endParaRPr lang="en-US"/>
          </a:p>
        </p:txBody>
      </p:sp>
    </p:spTree>
    <p:extLst>
      <p:ext uri="{BB962C8B-B14F-4D97-AF65-F5344CB8AC3E}">
        <p14:creationId xmlns:p14="http://schemas.microsoft.com/office/powerpoint/2010/main" val="194033084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09C35-804F-4B1A-A157-67BBCDFB860B}"/>
              </a:ext>
            </a:extLst>
          </p:cNvPr>
          <p:cNvSpPr>
            <a:spLocks noGrp="1"/>
          </p:cNvSpPr>
          <p:nvPr>
            <p:ph type="title"/>
          </p:nvPr>
        </p:nvSpPr>
        <p:spPr>
          <a:xfrm>
            <a:off x="2592925" y="624110"/>
            <a:ext cx="8911687" cy="365125"/>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DD436976-82D7-45C4-B8E9-E1DFBE9EFEE9}"/>
              </a:ext>
            </a:extLst>
          </p:cNvPr>
          <p:cNvSpPr>
            <a:spLocks noGrp="1"/>
          </p:cNvSpPr>
          <p:nvPr>
            <p:ph idx="1"/>
          </p:nvPr>
        </p:nvSpPr>
        <p:spPr>
          <a:xfrm>
            <a:off x="1111348" y="1294228"/>
            <a:ext cx="10393264" cy="4616994"/>
          </a:xfrm>
        </p:spPr>
        <p:txBody>
          <a:bodyPr/>
          <a:lstStyle/>
          <a:p>
            <a:pPr algn="just"/>
            <a:r>
              <a:rPr lang="en-US" sz="2000" dirty="0"/>
              <a:t>Figure below shows a histogram for the data using singleton buckets. </a:t>
            </a:r>
          </a:p>
          <a:p>
            <a:pPr algn="just"/>
            <a:endParaRPr lang="en-US" sz="2000" dirty="0"/>
          </a:p>
          <a:p>
            <a:pPr algn="just"/>
            <a:endParaRPr lang="en-US" dirty="0"/>
          </a:p>
          <a:p>
            <a:pPr algn="just"/>
            <a:endParaRPr lang="en-US" dirty="0"/>
          </a:p>
          <a:p>
            <a:pPr algn="just"/>
            <a:endParaRPr lang="en-US" dirty="0"/>
          </a:p>
          <a:p>
            <a:pPr algn="just"/>
            <a:endParaRPr lang="en-US" dirty="0"/>
          </a:p>
          <a:p>
            <a:endParaRPr lang="en-US" dirty="0"/>
          </a:p>
        </p:txBody>
      </p:sp>
      <p:sp>
        <p:nvSpPr>
          <p:cNvPr id="4" name="Date Placeholder 3">
            <a:extLst>
              <a:ext uri="{FF2B5EF4-FFF2-40B4-BE49-F238E27FC236}">
                <a16:creationId xmlns:a16="http://schemas.microsoft.com/office/drawing/2014/main" id="{927D774E-6DB1-4D32-A371-1BCEA0AEDEE5}"/>
              </a:ext>
            </a:extLst>
          </p:cNvPr>
          <p:cNvSpPr>
            <a:spLocks noGrp="1"/>
          </p:cNvSpPr>
          <p:nvPr>
            <p:ph type="dt" sz="half" idx="10"/>
          </p:nvPr>
        </p:nvSpPr>
        <p:spPr/>
        <p:txBody>
          <a:bodyPr/>
          <a:lstStyle/>
          <a:p>
            <a:fld id="{E4C93EEE-D9EF-405B-B243-0BB37BF794C7}" type="datetime1">
              <a:rPr lang="en-US" smtClean="0"/>
              <a:t>8/5/2025</a:t>
            </a:fld>
            <a:endParaRPr lang="en-US"/>
          </a:p>
        </p:txBody>
      </p:sp>
      <p:sp>
        <p:nvSpPr>
          <p:cNvPr id="5" name="Slide Number Placeholder 4">
            <a:extLst>
              <a:ext uri="{FF2B5EF4-FFF2-40B4-BE49-F238E27FC236}">
                <a16:creationId xmlns:a16="http://schemas.microsoft.com/office/drawing/2014/main" id="{A9DE4E9B-9004-4A78-BAD4-5FFFA149A546}"/>
              </a:ext>
            </a:extLst>
          </p:cNvPr>
          <p:cNvSpPr>
            <a:spLocks noGrp="1"/>
          </p:cNvSpPr>
          <p:nvPr>
            <p:ph type="sldNum" sz="quarter" idx="12"/>
          </p:nvPr>
        </p:nvSpPr>
        <p:spPr/>
        <p:txBody>
          <a:bodyPr/>
          <a:lstStyle/>
          <a:p>
            <a:fld id="{330EA680-D336-4FF7-8B7A-9848BB0A1C32}" type="slidenum">
              <a:rPr lang="en-US" smtClean="0"/>
              <a:t>77</a:t>
            </a:fld>
            <a:endParaRPr lang="en-US"/>
          </a:p>
        </p:txBody>
      </p:sp>
      <p:pic>
        <p:nvPicPr>
          <p:cNvPr id="6" name="Picture 5">
            <a:extLst>
              <a:ext uri="{FF2B5EF4-FFF2-40B4-BE49-F238E27FC236}">
                <a16:creationId xmlns:a16="http://schemas.microsoft.com/office/drawing/2014/main" id="{C2CBC268-000B-4CA1-B6AE-7BC7A4959A3C}"/>
              </a:ext>
            </a:extLst>
          </p:cNvPr>
          <p:cNvPicPr>
            <a:picLocks noChangeAspect="1"/>
          </p:cNvPicPr>
          <p:nvPr/>
        </p:nvPicPr>
        <p:blipFill>
          <a:blip r:embed="rId2"/>
          <a:stretch>
            <a:fillRect/>
          </a:stretch>
        </p:blipFill>
        <p:spPr>
          <a:xfrm>
            <a:off x="1990885" y="2097775"/>
            <a:ext cx="6812151" cy="3636598"/>
          </a:xfrm>
          <a:prstGeom prst="rect">
            <a:avLst/>
          </a:prstGeom>
        </p:spPr>
      </p:pic>
    </p:spTree>
    <p:extLst>
      <p:ext uri="{BB962C8B-B14F-4D97-AF65-F5344CB8AC3E}">
        <p14:creationId xmlns:p14="http://schemas.microsoft.com/office/powerpoint/2010/main" val="27295974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14B22-F004-44CD-91A1-7316518B0D18}"/>
              </a:ext>
            </a:extLst>
          </p:cNvPr>
          <p:cNvSpPr>
            <a:spLocks noGrp="1"/>
          </p:cNvSpPr>
          <p:nvPr>
            <p:ph type="title"/>
          </p:nvPr>
        </p:nvSpPr>
        <p:spPr>
          <a:xfrm>
            <a:off x="2592925" y="624110"/>
            <a:ext cx="8911687" cy="365125"/>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AECA5CDA-E807-4AD5-A9EF-02C9B223FCDE}"/>
              </a:ext>
            </a:extLst>
          </p:cNvPr>
          <p:cNvSpPr>
            <a:spLocks noGrp="1"/>
          </p:cNvSpPr>
          <p:nvPr>
            <p:ph idx="1"/>
          </p:nvPr>
        </p:nvSpPr>
        <p:spPr>
          <a:xfrm>
            <a:off x="773723" y="1336431"/>
            <a:ext cx="10730889" cy="4574791"/>
          </a:xfrm>
        </p:spPr>
        <p:txBody>
          <a:bodyPr/>
          <a:lstStyle/>
          <a:p>
            <a:pPr algn="just"/>
            <a:r>
              <a:rPr lang="en-US" sz="2000" dirty="0"/>
              <a:t>To further reduce the data, it is common to have each bucket denote a continuous value range for the given attribute. </a:t>
            </a:r>
          </a:p>
          <a:p>
            <a:pPr algn="just"/>
            <a:r>
              <a:rPr lang="en-US" sz="2000" dirty="0"/>
              <a:t>In Figure below, each bucket represents a different $10 range for price.</a:t>
            </a:r>
          </a:p>
          <a:p>
            <a:pPr algn="just"/>
            <a:endParaRPr lang="en-IN" sz="2000" dirty="0"/>
          </a:p>
          <a:p>
            <a:endParaRPr lang="en-US" dirty="0"/>
          </a:p>
        </p:txBody>
      </p:sp>
      <p:sp>
        <p:nvSpPr>
          <p:cNvPr id="4" name="Date Placeholder 3">
            <a:extLst>
              <a:ext uri="{FF2B5EF4-FFF2-40B4-BE49-F238E27FC236}">
                <a16:creationId xmlns:a16="http://schemas.microsoft.com/office/drawing/2014/main" id="{EED6D0C5-9633-4DA9-B379-1A71333238A3}"/>
              </a:ext>
            </a:extLst>
          </p:cNvPr>
          <p:cNvSpPr>
            <a:spLocks noGrp="1"/>
          </p:cNvSpPr>
          <p:nvPr>
            <p:ph type="dt" sz="half" idx="10"/>
          </p:nvPr>
        </p:nvSpPr>
        <p:spPr/>
        <p:txBody>
          <a:bodyPr/>
          <a:lstStyle/>
          <a:p>
            <a:fld id="{E4C93EEE-D9EF-405B-B243-0BB37BF794C7}" type="datetime1">
              <a:rPr lang="en-US" smtClean="0"/>
              <a:t>8/5/2025</a:t>
            </a:fld>
            <a:endParaRPr lang="en-US"/>
          </a:p>
        </p:txBody>
      </p:sp>
      <p:sp>
        <p:nvSpPr>
          <p:cNvPr id="5" name="Slide Number Placeholder 4">
            <a:extLst>
              <a:ext uri="{FF2B5EF4-FFF2-40B4-BE49-F238E27FC236}">
                <a16:creationId xmlns:a16="http://schemas.microsoft.com/office/drawing/2014/main" id="{42BBD9C8-8B25-4ED0-BF00-AA30769DAD11}"/>
              </a:ext>
            </a:extLst>
          </p:cNvPr>
          <p:cNvSpPr>
            <a:spLocks noGrp="1"/>
          </p:cNvSpPr>
          <p:nvPr>
            <p:ph type="sldNum" sz="quarter" idx="12"/>
          </p:nvPr>
        </p:nvSpPr>
        <p:spPr/>
        <p:txBody>
          <a:bodyPr/>
          <a:lstStyle/>
          <a:p>
            <a:fld id="{330EA680-D336-4FF7-8B7A-9848BB0A1C32}" type="slidenum">
              <a:rPr lang="en-US" smtClean="0"/>
              <a:t>78</a:t>
            </a:fld>
            <a:endParaRPr lang="en-US"/>
          </a:p>
        </p:txBody>
      </p:sp>
      <p:pic>
        <p:nvPicPr>
          <p:cNvPr id="6" name="Picture 5">
            <a:extLst>
              <a:ext uri="{FF2B5EF4-FFF2-40B4-BE49-F238E27FC236}">
                <a16:creationId xmlns:a16="http://schemas.microsoft.com/office/drawing/2014/main" id="{0B54BAC2-BCD0-4D29-80D6-EFB67245E2CF}"/>
              </a:ext>
            </a:extLst>
          </p:cNvPr>
          <p:cNvPicPr>
            <a:picLocks noChangeAspect="1"/>
          </p:cNvPicPr>
          <p:nvPr/>
        </p:nvPicPr>
        <p:blipFill>
          <a:blip r:embed="rId2"/>
          <a:stretch>
            <a:fillRect/>
          </a:stretch>
        </p:blipFill>
        <p:spPr>
          <a:xfrm>
            <a:off x="1739361" y="2892668"/>
            <a:ext cx="7156665" cy="3341221"/>
          </a:xfrm>
          <a:prstGeom prst="rect">
            <a:avLst/>
          </a:prstGeom>
        </p:spPr>
      </p:pic>
    </p:spTree>
    <p:extLst>
      <p:ext uri="{BB962C8B-B14F-4D97-AF65-F5344CB8AC3E}">
        <p14:creationId xmlns:p14="http://schemas.microsoft.com/office/powerpoint/2010/main" val="425289811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438571"/>
          </a:xfrm>
        </p:spPr>
        <p:txBody>
          <a:bodyPr>
            <a:normAutofit fontScale="90000"/>
          </a:bodyPr>
          <a:lstStyle/>
          <a:p>
            <a:endParaRPr lang="en-IN" dirty="0"/>
          </a:p>
        </p:txBody>
      </p:sp>
      <p:sp>
        <p:nvSpPr>
          <p:cNvPr id="3" name="Content Placeholder 2"/>
          <p:cNvSpPr>
            <a:spLocks noGrp="1"/>
          </p:cNvSpPr>
          <p:nvPr>
            <p:ph idx="1"/>
          </p:nvPr>
        </p:nvSpPr>
        <p:spPr>
          <a:xfrm>
            <a:off x="1311579" y="1392195"/>
            <a:ext cx="10193033" cy="4777946"/>
          </a:xfrm>
        </p:spPr>
        <p:txBody>
          <a:bodyPr>
            <a:normAutofit/>
          </a:bodyPr>
          <a:lstStyle/>
          <a:p>
            <a:pPr algn="just"/>
            <a:r>
              <a:rPr lang="en-US" sz="2000" dirty="0"/>
              <a:t>“How are the buckets determined and the attribute values partitioned?” There are several partitioning rules, including the following:</a:t>
            </a:r>
          </a:p>
          <a:p>
            <a:pPr algn="just"/>
            <a:r>
              <a:rPr lang="en-US" sz="2000" dirty="0"/>
              <a:t>Equal-width: In an equal-width histogram, the width of each bucket range is uniform (e.g., the width of $10 for the buckets in Figure). </a:t>
            </a:r>
          </a:p>
          <a:p>
            <a:pPr algn="just"/>
            <a:r>
              <a:rPr lang="en-US" sz="2000" dirty="0"/>
              <a:t>Equal-frequency(or equal-depth):In an equal-frequency histogram, the buckets are created so that, roughly, the frequency of each bucket is constant (i.e., each bucket contains roughly the same number of contiguous data samples).</a:t>
            </a:r>
          </a:p>
          <a:p>
            <a:pPr algn="just"/>
            <a:r>
              <a:rPr lang="en-US" sz="2000" dirty="0"/>
              <a:t>Histograms are highly effective at approximating both sparse and dense data, as well as highly skewed and uniform data.</a:t>
            </a:r>
          </a:p>
          <a:p>
            <a:pPr algn="just"/>
            <a:r>
              <a:rPr lang="en-US" sz="2000" dirty="0"/>
              <a:t> The histograms described before for single attributes can be extended for multiple attributes.</a:t>
            </a:r>
          </a:p>
          <a:p>
            <a:endParaRPr lang="en-IN" dirty="0"/>
          </a:p>
        </p:txBody>
      </p:sp>
      <p:sp>
        <p:nvSpPr>
          <p:cNvPr id="4" name="Date Placeholder 3">
            <a:extLst>
              <a:ext uri="{FF2B5EF4-FFF2-40B4-BE49-F238E27FC236}">
                <a16:creationId xmlns:a16="http://schemas.microsoft.com/office/drawing/2014/main" id="{DDB04855-5F67-4386-92E3-0BADB01AC626}"/>
              </a:ext>
            </a:extLst>
          </p:cNvPr>
          <p:cNvSpPr>
            <a:spLocks noGrp="1"/>
          </p:cNvSpPr>
          <p:nvPr>
            <p:ph type="dt" sz="half" idx="10"/>
          </p:nvPr>
        </p:nvSpPr>
        <p:spPr/>
        <p:txBody>
          <a:bodyPr/>
          <a:lstStyle/>
          <a:p>
            <a:fld id="{F7E52EF2-CD67-4619-94FF-3CABF2DDE41B}" type="datetime1">
              <a:rPr lang="en-US" smtClean="0"/>
              <a:t>8/5/2025</a:t>
            </a:fld>
            <a:endParaRPr lang="en-US"/>
          </a:p>
        </p:txBody>
      </p:sp>
      <p:sp>
        <p:nvSpPr>
          <p:cNvPr id="5" name="Slide Number Placeholder 4">
            <a:extLst>
              <a:ext uri="{FF2B5EF4-FFF2-40B4-BE49-F238E27FC236}">
                <a16:creationId xmlns:a16="http://schemas.microsoft.com/office/drawing/2014/main" id="{2213CE39-D7A4-4CD3-846E-908077B30A4D}"/>
              </a:ext>
            </a:extLst>
          </p:cNvPr>
          <p:cNvSpPr>
            <a:spLocks noGrp="1"/>
          </p:cNvSpPr>
          <p:nvPr>
            <p:ph type="sldNum" sz="quarter" idx="12"/>
          </p:nvPr>
        </p:nvSpPr>
        <p:spPr/>
        <p:txBody>
          <a:bodyPr/>
          <a:lstStyle/>
          <a:p>
            <a:fld id="{330EA680-D336-4FF7-8B7A-9848BB0A1C32}" type="slidenum">
              <a:rPr lang="en-US" smtClean="0"/>
              <a:t>79</a:t>
            </a:fld>
            <a:endParaRPr lang="en-US"/>
          </a:p>
        </p:txBody>
      </p:sp>
    </p:spTree>
    <p:extLst>
      <p:ext uri="{BB962C8B-B14F-4D97-AF65-F5344CB8AC3E}">
        <p14:creationId xmlns:p14="http://schemas.microsoft.com/office/powerpoint/2010/main" val="29564992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7DFA8-FF18-4D8D-9F48-31E04C7B3AB3}"/>
              </a:ext>
            </a:extLst>
          </p:cNvPr>
          <p:cNvSpPr>
            <a:spLocks noGrp="1"/>
          </p:cNvSpPr>
          <p:nvPr>
            <p:ph type="title"/>
          </p:nvPr>
        </p:nvSpPr>
        <p:spPr>
          <a:xfrm>
            <a:off x="2592925" y="624110"/>
            <a:ext cx="8911687" cy="322668"/>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8F1B47A6-6CB8-4BD5-BF62-D0D2E8AD8B5C}"/>
              </a:ext>
            </a:extLst>
          </p:cNvPr>
          <p:cNvSpPr>
            <a:spLocks noGrp="1"/>
          </p:cNvSpPr>
          <p:nvPr>
            <p:ph idx="1"/>
          </p:nvPr>
        </p:nvSpPr>
        <p:spPr>
          <a:xfrm>
            <a:off x="1041009" y="1266092"/>
            <a:ext cx="10463603" cy="4645130"/>
          </a:xfrm>
        </p:spPr>
        <p:txBody>
          <a:bodyPr/>
          <a:lstStyle/>
          <a:p>
            <a:pPr algn="just"/>
            <a:r>
              <a:rPr lang="en-US" sz="2000" dirty="0"/>
              <a:t>Multidimensional histograms can capture dependencies between attributes. </a:t>
            </a:r>
          </a:p>
          <a:p>
            <a:pPr algn="just"/>
            <a:r>
              <a:rPr lang="en-US" sz="2000" dirty="0"/>
              <a:t>These histograms have been found effective in approximating data with up to ﬁve attributes. </a:t>
            </a:r>
          </a:p>
          <a:p>
            <a:pPr algn="just"/>
            <a:r>
              <a:rPr lang="en-US" sz="2000" dirty="0"/>
              <a:t>More studies are needed regarding the effectiveness of multidimensional histograms for high dimensionalities. </a:t>
            </a:r>
          </a:p>
          <a:p>
            <a:pPr algn="just"/>
            <a:r>
              <a:rPr lang="en-US" sz="2000" dirty="0"/>
              <a:t>Singleton buckets are useful for storing high-frequency outliers.</a:t>
            </a:r>
          </a:p>
          <a:p>
            <a:endParaRPr lang="en-US" dirty="0"/>
          </a:p>
        </p:txBody>
      </p:sp>
      <p:sp>
        <p:nvSpPr>
          <p:cNvPr id="4" name="Date Placeholder 3">
            <a:extLst>
              <a:ext uri="{FF2B5EF4-FFF2-40B4-BE49-F238E27FC236}">
                <a16:creationId xmlns:a16="http://schemas.microsoft.com/office/drawing/2014/main" id="{BE7E9735-EE79-46BA-AE11-EFF72C8FFFFD}"/>
              </a:ext>
            </a:extLst>
          </p:cNvPr>
          <p:cNvSpPr>
            <a:spLocks noGrp="1"/>
          </p:cNvSpPr>
          <p:nvPr>
            <p:ph type="dt" sz="half" idx="10"/>
          </p:nvPr>
        </p:nvSpPr>
        <p:spPr/>
        <p:txBody>
          <a:bodyPr/>
          <a:lstStyle/>
          <a:p>
            <a:fld id="{E4C93EEE-D9EF-405B-B243-0BB37BF794C7}" type="datetime1">
              <a:rPr lang="en-US" smtClean="0"/>
              <a:t>8/5/2025</a:t>
            </a:fld>
            <a:endParaRPr lang="en-US"/>
          </a:p>
        </p:txBody>
      </p:sp>
      <p:sp>
        <p:nvSpPr>
          <p:cNvPr id="5" name="Slide Number Placeholder 4">
            <a:extLst>
              <a:ext uri="{FF2B5EF4-FFF2-40B4-BE49-F238E27FC236}">
                <a16:creationId xmlns:a16="http://schemas.microsoft.com/office/drawing/2014/main" id="{ACFD176A-BE7B-444C-B67A-7E7377CD46E7}"/>
              </a:ext>
            </a:extLst>
          </p:cNvPr>
          <p:cNvSpPr>
            <a:spLocks noGrp="1"/>
          </p:cNvSpPr>
          <p:nvPr>
            <p:ph type="sldNum" sz="quarter" idx="12"/>
          </p:nvPr>
        </p:nvSpPr>
        <p:spPr/>
        <p:txBody>
          <a:bodyPr/>
          <a:lstStyle/>
          <a:p>
            <a:fld id="{330EA680-D336-4FF7-8B7A-9848BB0A1C32}" type="slidenum">
              <a:rPr lang="en-US" smtClean="0"/>
              <a:t>80</a:t>
            </a:fld>
            <a:endParaRPr lang="en-US"/>
          </a:p>
        </p:txBody>
      </p:sp>
    </p:spTree>
    <p:extLst>
      <p:ext uri="{BB962C8B-B14F-4D97-AF65-F5344CB8AC3E}">
        <p14:creationId xmlns:p14="http://schemas.microsoft.com/office/powerpoint/2010/main" val="114622037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397382"/>
          </a:xfrm>
        </p:spPr>
        <p:txBody>
          <a:bodyPr>
            <a:normAutofit fontScale="90000"/>
          </a:bodyPr>
          <a:lstStyle/>
          <a:p>
            <a:endParaRPr lang="en-IN" dirty="0"/>
          </a:p>
        </p:txBody>
      </p:sp>
      <p:sp>
        <p:nvSpPr>
          <p:cNvPr id="3" name="Content Placeholder 2"/>
          <p:cNvSpPr>
            <a:spLocks noGrp="1"/>
          </p:cNvSpPr>
          <p:nvPr>
            <p:ph idx="1"/>
          </p:nvPr>
        </p:nvSpPr>
        <p:spPr>
          <a:xfrm>
            <a:off x="1268627" y="1227438"/>
            <a:ext cx="10235985" cy="4683784"/>
          </a:xfrm>
        </p:spPr>
        <p:txBody>
          <a:bodyPr>
            <a:normAutofit/>
          </a:bodyPr>
          <a:lstStyle/>
          <a:p>
            <a:pPr algn="just"/>
            <a:r>
              <a:rPr lang="en-US" dirty="0"/>
              <a:t> </a:t>
            </a:r>
            <a:r>
              <a:rPr lang="en-US" sz="2000" b="1" dirty="0"/>
              <a:t>Clustering </a:t>
            </a:r>
          </a:p>
          <a:p>
            <a:pPr algn="just"/>
            <a:r>
              <a:rPr lang="en-US" sz="2000" dirty="0"/>
              <a:t>Clustering techniques consider data tuples as objects. </a:t>
            </a:r>
          </a:p>
          <a:p>
            <a:pPr algn="just"/>
            <a:r>
              <a:rPr lang="en-US" sz="2000" dirty="0"/>
              <a:t>They partition the objects into groups, or clusters, so that objects within a cluster are “similar” to one another and “dissimilar” to objects in other clusters. </a:t>
            </a:r>
          </a:p>
          <a:p>
            <a:pPr algn="just"/>
            <a:r>
              <a:rPr lang="en-US" sz="2000" dirty="0"/>
              <a:t>Similarity is commonly deﬁned in terms of how “close” the objects are in space, based on a distance function. </a:t>
            </a:r>
          </a:p>
          <a:p>
            <a:pPr algn="just"/>
            <a:r>
              <a:rPr lang="en-US" sz="2000" dirty="0"/>
              <a:t>The “quality” of a cluster may be represented by its diameter, the maximum distance between any two objects in the cluster. </a:t>
            </a:r>
          </a:p>
          <a:p>
            <a:pPr algn="just"/>
            <a:r>
              <a:rPr lang="en-US" sz="2000" dirty="0"/>
              <a:t>Centroid distance is an alternative measure of cluster quality and is deﬁned as the average distance of each cluster object from the cluster centroid (denoting the “average object,” or average point in space for the cluster). </a:t>
            </a:r>
          </a:p>
        </p:txBody>
      </p:sp>
      <p:sp>
        <p:nvSpPr>
          <p:cNvPr id="4" name="Date Placeholder 3">
            <a:extLst>
              <a:ext uri="{FF2B5EF4-FFF2-40B4-BE49-F238E27FC236}">
                <a16:creationId xmlns:a16="http://schemas.microsoft.com/office/drawing/2014/main" id="{D4FAF99F-8B8A-4873-9D10-E7353605DD1C}"/>
              </a:ext>
            </a:extLst>
          </p:cNvPr>
          <p:cNvSpPr>
            <a:spLocks noGrp="1"/>
          </p:cNvSpPr>
          <p:nvPr>
            <p:ph type="dt" sz="half" idx="10"/>
          </p:nvPr>
        </p:nvSpPr>
        <p:spPr/>
        <p:txBody>
          <a:bodyPr/>
          <a:lstStyle/>
          <a:p>
            <a:fld id="{D5864C1A-68D2-4D1B-95D0-6EDA5DB0FBE3}" type="datetime1">
              <a:rPr lang="en-US" smtClean="0"/>
              <a:t>8/5/2025</a:t>
            </a:fld>
            <a:endParaRPr lang="en-US"/>
          </a:p>
        </p:txBody>
      </p:sp>
      <p:sp>
        <p:nvSpPr>
          <p:cNvPr id="5" name="Slide Number Placeholder 4">
            <a:extLst>
              <a:ext uri="{FF2B5EF4-FFF2-40B4-BE49-F238E27FC236}">
                <a16:creationId xmlns:a16="http://schemas.microsoft.com/office/drawing/2014/main" id="{35A82A9C-9D68-4969-B403-5E540EB82146}"/>
              </a:ext>
            </a:extLst>
          </p:cNvPr>
          <p:cNvSpPr>
            <a:spLocks noGrp="1"/>
          </p:cNvSpPr>
          <p:nvPr>
            <p:ph type="sldNum" sz="quarter" idx="12"/>
          </p:nvPr>
        </p:nvSpPr>
        <p:spPr/>
        <p:txBody>
          <a:bodyPr/>
          <a:lstStyle/>
          <a:p>
            <a:fld id="{330EA680-D336-4FF7-8B7A-9848BB0A1C32}" type="slidenum">
              <a:rPr lang="en-US" smtClean="0"/>
              <a:t>81</a:t>
            </a:fld>
            <a:endParaRPr lang="en-US"/>
          </a:p>
        </p:txBody>
      </p:sp>
    </p:spTree>
    <p:extLst>
      <p:ext uri="{BB962C8B-B14F-4D97-AF65-F5344CB8AC3E}">
        <p14:creationId xmlns:p14="http://schemas.microsoft.com/office/powerpoint/2010/main" val="362700122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8A5BA-DCA5-453A-8BAE-DDB8F848BE17}"/>
              </a:ext>
            </a:extLst>
          </p:cNvPr>
          <p:cNvSpPr>
            <a:spLocks noGrp="1"/>
          </p:cNvSpPr>
          <p:nvPr>
            <p:ph type="title"/>
          </p:nvPr>
        </p:nvSpPr>
        <p:spPr>
          <a:xfrm>
            <a:off x="2592925" y="624110"/>
            <a:ext cx="8911687" cy="528797"/>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1010376C-AA53-4A92-A553-1296FCEC7208}"/>
              </a:ext>
            </a:extLst>
          </p:cNvPr>
          <p:cNvSpPr>
            <a:spLocks noGrp="1"/>
          </p:cNvSpPr>
          <p:nvPr>
            <p:ph idx="1"/>
          </p:nvPr>
        </p:nvSpPr>
        <p:spPr>
          <a:xfrm>
            <a:off x="1311579" y="1301858"/>
            <a:ext cx="10193033" cy="4932032"/>
          </a:xfrm>
        </p:spPr>
        <p:txBody>
          <a:bodyPr>
            <a:normAutofit/>
          </a:bodyPr>
          <a:lstStyle/>
          <a:p>
            <a:pPr algn="just"/>
            <a:r>
              <a:rPr lang="en-US" sz="2000" dirty="0"/>
              <a:t>Figure below shows a 2-D plot of customer data with respect to customer locations in a city. </a:t>
            </a:r>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r>
              <a:rPr lang="en-US" sz="2000" dirty="0"/>
              <a:t>Three data clusters are visible.</a:t>
            </a:r>
          </a:p>
          <a:p>
            <a:endParaRPr lang="en-US" dirty="0"/>
          </a:p>
        </p:txBody>
      </p:sp>
      <p:sp>
        <p:nvSpPr>
          <p:cNvPr id="4" name="Date Placeholder 3">
            <a:extLst>
              <a:ext uri="{FF2B5EF4-FFF2-40B4-BE49-F238E27FC236}">
                <a16:creationId xmlns:a16="http://schemas.microsoft.com/office/drawing/2014/main" id="{7A528698-AA53-4E69-B41D-687937D694B0}"/>
              </a:ext>
            </a:extLst>
          </p:cNvPr>
          <p:cNvSpPr>
            <a:spLocks noGrp="1"/>
          </p:cNvSpPr>
          <p:nvPr>
            <p:ph type="dt" sz="half" idx="10"/>
          </p:nvPr>
        </p:nvSpPr>
        <p:spPr/>
        <p:txBody>
          <a:bodyPr/>
          <a:lstStyle/>
          <a:p>
            <a:fld id="{E4C93EEE-D9EF-405B-B243-0BB37BF794C7}" type="datetime1">
              <a:rPr lang="en-US" smtClean="0"/>
              <a:t>8/5/2025</a:t>
            </a:fld>
            <a:endParaRPr lang="en-US"/>
          </a:p>
        </p:txBody>
      </p:sp>
      <p:sp>
        <p:nvSpPr>
          <p:cNvPr id="5" name="Slide Number Placeholder 4">
            <a:extLst>
              <a:ext uri="{FF2B5EF4-FFF2-40B4-BE49-F238E27FC236}">
                <a16:creationId xmlns:a16="http://schemas.microsoft.com/office/drawing/2014/main" id="{D73FC858-B6C7-4EC1-B06A-3CEF493CB72B}"/>
              </a:ext>
            </a:extLst>
          </p:cNvPr>
          <p:cNvSpPr>
            <a:spLocks noGrp="1"/>
          </p:cNvSpPr>
          <p:nvPr>
            <p:ph type="sldNum" sz="quarter" idx="12"/>
          </p:nvPr>
        </p:nvSpPr>
        <p:spPr/>
        <p:txBody>
          <a:bodyPr/>
          <a:lstStyle/>
          <a:p>
            <a:fld id="{330EA680-D336-4FF7-8B7A-9848BB0A1C32}" type="slidenum">
              <a:rPr lang="en-US" smtClean="0"/>
              <a:t>82</a:t>
            </a:fld>
            <a:endParaRPr lang="en-US"/>
          </a:p>
        </p:txBody>
      </p:sp>
      <p:pic>
        <p:nvPicPr>
          <p:cNvPr id="6" name="Picture 5">
            <a:extLst>
              <a:ext uri="{FF2B5EF4-FFF2-40B4-BE49-F238E27FC236}">
                <a16:creationId xmlns:a16="http://schemas.microsoft.com/office/drawing/2014/main" id="{29927731-6CB0-48BF-83A6-555AC006D3BA}"/>
              </a:ext>
            </a:extLst>
          </p:cNvPr>
          <p:cNvPicPr>
            <a:picLocks noChangeAspect="1"/>
          </p:cNvPicPr>
          <p:nvPr/>
        </p:nvPicPr>
        <p:blipFill>
          <a:blip r:embed="rId2"/>
          <a:stretch>
            <a:fillRect/>
          </a:stretch>
        </p:blipFill>
        <p:spPr>
          <a:xfrm>
            <a:off x="2592925" y="2149032"/>
            <a:ext cx="5847690" cy="3126353"/>
          </a:xfrm>
          <a:prstGeom prst="rect">
            <a:avLst/>
          </a:prstGeom>
        </p:spPr>
      </p:pic>
    </p:spTree>
    <p:extLst>
      <p:ext uri="{BB962C8B-B14F-4D97-AF65-F5344CB8AC3E}">
        <p14:creationId xmlns:p14="http://schemas.microsoft.com/office/powerpoint/2010/main" val="120404221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95631-51FB-41F3-947C-1C16E01680A5}"/>
              </a:ext>
            </a:extLst>
          </p:cNvPr>
          <p:cNvSpPr>
            <a:spLocks noGrp="1"/>
          </p:cNvSpPr>
          <p:nvPr>
            <p:ph type="title"/>
          </p:nvPr>
        </p:nvSpPr>
        <p:spPr>
          <a:xfrm>
            <a:off x="2592925" y="624110"/>
            <a:ext cx="8911687" cy="528797"/>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5E012AEC-0EBA-4E39-8B11-F5584011612E}"/>
              </a:ext>
            </a:extLst>
          </p:cNvPr>
          <p:cNvSpPr>
            <a:spLocks noGrp="1"/>
          </p:cNvSpPr>
          <p:nvPr>
            <p:ph idx="1"/>
          </p:nvPr>
        </p:nvSpPr>
        <p:spPr>
          <a:xfrm>
            <a:off x="1311579" y="1505243"/>
            <a:ext cx="10193033" cy="4405979"/>
          </a:xfrm>
        </p:spPr>
        <p:txBody>
          <a:bodyPr/>
          <a:lstStyle/>
          <a:p>
            <a:pPr algn="just"/>
            <a:r>
              <a:rPr lang="en-US" sz="2000" dirty="0"/>
              <a:t>In data reduction, the cluster representations of the data are used to replace the actual data. </a:t>
            </a:r>
          </a:p>
          <a:p>
            <a:pPr algn="just"/>
            <a:r>
              <a:rPr lang="en-US" sz="2000" dirty="0"/>
              <a:t>The effectiveness of this technique depends on the data’s nature. </a:t>
            </a:r>
          </a:p>
          <a:p>
            <a:pPr algn="just"/>
            <a:r>
              <a:rPr lang="en-US" sz="2000" dirty="0"/>
              <a:t>There are many measures for deﬁning clusters and cluster quality. </a:t>
            </a:r>
            <a:endParaRPr lang="en-IN" sz="2000" dirty="0"/>
          </a:p>
          <a:p>
            <a:endParaRPr lang="en-US" dirty="0"/>
          </a:p>
        </p:txBody>
      </p:sp>
      <p:sp>
        <p:nvSpPr>
          <p:cNvPr id="4" name="Date Placeholder 3">
            <a:extLst>
              <a:ext uri="{FF2B5EF4-FFF2-40B4-BE49-F238E27FC236}">
                <a16:creationId xmlns:a16="http://schemas.microsoft.com/office/drawing/2014/main" id="{7528E75C-771B-43C9-BE5F-8B99696B8657}"/>
              </a:ext>
            </a:extLst>
          </p:cNvPr>
          <p:cNvSpPr>
            <a:spLocks noGrp="1"/>
          </p:cNvSpPr>
          <p:nvPr>
            <p:ph type="dt" sz="half" idx="10"/>
          </p:nvPr>
        </p:nvSpPr>
        <p:spPr/>
        <p:txBody>
          <a:bodyPr/>
          <a:lstStyle/>
          <a:p>
            <a:fld id="{E4C93EEE-D9EF-405B-B243-0BB37BF794C7}" type="datetime1">
              <a:rPr lang="en-US" smtClean="0"/>
              <a:t>8/5/2025</a:t>
            </a:fld>
            <a:endParaRPr lang="en-US"/>
          </a:p>
        </p:txBody>
      </p:sp>
      <p:sp>
        <p:nvSpPr>
          <p:cNvPr id="5" name="Slide Number Placeholder 4">
            <a:extLst>
              <a:ext uri="{FF2B5EF4-FFF2-40B4-BE49-F238E27FC236}">
                <a16:creationId xmlns:a16="http://schemas.microsoft.com/office/drawing/2014/main" id="{ABC45EB6-15B3-486E-B8CA-D032DC436CD4}"/>
              </a:ext>
            </a:extLst>
          </p:cNvPr>
          <p:cNvSpPr>
            <a:spLocks noGrp="1"/>
          </p:cNvSpPr>
          <p:nvPr>
            <p:ph type="sldNum" sz="quarter" idx="12"/>
          </p:nvPr>
        </p:nvSpPr>
        <p:spPr/>
        <p:txBody>
          <a:bodyPr/>
          <a:lstStyle/>
          <a:p>
            <a:fld id="{330EA680-D336-4FF7-8B7A-9848BB0A1C32}" type="slidenum">
              <a:rPr lang="en-US" smtClean="0"/>
              <a:t>83</a:t>
            </a:fld>
            <a:endParaRPr lang="en-US"/>
          </a:p>
        </p:txBody>
      </p:sp>
    </p:spTree>
    <p:extLst>
      <p:ext uri="{BB962C8B-B14F-4D97-AF65-F5344CB8AC3E}">
        <p14:creationId xmlns:p14="http://schemas.microsoft.com/office/powerpoint/2010/main" val="17103941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257339"/>
          </a:xfrm>
        </p:spPr>
        <p:txBody>
          <a:bodyPr>
            <a:normAutofit fontScale="90000"/>
          </a:bodyPr>
          <a:lstStyle/>
          <a:p>
            <a:endParaRPr lang="en-IN" dirty="0"/>
          </a:p>
        </p:txBody>
      </p:sp>
      <p:sp>
        <p:nvSpPr>
          <p:cNvPr id="3" name="Content Placeholder 2"/>
          <p:cNvSpPr>
            <a:spLocks noGrp="1"/>
          </p:cNvSpPr>
          <p:nvPr>
            <p:ph idx="1"/>
          </p:nvPr>
        </p:nvSpPr>
        <p:spPr>
          <a:xfrm>
            <a:off x="1178011" y="986429"/>
            <a:ext cx="10326601" cy="4758315"/>
          </a:xfrm>
        </p:spPr>
        <p:txBody>
          <a:bodyPr>
            <a:normAutofit/>
          </a:bodyPr>
          <a:lstStyle/>
          <a:p>
            <a:pPr algn="just"/>
            <a:r>
              <a:rPr lang="en-US" sz="2000" b="1" dirty="0"/>
              <a:t> Sampling </a:t>
            </a:r>
          </a:p>
          <a:p>
            <a:pPr algn="just"/>
            <a:r>
              <a:rPr lang="en-US" sz="2000" dirty="0"/>
              <a:t>Simple random sampling refers to the sampling technique in which each and every item of the population is having an equal chance of being included in the sample.</a:t>
            </a:r>
            <a:endParaRPr lang="en-US" sz="2000" b="1" dirty="0"/>
          </a:p>
          <a:p>
            <a:pPr algn="just"/>
            <a:r>
              <a:rPr lang="en-US" sz="2000" dirty="0"/>
              <a:t>Sampling can be used as a data reduction technique because it allows a large data set to be represented by a much smaller random data sample (or subset). </a:t>
            </a:r>
          </a:p>
          <a:p>
            <a:pPr algn="just"/>
            <a:r>
              <a:rPr lang="en-US" sz="2000" dirty="0"/>
              <a:t>Suppose that a large dataset, D, contains N tuples.</a:t>
            </a:r>
          </a:p>
          <a:p>
            <a:pPr algn="just"/>
            <a:r>
              <a:rPr lang="en-US" sz="2000" dirty="0"/>
              <a:t>Let’s look at the most common ways that we could sample D for data reduction, as illustrated in Figure below.</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4" name="Date Placeholder 3"/>
          <p:cNvSpPr>
            <a:spLocks noGrp="1"/>
          </p:cNvSpPr>
          <p:nvPr>
            <p:ph type="dt" sz="half" idx="10"/>
          </p:nvPr>
        </p:nvSpPr>
        <p:spPr/>
        <p:txBody>
          <a:bodyPr/>
          <a:lstStyle/>
          <a:p>
            <a:fld id="{E4C93EEE-D9EF-405B-B243-0BB37BF794C7}" type="datetime1">
              <a:rPr lang="en-US" smtClean="0"/>
              <a:t>8/5/2025</a:t>
            </a:fld>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84</a:t>
            </a:fld>
            <a:endParaRPr lang="en-US"/>
          </a:p>
        </p:txBody>
      </p:sp>
    </p:spTree>
    <p:extLst>
      <p:ext uri="{BB962C8B-B14F-4D97-AF65-F5344CB8AC3E}">
        <p14:creationId xmlns:p14="http://schemas.microsoft.com/office/powerpoint/2010/main" val="239097290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4A2D8-E849-4CB1-AD31-08A1D09E89E2}"/>
              </a:ext>
            </a:extLst>
          </p:cNvPr>
          <p:cNvSpPr>
            <a:spLocks noGrp="1"/>
          </p:cNvSpPr>
          <p:nvPr>
            <p:ph type="title"/>
          </p:nvPr>
        </p:nvSpPr>
        <p:spPr>
          <a:xfrm>
            <a:off x="2592925" y="624110"/>
            <a:ext cx="8911687" cy="528797"/>
          </a:xfrm>
        </p:spPr>
        <p:txBody>
          <a:bodyPr>
            <a:normAutofit fontScale="90000"/>
          </a:bodyPr>
          <a:lstStyle/>
          <a:p>
            <a:endParaRPr lang="en-US" dirty="0"/>
          </a:p>
        </p:txBody>
      </p:sp>
      <p:sp>
        <p:nvSpPr>
          <p:cNvPr id="4" name="Date Placeholder 3">
            <a:extLst>
              <a:ext uri="{FF2B5EF4-FFF2-40B4-BE49-F238E27FC236}">
                <a16:creationId xmlns:a16="http://schemas.microsoft.com/office/drawing/2014/main" id="{A73F0282-FF53-4772-8BAF-41D89DF31DB5}"/>
              </a:ext>
            </a:extLst>
          </p:cNvPr>
          <p:cNvSpPr>
            <a:spLocks noGrp="1"/>
          </p:cNvSpPr>
          <p:nvPr>
            <p:ph type="dt" sz="half" idx="10"/>
          </p:nvPr>
        </p:nvSpPr>
        <p:spPr/>
        <p:txBody>
          <a:bodyPr/>
          <a:lstStyle/>
          <a:p>
            <a:fld id="{E4C93EEE-D9EF-405B-B243-0BB37BF794C7}" type="datetime1">
              <a:rPr lang="en-US" smtClean="0"/>
              <a:t>8/5/2025</a:t>
            </a:fld>
            <a:endParaRPr lang="en-US"/>
          </a:p>
        </p:txBody>
      </p:sp>
      <p:sp>
        <p:nvSpPr>
          <p:cNvPr id="5" name="Slide Number Placeholder 4">
            <a:extLst>
              <a:ext uri="{FF2B5EF4-FFF2-40B4-BE49-F238E27FC236}">
                <a16:creationId xmlns:a16="http://schemas.microsoft.com/office/drawing/2014/main" id="{DEB05408-3011-47A1-8DB4-E73BE103CA17}"/>
              </a:ext>
            </a:extLst>
          </p:cNvPr>
          <p:cNvSpPr>
            <a:spLocks noGrp="1"/>
          </p:cNvSpPr>
          <p:nvPr>
            <p:ph type="sldNum" sz="quarter" idx="12"/>
          </p:nvPr>
        </p:nvSpPr>
        <p:spPr/>
        <p:txBody>
          <a:bodyPr/>
          <a:lstStyle/>
          <a:p>
            <a:fld id="{330EA680-D336-4FF7-8B7A-9848BB0A1C32}" type="slidenum">
              <a:rPr lang="en-US" smtClean="0"/>
              <a:t>85</a:t>
            </a:fld>
            <a:endParaRPr lang="en-US"/>
          </a:p>
        </p:txBody>
      </p:sp>
      <p:pic>
        <p:nvPicPr>
          <p:cNvPr id="7" name="Content Placeholder 6">
            <a:extLst>
              <a:ext uri="{FF2B5EF4-FFF2-40B4-BE49-F238E27FC236}">
                <a16:creationId xmlns:a16="http://schemas.microsoft.com/office/drawing/2014/main" id="{2D06640F-65E6-4BBD-8E62-F2A51DD6C54F}"/>
              </a:ext>
            </a:extLst>
          </p:cNvPr>
          <p:cNvPicPr>
            <a:picLocks noGrp="1" noChangeAspect="1"/>
          </p:cNvPicPr>
          <p:nvPr>
            <p:ph idx="1"/>
          </p:nvPr>
        </p:nvPicPr>
        <p:blipFill>
          <a:blip r:embed="rId2"/>
          <a:stretch>
            <a:fillRect/>
          </a:stretch>
        </p:blipFill>
        <p:spPr>
          <a:xfrm>
            <a:off x="1859797" y="1348353"/>
            <a:ext cx="9825925" cy="4885537"/>
          </a:xfrm>
          <a:prstGeom prst="rect">
            <a:avLst/>
          </a:prstGeom>
        </p:spPr>
      </p:pic>
    </p:spTree>
    <p:extLst>
      <p:ext uri="{BB962C8B-B14F-4D97-AF65-F5344CB8AC3E}">
        <p14:creationId xmlns:p14="http://schemas.microsoft.com/office/powerpoint/2010/main" val="35398744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380906"/>
          </a:xfrm>
        </p:spPr>
        <p:txBody>
          <a:bodyPr>
            <a:normAutofit fontScale="90000"/>
          </a:bodyPr>
          <a:lstStyle/>
          <a:p>
            <a:endParaRPr lang="en-IN" dirty="0"/>
          </a:p>
        </p:txBody>
      </p:sp>
      <p:sp>
        <p:nvSpPr>
          <p:cNvPr id="3" name="Content Placeholder 2"/>
          <p:cNvSpPr>
            <a:spLocks noGrp="1"/>
          </p:cNvSpPr>
          <p:nvPr>
            <p:ph idx="1"/>
          </p:nvPr>
        </p:nvSpPr>
        <p:spPr>
          <a:xfrm>
            <a:off x="1243914" y="1235676"/>
            <a:ext cx="10260698" cy="4675546"/>
          </a:xfrm>
        </p:spPr>
        <p:txBody>
          <a:bodyPr>
            <a:normAutofit/>
          </a:bodyPr>
          <a:lstStyle/>
          <a:p>
            <a:pPr algn="just"/>
            <a:r>
              <a:rPr lang="en-US" sz="2000" b="1" dirty="0"/>
              <a:t>Simple random sample without replacement (SRSWOR) of size s</a:t>
            </a:r>
            <a:r>
              <a:rPr lang="en-US" sz="2000" dirty="0"/>
              <a:t>: This is created by drawing s of the N tuples from D (s &lt; N), where the probability of drawing any tuple in D is 1/N, that is, all tuples are equally likely to be sampled.</a:t>
            </a:r>
          </a:p>
          <a:p>
            <a:pPr algn="just"/>
            <a:r>
              <a:rPr lang="en-US" sz="2000" dirty="0"/>
              <a:t> </a:t>
            </a:r>
            <a:r>
              <a:rPr lang="en-US" sz="2000" b="1" dirty="0"/>
              <a:t>Simple random sample with replacement (SRSWR) of size s</a:t>
            </a:r>
            <a:r>
              <a:rPr lang="en-US" sz="2000" dirty="0"/>
              <a:t>: This is similar to SRSWOR, except that each time a tuple is drawn from D, it is recorded and then replaced. That is, after a tuple is drawn, it is placed back in D so that it may be drawn again. </a:t>
            </a:r>
          </a:p>
          <a:p>
            <a:pPr algn="just"/>
            <a:r>
              <a:rPr lang="en-US" sz="2000" b="1" dirty="0"/>
              <a:t>Cluster sample</a:t>
            </a:r>
            <a:r>
              <a:rPr lang="en-US" sz="2000" dirty="0"/>
              <a:t>: If the tuples in D are grouped into M mutually disjoint “clusters,” then an SRS of s clusters can be obtained, where s &lt; M. For example, tuples in a database are usually retrieved a page at a time, so that each page can be considered a cluster. A reduced data representation can be obtained by applying, say, SRSWOR to the pages, resulting in a cluster sample of the tuples. </a:t>
            </a:r>
            <a:endParaRPr lang="en-IN" sz="2000" dirty="0"/>
          </a:p>
          <a:p>
            <a:endParaRPr lang="en-IN" dirty="0"/>
          </a:p>
        </p:txBody>
      </p:sp>
      <p:sp>
        <p:nvSpPr>
          <p:cNvPr id="4" name="Date Placeholder 3"/>
          <p:cNvSpPr>
            <a:spLocks noGrp="1"/>
          </p:cNvSpPr>
          <p:nvPr>
            <p:ph type="dt" sz="half" idx="10"/>
          </p:nvPr>
        </p:nvSpPr>
        <p:spPr/>
        <p:txBody>
          <a:bodyPr/>
          <a:lstStyle/>
          <a:p>
            <a:fld id="{E4C93EEE-D9EF-405B-B243-0BB37BF794C7}" type="datetime1">
              <a:rPr lang="en-US" smtClean="0"/>
              <a:t>8/5/2025</a:t>
            </a:fld>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86</a:t>
            </a:fld>
            <a:endParaRPr lang="en-US"/>
          </a:p>
        </p:txBody>
      </p:sp>
    </p:spTree>
    <p:extLst>
      <p:ext uri="{BB962C8B-B14F-4D97-AF65-F5344CB8AC3E}">
        <p14:creationId xmlns:p14="http://schemas.microsoft.com/office/powerpoint/2010/main" val="118765378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455047"/>
          </a:xfrm>
        </p:spPr>
        <p:txBody>
          <a:bodyPr>
            <a:normAutofit fontScale="90000"/>
          </a:bodyPr>
          <a:lstStyle/>
          <a:p>
            <a:endParaRPr lang="en-IN" dirty="0"/>
          </a:p>
        </p:txBody>
      </p:sp>
      <p:sp>
        <p:nvSpPr>
          <p:cNvPr id="3" name="Content Placeholder 2"/>
          <p:cNvSpPr>
            <a:spLocks noGrp="1"/>
          </p:cNvSpPr>
          <p:nvPr>
            <p:ph idx="1"/>
          </p:nvPr>
        </p:nvSpPr>
        <p:spPr>
          <a:xfrm>
            <a:off x="1474573" y="1499286"/>
            <a:ext cx="10030039" cy="4411936"/>
          </a:xfrm>
        </p:spPr>
        <p:txBody>
          <a:bodyPr>
            <a:noAutofit/>
          </a:bodyPr>
          <a:lstStyle/>
          <a:p>
            <a:pPr algn="just"/>
            <a:r>
              <a:rPr lang="en-US" sz="2000" b="1" dirty="0"/>
              <a:t>Stratiﬁed sample</a:t>
            </a:r>
            <a:r>
              <a:rPr lang="en-US" sz="2000" dirty="0"/>
              <a:t>: If D is divided into mutually disjoint parts called strata, a stratiﬁed sample of D is generated by obtaining an SRS at each stratum. This helps ensure a representative sample, especially when the data are skewed. For example, a stratiﬁed sample may be obtained from customer data, where a stratum is created for each customer age group. In this way, the age group having the smallest number of customers will be sure to be represented.</a:t>
            </a:r>
          </a:p>
          <a:p>
            <a:pPr algn="just"/>
            <a:r>
              <a:rPr lang="en-US" sz="2000" dirty="0"/>
              <a:t>An advantage of sampling for data reduction is that the cost of obtaining a sample is proportional to the size of the sample, s, as opposed to N, the data set size. </a:t>
            </a:r>
          </a:p>
          <a:p>
            <a:pPr algn="just"/>
            <a:r>
              <a:rPr lang="en-US" sz="2000" dirty="0"/>
              <a:t>Hence, sampling complexity is potentially sub-linear to the size of the data.</a:t>
            </a:r>
          </a:p>
          <a:p>
            <a:pPr algn="just"/>
            <a:r>
              <a:rPr lang="en-US" sz="2000" dirty="0"/>
              <a:t>Other data reduction techniques can require at least one complete pass through D. </a:t>
            </a:r>
          </a:p>
          <a:p>
            <a:pPr algn="just"/>
            <a:endParaRPr lang="en-US" sz="2000" dirty="0"/>
          </a:p>
          <a:p>
            <a:endParaRPr lang="en-IN" sz="2000" dirty="0"/>
          </a:p>
        </p:txBody>
      </p:sp>
      <p:sp>
        <p:nvSpPr>
          <p:cNvPr id="4" name="Date Placeholder 3"/>
          <p:cNvSpPr>
            <a:spLocks noGrp="1"/>
          </p:cNvSpPr>
          <p:nvPr>
            <p:ph type="dt" sz="half" idx="10"/>
          </p:nvPr>
        </p:nvSpPr>
        <p:spPr/>
        <p:txBody>
          <a:bodyPr/>
          <a:lstStyle/>
          <a:p>
            <a:fld id="{E4C93EEE-D9EF-405B-B243-0BB37BF794C7}" type="datetime1">
              <a:rPr lang="en-US" smtClean="0"/>
              <a:t>8/5/2025</a:t>
            </a:fld>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87</a:t>
            </a:fld>
            <a:endParaRPr lang="en-US"/>
          </a:p>
        </p:txBody>
      </p:sp>
    </p:spTree>
    <p:extLst>
      <p:ext uri="{BB962C8B-B14F-4D97-AF65-F5344CB8AC3E}">
        <p14:creationId xmlns:p14="http://schemas.microsoft.com/office/powerpoint/2010/main" val="361058149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257339"/>
          </a:xfrm>
        </p:spPr>
        <p:txBody>
          <a:bodyPr>
            <a:normAutofit fontScale="90000"/>
          </a:bodyPr>
          <a:lstStyle/>
          <a:p>
            <a:endParaRPr lang="en-IN" dirty="0"/>
          </a:p>
        </p:txBody>
      </p:sp>
      <p:sp>
        <p:nvSpPr>
          <p:cNvPr id="3" name="Content Placeholder 2"/>
          <p:cNvSpPr>
            <a:spLocks noGrp="1"/>
          </p:cNvSpPr>
          <p:nvPr>
            <p:ph idx="1"/>
          </p:nvPr>
        </p:nvSpPr>
        <p:spPr>
          <a:xfrm>
            <a:off x="1647568" y="1515762"/>
            <a:ext cx="9857044" cy="4395460"/>
          </a:xfrm>
        </p:spPr>
        <p:txBody>
          <a:bodyPr>
            <a:normAutofit/>
          </a:bodyPr>
          <a:lstStyle/>
          <a:p>
            <a:pPr algn="just"/>
            <a:r>
              <a:rPr lang="en-US" sz="2000" dirty="0"/>
              <a:t>When applied to data reduction, sampling is most commonly used to estimate the answer to an aggregate query.</a:t>
            </a:r>
          </a:p>
          <a:p>
            <a:pPr algn="just"/>
            <a:r>
              <a:rPr lang="en-US" sz="2000" dirty="0"/>
              <a:t> It is possible (using the central limit theorem) to determine a sufﬁcient sample size for estimating a given function within a speciﬁed degree of error. </a:t>
            </a:r>
          </a:p>
          <a:p>
            <a:pPr algn="just"/>
            <a:r>
              <a:rPr lang="en-US" sz="2000" dirty="0"/>
              <a:t>This sample size, s, may be extremely small in comparison to N.</a:t>
            </a:r>
          </a:p>
          <a:p>
            <a:pPr algn="just"/>
            <a:r>
              <a:rPr lang="en-US" sz="2000" dirty="0"/>
              <a:t> Sampling is a natural choice for the progressive reﬁnement of a reduced data set. </a:t>
            </a:r>
          </a:p>
          <a:p>
            <a:pPr algn="just"/>
            <a:r>
              <a:rPr lang="en-US" sz="2000" dirty="0"/>
              <a:t>Such a set can be further reﬁned by simply increasing the sample size.</a:t>
            </a:r>
          </a:p>
          <a:p>
            <a:endParaRPr lang="en-IN" dirty="0"/>
          </a:p>
        </p:txBody>
      </p:sp>
      <p:sp>
        <p:nvSpPr>
          <p:cNvPr id="4" name="Date Placeholder 3"/>
          <p:cNvSpPr>
            <a:spLocks noGrp="1"/>
          </p:cNvSpPr>
          <p:nvPr>
            <p:ph type="dt" sz="half" idx="10"/>
          </p:nvPr>
        </p:nvSpPr>
        <p:spPr/>
        <p:txBody>
          <a:bodyPr/>
          <a:lstStyle/>
          <a:p>
            <a:fld id="{E4C93EEE-D9EF-405B-B243-0BB37BF794C7}" type="datetime1">
              <a:rPr lang="en-US" smtClean="0"/>
              <a:t>8/5/2025</a:t>
            </a:fld>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88</a:t>
            </a:fld>
            <a:endParaRPr lang="en-US"/>
          </a:p>
        </p:txBody>
      </p:sp>
    </p:spTree>
    <p:extLst>
      <p:ext uri="{BB962C8B-B14F-4D97-AF65-F5344CB8AC3E}">
        <p14:creationId xmlns:p14="http://schemas.microsoft.com/office/powerpoint/2010/main" val="225594896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282052"/>
          </a:xfrm>
        </p:spPr>
        <p:txBody>
          <a:bodyPr>
            <a:normAutofit fontScale="90000"/>
          </a:bodyPr>
          <a:lstStyle/>
          <a:p>
            <a:endParaRPr lang="en-IN" dirty="0"/>
          </a:p>
        </p:txBody>
      </p:sp>
      <p:sp>
        <p:nvSpPr>
          <p:cNvPr id="3" name="Content Placeholder 2"/>
          <p:cNvSpPr>
            <a:spLocks noGrp="1"/>
          </p:cNvSpPr>
          <p:nvPr>
            <p:ph idx="1"/>
          </p:nvPr>
        </p:nvSpPr>
        <p:spPr>
          <a:xfrm>
            <a:off x="1458097" y="1276865"/>
            <a:ext cx="9148591" cy="4642595"/>
          </a:xfrm>
        </p:spPr>
        <p:txBody>
          <a:bodyPr>
            <a:normAutofit/>
          </a:bodyPr>
          <a:lstStyle/>
          <a:p>
            <a:pPr algn="just"/>
            <a:r>
              <a:rPr lang="en-US" sz="2000" b="1" dirty="0"/>
              <a:t>Data Cube Aggregation</a:t>
            </a:r>
          </a:p>
          <a:p>
            <a:pPr algn="just"/>
            <a:r>
              <a:rPr lang="en-US" sz="2000" dirty="0"/>
              <a:t>Imagine that you have collected the data for your analysis. </a:t>
            </a:r>
          </a:p>
          <a:p>
            <a:pPr algn="just"/>
            <a:r>
              <a:rPr lang="en-US" sz="2000" dirty="0"/>
              <a:t>These data consist of the </a:t>
            </a:r>
            <a:r>
              <a:rPr lang="en-US" sz="2000" dirty="0" err="1"/>
              <a:t>AllElectronics</a:t>
            </a:r>
            <a:r>
              <a:rPr lang="en-US" sz="2000" dirty="0"/>
              <a:t> sales per quarter, for the years 2008 to 2010. </a:t>
            </a:r>
          </a:p>
          <a:p>
            <a:pPr algn="just"/>
            <a:r>
              <a:rPr lang="en-US" sz="2000" dirty="0"/>
              <a:t>You are, however, interested in the annual sales (total per year), rather than the total per quarter.</a:t>
            </a:r>
          </a:p>
          <a:p>
            <a:pPr algn="just"/>
            <a:r>
              <a:rPr lang="en-US" sz="2000" dirty="0"/>
              <a:t> Thus, the data can be aggregated so that the resulting data summarize the total sales per year instead of per quarter. </a:t>
            </a:r>
          </a:p>
          <a:p>
            <a:pPr algn="just"/>
            <a:r>
              <a:rPr lang="en-US" sz="2000" dirty="0"/>
              <a:t>The resulting data set is smaller in volume, without loss of information necessary for the analysis task. </a:t>
            </a:r>
            <a:endParaRPr lang="en-IN" sz="2000" dirty="0"/>
          </a:p>
        </p:txBody>
      </p:sp>
      <p:sp>
        <p:nvSpPr>
          <p:cNvPr id="4" name="Date Placeholder 3"/>
          <p:cNvSpPr>
            <a:spLocks noGrp="1"/>
          </p:cNvSpPr>
          <p:nvPr>
            <p:ph type="dt" sz="half" idx="10"/>
          </p:nvPr>
        </p:nvSpPr>
        <p:spPr/>
        <p:txBody>
          <a:bodyPr/>
          <a:lstStyle/>
          <a:p>
            <a:fld id="{E4C93EEE-D9EF-405B-B243-0BB37BF794C7}" type="datetime1">
              <a:rPr lang="en-US" smtClean="0"/>
              <a:t>8/5/2025</a:t>
            </a:fld>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89</a:t>
            </a:fld>
            <a:endParaRPr lang="en-US"/>
          </a:p>
        </p:txBody>
      </p:sp>
    </p:spTree>
    <p:extLst>
      <p:ext uri="{BB962C8B-B14F-4D97-AF65-F5344CB8AC3E}">
        <p14:creationId xmlns:p14="http://schemas.microsoft.com/office/powerpoint/2010/main" val="299551867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364431"/>
          </a:xfrm>
        </p:spPr>
        <p:txBody>
          <a:bodyPr>
            <a:normAutofit fontScale="90000"/>
          </a:bodyPr>
          <a:lstStyle/>
          <a:p>
            <a:endParaRPr lang="en-IN" dirty="0"/>
          </a:p>
        </p:txBody>
      </p:sp>
      <p:sp>
        <p:nvSpPr>
          <p:cNvPr id="3" name="Content Placeholder 2"/>
          <p:cNvSpPr>
            <a:spLocks noGrp="1"/>
          </p:cNvSpPr>
          <p:nvPr>
            <p:ph idx="1"/>
          </p:nvPr>
        </p:nvSpPr>
        <p:spPr>
          <a:xfrm>
            <a:off x="1029730" y="1301578"/>
            <a:ext cx="10474882" cy="4609644"/>
          </a:xfrm>
        </p:spPr>
        <p:txBody>
          <a:bodyPr/>
          <a:lstStyle/>
          <a:p>
            <a:pPr algn="just"/>
            <a:r>
              <a:rPr lang="en-US" sz="2000" dirty="0"/>
              <a:t>This aggregation is illustrated in Figure below. </a:t>
            </a:r>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r>
              <a:rPr lang="en-US" sz="2000" dirty="0"/>
              <a:t> Data cubes store multidimensional aggregated information</a:t>
            </a:r>
          </a:p>
          <a:p>
            <a:endParaRPr lang="en-US" sz="2000" dirty="0"/>
          </a:p>
          <a:p>
            <a:endParaRPr lang="en-US" dirty="0"/>
          </a:p>
          <a:p>
            <a:endParaRPr lang="en-IN" dirty="0"/>
          </a:p>
        </p:txBody>
      </p:sp>
      <p:sp>
        <p:nvSpPr>
          <p:cNvPr id="4" name="Date Placeholder 3"/>
          <p:cNvSpPr>
            <a:spLocks noGrp="1"/>
          </p:cNvSpPr>
          <p:nvPr>
            <p:ph type="dt" sz="half" idx="10"/>
          </p:nvPr>
        </p:nvSpPr>
        <p:spPr/>
        <p:txBody>
          <a:bodyPr/>
          <a:lstStyle/>
          <a:p>
            <a:fld id="{E4C93EEE-D9EF-405B-B243-0BB37BF794C7}" type="datetime1">
              <a:rPr lang="en-US" smtClean="0"/>
              <a:t>8/5/2025</a:t>
            </a:fld>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90</a:t>
            </a:fld>
            <a:endParaRPr lang="en-US"/>
          </a:p>
        </p:txBody>
      </p:sp>
      <p:pic>
        <p:nvPicPr>
          <p:cNvPr id="6" name="Picture 5"/>
          <p:cNvPicPr>
            <a:picLocks noChangeAspect="1"/>
          </p:cNvPicPr>
          <p:nvPr/>
        </p:nvPicPr>
        <p:blipFill>
          <a:blip r:embed="rId2"/>
          <a:stretch>
            <a:fillRect/>
          </a:stretch>
        </p:blipFill>
        <p:spPr>
          <a:xfrm>
            <a:off x="2071044" y="1928812"/>
            <a:ext cx="8095844" cy="2767174"/>
          </a:xfrm>
          <a:prstGeom prst="rect">
            <a:avLst/>
          </a:prstGeom>
        </p:spPr>
      </p:pic>
    </p:spTree>
    <p:extLst>
      <p:ext uri="{BB962C8B-B14F-4D97-AF65-F5344CB8AC3E}">
        <p14:creationId xmlns:p14="http://schemas.microsoft.com/office/powerpoint/2010/main" val="54978546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339717"/>
          </a:xfrm>
        </p:spPr>
        <p:txBody>
          <a:bodyPr>
            <a:normAutofit fontScale="90000"/>
          </a:bodyPr>
          <a:lstStyle/>
          <a:p>
            <a:endParaRPr lang="en-IN" dirty="0"/>
          </a:p>
        </p:txBody>
      </p:sp>
      <p:sp>
        <p:nvSpPr>
          <p:cNvPr id="3" name="Content Placeholder 2"/>
          <p:cNvSpPr>
            <a:spLocks noGrp="1"/>
          </p:cNvSpPr>
          <p:nvPr>
            <p:ph idx="1"/>
          </p:nvPr>
        </p:nvSpPr>
        <p:spPr>
          <a:xfrm>
            <a:off x="1311579" y="1318054"/>
            <a:ext cx="10193033" cy="4593168"/>
          </a:xfrm>
        </p:spPr>
        <p:txBody>
          <a:bodyPr>
            <a:normAutofit fontScale="70000" lnSpcReduction="20000"/>
          </a:bodyPr>
          <a:lstStyle/>
          <a:p>
            <a:pPr algn="just"/>
            <a:r>
              <a:rPr lang="en-US" sz="2900" dirty="0"/>
              <a:t> For example, Figure below shows a data cube for multidimensional analysis of sales data with respect to annual sales per item type for each </a:t>
            </a:r>
            <a:r>
              <a:rPr lang="en-US" sz="2900" dirty="0" err="1"/>
              <a:t>AllElectronics</a:t>
            </a:r>
            <a:r>
              <a:rPr lang="en-US" sz="2900" dirty="0"/>
              <a:t> branch.</a:t>
            </a:r>
          </a:p>
          <a:p>
            <a:pPr algn="just"/>
            <a:endParaRPr lang="en-US" sz="2900" dirty="0"/>
          </a:p>
          <a:p>
            <a:pPr algn="just"/>
            <a:endParaRPr lang="en-US" sz="2900" dirty="0"/>
          </a:p>
          <a:p>
            <a:pPr algn="just"/>
            <a:endParaRPr lang="en-US" sz="2900" dirty="0"/>
          </a:p>
          <a:p>
            <a:pPr algn="just"/>
            <a:endParaRPr lang="en-US" sz="2900" dirty="0"/>
          </a:p>
          <a:p>
            <a:pPr algn="just"/>
            <a:endParaRPr lang="en-US" sz="2900" dirty="0"/>
          </a:p>
          <a:p>
            <a:pPr algn="just"/>
            <a:r>
              <a:rPr lang="en-US" sz="2900" dirty="0"/>
              <a:t>Each cell holds an aggregate data value, corresponding to the data point in multidimensional space. </a:t>
            </a:r>
          </a:p>
          <a:p>
            <a:pPr algn="just"/>
            <a:r>
              <a:rPr lang="en-US" sz="2900" dirty="0"/>
              <a:t>Concept hierarchies may exist for each attribute, allowing the analysis of data at multiple abstraction levels. </a:t>
            </a:r>
          </a:p>
          <a:p>
            <a:pPr algn="just"/>
            <a:r>
              <a:rPr lang="en-US" sz="2900" dirty="0"/>
              <a:t>For example, a hierarchy for branch could allow branches to be grouped into regions, based on their address. </a:t>
            </a:r>
          </a:p>
          <a:p>
            <a:endParaRPr lang="en-IN" dirty="0"/>
          </a:p>
        </p:txBody>
      </p:sp>
      <p:sp>
        <p:nvSpPr>
          <p:cNvPr id="4" name="Date Placeholder 3"/>
          <p:cNvSpPr>
            <a:spLocks noGrp="1"/>
          </p:cNvSpPr>
          <p:nvPr>
            <p:ph type="dt" sz="half" idx="10"/>
          </p:nvPr>
        </p:nvSpPr>
        <p:spPr/>
        <p:txBody>
          <a:bodyPr/>
          <a:lstStyle/>
          <a:p>
            <a:fld id="{E4C93EEE-D9EF-405B-B243-0BB37BF794C7}" type="datetime1">
              <a:rPr lang="en-US" smtClean="0"/>
              <a:t>8/5/2025</a:t>
            </a:fld>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91</a:t>
            </a:fld>
            <a:endParaRPr lang="en-US"/>
          </a:p>
        </p:txBody>
      </p:sp>
      <p:pic>
        <p:nvPicPr>
          <p:cNvPr id="6" name="Picture 5"/>
          <p:cNvPicPr>
            <a:picLocks noChangeAspect="1"/>
          </p:cNvPicPr>
          <p:nvPr/>
        </p:nvPicPr>
        <p:blipFill>
          <a:blip r:embed="rId2"/>
          <a:stretch>
            <a:fillRect/>
          </a:stretch>
        </p:blipFill>
        <p:spPr>
          <a:xfrm>
            <a:off x="2810518" y="2092411"/>
            <a:ext cx="5038725" cy="1795848"/>
          </a:xfrm>
          <a:prstGeom prst="rect">
            <a:avLst/>
          </a:prstGeom>
        </p:spPr>
      </p:pic>
    </p:spTree>
    <p:extLst>
      <p:ext uri="{BB962C8B-B14F-4D97-AF65-F5344CB8AC3E}">
        <p14:creationId xmlns:p14="http://schemas.microsoft.com/office/powerpoint/2010/main" val="71856276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2" y="512462"/>
            <a:ext cx="8911687" cy="509030"/>
          </a:xfrm>
        </p:spPr>
        <p:txBody>
          <a:bodyPr>
            <a:normAutofit fontScale="90000"/>
          </a:bodyPr>
          <a:lstStyle/>
          <a:p>
            <a:r>
              <a:rPr lang="en-US" dirty="0"/>
              <a:t>  </a:t>
            </a:r>
            <a:endParaRPr lang="en-IN" dirty="0"/>
          </a:p>
        </p:txBody>
      </p:sp>
      <p:sp>
        <p:nvSpPr>
          <p:cNvPr id="3" name="Content Placeholder 2"/>
          <p:cNvSpPr>
            <a:spLocks noGrp="1"/>
          </p:cNvSpPr>
          <p:nvPr>
            <p:ph idx="1"/>
          </p:nvPr>
        </p:nvSpPr>
        <p:spPr>
          <a:xfrm>
            <a:off x="1311579" y="1301578"/>
            <a:ext cx="10193033" cy="5043959"/>
          </a:xfrm>
        </p:spPr>
        <p:txBody>
          <a:bodyPr>
            <a:noAutofit/>
          </a:bodyPr>
          <a:lstStyle/>
          <a:p>
            <a:pPr algn="just"/>
            <a:r>
              <a:rPr lang="en-US" sz="2000" dirty="0"/>
              <a:t>Data cubes provide fast access to </a:t>
            </a:r>
            <a:r>
              <a:rPr lang="en-US" sz="2000" dirty="0" err="1"/>
              <a:t>precomputed</a:t>
            </a:r>
            <a:r>
              <a:rPr lang="en-US" sz="2000" dirty="0"/>
              <a:t>, summarized data, thereby beneﬁting online analytical processing as well as data mining. </a:t>
            </a:r>
          </a:p>
          <a:p>
            <a:pPr algn="just"/>
            <a:r>
              <a:rPr lang="en-US" sz="2000" dirty="0"/>
              <a:t>The cube created at the lowest abstraction level is referred to as the base cuboid. </a:t>
            </a:r>
          </a:p>
          <a:p>
            <a:pPr algn="just"/>
            <a:r>
              <a:rPr lang="en-US" sz="2000" dirty="0"/>
              <a:t> The lowest level should be usable, or useful for the analysis.</a:t>
            </a:r>
          </a:p>
          <a:p>
            <a:pPr algn="just"/>
            <a:r>
              <a:rPr lang="en-US" sz="2000" dirty="0"/>
              <a:t>A cube at the highest level of abstraction is the apex cuboid. </a:t>
            </a:r>
          </a:p>
          <a:p>
            <a:pPr algn="just"/>
            <a:r>
              <a:rPr lang="en-US" sz="2000" dirty="0"/>
              <a:t>For the sales data in Figure in the cuboid shown, the apex cuboid would give one total—the total sales for all three years, for all item types, and for all branches. </a:t>
            </a:r>
          </a:p>
          <a:p>
            <a:pPr algn="just"/>
            <a:r>
              <a:rPr lang="en-US" sz="2000" dirty="0"/>
              <a:t>Data cubes created for varying levels of abstraction are often referred to as cuboids, so that a data cube may instead refer to a lattice of cuboids. </a:t>
            </a:r>
          </a:p>
          <a:p>
            <a:pPr algn="just"/>
            <a:r>
              <a:rPr lang="en-US" sz="2000" dirty="0"/>
              <a:t>Each higher abstraction level further reduces the resulting data size. </a:t>
            </a:r>
          </a:p>
          <a:p>
            <a:pPr algn="just"/>
            <a:r>
              <a:rPr lang="en-US" sz="2000" dirty="0"/>
              <a:t>When replying to data mining requests, the smallest available cuboid relevant to the given task should be used. </a:t>
            </a:r>
          </a:p>
          <a:p>
            <a:pPr algn="just"/>
            <a:endParaRPr lang="en-US" sz="2000" dirty="0"/>
          </a:p>
          <a:p>
            <a:endParaRPr lang="en-IN" sz="2000" dirty="0"/>
          </a:p>
        </p:txBody>
      </p:sp>
      <p:sp>
        <p:nvSpPr>
          <p:cNvPr id="4" name="Date Placeholder 3"/>
          <p:cNvSpPr>
            <a:spLocks noGrp="1"/>
          </p:cNvSpPr>
          <p:nvPr>
            <p:ph type="dt" sz="half" idx="10"/>
          </p:nvPr>
        </p:nvSpPr>
        <p:spPr/>
        <p:txBody>
          <a:bodyPr/>
          <a:lstStyle/>
          <a:p>
            <a:fld id="{E4C93EEE-D9EF-405B-B243-0BB37BF794C7}" type="datetime1">
              <a:rPr lang="en-US" smtClean="0"/>
              <a:t>8/5/2025</a:t>
            </a:fld>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92</a:t>
            </a:fld>
            <a:endParaRPr lang="en-US"/>
          </a:p>
        </p:txBody>
      </p:sp>
    </p:spTree>
    <p:extLst>
      <p:ext uri="{BB962C8B-B14F-4D97-AF65-F5344CB8AC3E}">
        <p14:creationId xmlns:p14="http://schemas.microsoft.com/office/powerpoint/2010/main" val="297774889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339717"/>
          </a:xfrm>
        </p:spPr>
        <p:txBody>
          <a:bodyPr>
            <a:normAutofit fontScale="90000"/>
          </a:bodyPr>
          <a:lstStyle/>
          <a:p>
            <a:endParaRPr lang="en-IN" dirty="0"/>
          </a:p>
        </p:txBody>
      </p:sp>
      <p:sp>
        <p:nvSpPr>
          <p:cNvPr id="3" name="Content Placeholder 2"/>
          <p:cNvSpPr>
            <a:spLocks noGrp="1"/>
          </p:cNvSpPr>
          <p:nvPr>
            <p:ph idx="1"/>
          </p:nvPr>
        </p:nvSpPr>
        <p:spPr>
          <a:xfrm>
            <a:off x="1311579" y="1342768"/>
            <a:ext cx="10193033" cy="4568454"/>
          </a:xfrm>
        </p:spPr>
        <p:txBody>
          <a:bodyPr/>
          <a:lstStyle/>
          <a:p>
            <a:pPr algn="just"/>
            <a:r>
              <a:rPr lang="en-US" sz="2400" b="1" dirty="0"/>
              <a:t>Data Transformation and Data Discretization </a:t>
            </a:r>
          </a:p>
          <a:p>
            <a:pPr algn="just"/>
            <a:r>
              <a:rPr lang="en-US" sz="2000" dirty="0"/>
              <a:t>In this preprocessing step, the data are transformed or consolidated so that the resulting mining process may be more efﬁcient, and the patterns found may be easier to understand.</a:t>
            </a:r>
          </a:p>
          <a:p>
            <a:pPr algn="just"/>
            <a:r>
              <a:rPr lang="en-US" sz="2000" dirty="0"/>
              <a:t>Data discretization, is another form of data transformation.</a:t>
            </a:r>
            <a:endParaRPr lang="en-IN" sz="2000" dirty="0"/>
          </a:p>
        </p:txBody>
      </p:sp>
      <p:sp>
        <p:nvSpPr>
          <p:cNvPr id="4" name="Date Placeholder 3"/>
          <p:cNvSpPr>
            <a:spLocks noGrp="1"/>
          </p:cNvSpPr>
          <p:nvPr>
            <p:ph type="dt" sz="half" idx="10"/>
          </p:nvPr>
        </p:nvSpPr>
        <p:spPr/>
        <p:txBody>
          <a:bodyPr/>
          <a:lstStyle/>
          <a:p>
            <a:fld id="{E4C93EEE-D9EF-405B-B243-0BB37BF794C7}" type="datetime1">
              <a:rPr lang="en-US" smtClean="0"/>
              <a:t>8/5/2025</a:t>
            </a:fld>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93</a:t>
            </a:fld>
            <a:endParaRPr lang="en-US"/>
          </a:p>
        </p:txBody>
      </p:sp>
    </p:spTree>
    <p:extLst>
      <p:ext uri="{BB962C8B-B14F-4D97-AF65-F5344CB8AC3E}">
        <p14:creationId xmlns:p14="http://schemas.microsoft.com/office/powerpoint/2010/main" val="7645486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290290"/>
          </a:xfrm>
        </p:spPr>
        <p:txBody>
          <a:bodyPr>
            <a:normAutofit fontScale="90000"/>
          </a:bodyPr>
          <a:lstStyle/>
          <a:p>
            <a:endParaRPr lang="en-IN" dirty="0"/>
          </a:p>
        </p:txBody>
      </p:sp>
      <p:sp>
        <p:nvSpPr>
          <p:cNvPr id="3" name="Content Placeholder 2"/>
          <p:cNvSpPr>
            <a:spLocks noGrp="1"/>
          </p:cNvSpPr>
          <p:nvPr>
            <p:ph idx="1"/>
          </p:nvPr>
        </p:nvSpPr>
        <p:spPr>
          <a:xfrm>
            <a:off x="1194486" y="1152907"/>
            <a:ext cx="10310126" cy="4758315"/>
          </a:xfrm>
        </p:spPr>
        <p:txBody>
          <a:bodyPr>
            <a:normAutofit fontScale="92500" lnSpcReduction="10000"/>
          </a:bodyPr>
          <a:lstStyle/>
          <a:p>
            <a:pPr algn="just"/>
            <a:r>
              <a:rPr lang="en-US" sz="2200" b="1" dirty="0"/>
              <a:t>Data Transformation Strategies Overview</a:t>
            </a:r>
          </a:p>
          <a:p>
            <a:pPr algn="just"/>
            <a:r>
              <a:rPr lang="en-US" sz="2200" dirty="0"/>
              <a:t>In data transformation, the data are transformed or consolidated into forms appropriate for mining. </a:t>
            </a:r>
          </a:p>
          <a:p>
            <a:pPr algn="just"/>
            <a:r>
              <a:rPr lang="en-US" sz="2200" dirty="0"/>
              <a:t>Strategies for data transformation include the following:</a:t>
            </a:r>
          </a:p>
          <a:p>
            <a:pPr algn="just">
              <a:buFont typeface="+mj-lt"/>
              <a:buAutoNum type="arabicPeriod"/>
            </a:pPr>
            <a:r>
              <a:rPr lang="en-US" sz="2200" dirty="0"/>
              <a:t> Smoothing, which works to remove noise from the data. Techniques include binning, regression, and clustering.</a:t>
            </a:r>
          </a:p>
          <a:p>
            <a:pPr algn="just">
              <a:buFont typeface="+mj-lt"/>
              <a:buAutoNum type="arabicPeriod"/>
            </a:pPr>
            <a:r>
              <a:rPr lang="en-US" sz="2200" dirty="0"/>
              <a:t>Attribute construction (or feature construction), where new attributes are constructed and added from the given set of attributes to help the mining process. </a:t>
            </a:r>
          </a:p>
          <a:p>
            <a:pPr algn="just">
              <a:buFont typeface="+mj-lt"/>
              <a:buAutoNum type="arabicPeriod"/>
            </a:pPr>
            <a:r>
              <a:rPr lang="en-US" sz="2200" dirty="0"/>
              <a:t>Aggregation, where summary or aggregation operations are applied to the data. For example, the daily sales data may be aggregated so as to compute monthly and annual total amounts. </a:t>
            </a:r>
          </a:p>
          <a:p>
            <a:pPr algn="just">
              <a:buFont typeface="+mj-lt"/>
              <a:buAutoNum type="arabicPeriod"/>
            </a:pPr>
            <a:r>
              <a:rPr lang="en-US" sz="2200" dirty="0"/>
              <a:t>Normalization, where the attribute data are scaled so as to fall within a smaller range, such as−1.0 to 1.0, or 0.0 to 1.0. </a:t>
            </a:r>
          </a:p>
          <a:p>
            <a:pPr>
              <a:buFont typeface="+mj-lt"/>
              <a:buAutoNum type="arabicPeriod"/>
            </a:pPr>
            <a:endParaRPr lang="en-US" dirty="0"/>
          </a:p>
        </p:txBody>
      </p:sp>
      <p:sp>
        <p:nvSpPr>
          <p:cNvPr id="4" name="Date Placeholder 3"/>
          <p:cNvSpPr>
            <a:spLocks noGrp="1"/>
          </p:cNvSpPr>
          <p:nvPr>
            <p:ph type="dt" sz="half" idx="10"/>
          </p:nvPr>
        </p:nvSpPr>
        <p:spPr/>
        <p:txBody>
          <a:bodyPr/>
          <a:lstStyle/>
          <a:p>
            <a:fld id="{E4C93EEE-D9EF-405B-B243-0BB37BF794C7}" type="datetime1">
              <a:rPr lang="en-US" smtClean="0"/>
              <a:t>8/5/2025</a:t>
            </a:fld>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94</a:t>
            </a:fld>
            <a:endParaRPr lang="en-US"/>
          </a:p>
        </p:txBody>
      </p:sp>
    </p:spTree>
    <p:extLst>
      <p:ext uri="{BB962C8B-B14F-4D97-AF65-F5344CB8AC3E}">
        <p14:creationId xmlns:p14="http://schemas.microsoft.com/office/powerpoint/2010/main" val="223429473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364431"/>
          </a:xfrm>
        </p:spPr>
        <p:txBody>
          <a:bodyPr>
            <a:normAutofit fontScale="90000"/>
          </a:bodyPr>
          <a:lstStyle/>
          <a:p>
            <a:endParaRPr lang="en-IN" dirty="0"/>
          </a:p>
        </p:txBody>
      </p:sp>
      <p:sp>
        <p:nvSpPr>
          <p:cNvPr id="3" name="Content Placeholder 2"/>
          <p:cNvSpPr>
            <a:spLocks noGrp="1"/>
          </p:cNvSpPr>
          <p:nvPr>
            <p:ph idx="1"/>
          </p:nvPr>
        </p:nvSpPr>
        <p:spPr>
          <a:xfrm>
            <a:off x="1311579" y="1235677"/>
            <a:ext cx="10193033" cy="4675546"/>
          </a:xfrm>
        </p:spPr>
        <p:txBody>
          <a:bodyPr/>
          <a:lstStyle/>
          <a:p>
            <a:pPr algn="just">
              <a:buFont typeface="+mj-lt"/>
              <a:buAutoNum type="arabicPeriod" startAt="5"/>
            </a:pPr>
            <a:r>
              <a:rPr lang="en-US" sz="2000" dirty="0"/>
              <a:t>Concept hierarchy generation for nominal data, where attributes such as street can be generalized to higher-level concepts, like city or country. Many hierarchies for nominal attributes are implicit within the database schema and can be automatically deﬁned at the schema deﬁnition level.</a:t>
            </a:r>
          </a:p>
          <a:p>
            <a:pPr algn="just">
              <a:buFont typeface="+mj-lt"/>
              <a:buAutoNum type="arabicPeriod" startAt="6"/>
            </a:pPr>
            <a:r>
              <a:rPr lang="en-US" sz="2000" dirty="0"/>
              <a:t>Discretization, where the raw values of a numeric attribute (e.g., age) are replaced by interval labels (e.g., 0–10, 11–20, etc.) or conceptual labels (</a:t>
            </a:r>
            <a:r>
              <a:rPr lang="en-US" sz="2000" dirty="0" err="1"/>
              <a:t>e.g.,youth</a:t>
            </a:r>
            <a:r>
              <a:rPr lang="en-US" sz="2000" dirty="0"/>
              <a:t>, adult, senior). The labels, in turn, can be recursively organized into higher-level concepts, resulting in a concept hierarchy for the numeric attribute. </a:t>
            </a:r>
          </a:p>
          <a:p>
            <a:endParaRPr lang="en-US" sz="2000" dirty="0"/>
          </a:p>
          <a:p>
            <a:endParaRPr lang="en-US" dirty="0"/>
          </a:p>
          <a:p>
            <a:endParaRPr lang="en-US" dirty="0"/>
          </a:p>
          <a:p>
            <a:endParaRPr lang="en-US" dirty="0"/>
          </a:p>
          <a:p>
            <a:endParaRPr lang="en-IN" dirty="0"/>
          </a:p>
        </p:txBody>
      </p:sp>
      <p:sp>
        <p:nvSpPr>
          <p:cNvPr id="4" name="Date Placeholder 3"/>
          <p:cNvSpPr>
            <a:spLocks noGrp="1"/>
          </p:cNvSpPr>
          <p:nvPr>
            <p:ph type="dt" sz="half" idx="10"/>
          </p:nvPr>
        </p:nvSpPr>
        <p:spPr/>
        <p:txBody>
          <a:bodyPr/>
          <a:lstStyle/>
          <a:p>
            <a:fld id="{E4C93EEE-D9EF-405B-B243-0BB37BF794C7}" type="datetime1">
              <a:rPr lang="en-US" smtClean="0"/>
              <a:t>8/5/2025</a:t>
            </a:fld>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95</a:t>
            </a:fld>
            <a:endParaRPr lang="en-US"/>
          </a:p>
        </p:txBody>
      </p:sp>
    </p:spTree>
    <p:extLst>
      <p:ext uri="{BB962C8B-B14F-4D97-AF65-F5344CB8AC3E}">
        <p14:creationId xmlns:p14="http://schemas.microsoft.com/office/powerpoint/2010/main" val="402401797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372668"/>
          </a:xfrm>
        </p:spPr>
        <p:txBody>
          <a:bodyPr>
            <a:normAutofit fontScale="90000"/>
          </a:bodyPr>
          <a:lstStyle/>
          <a:p>
            <a:endParaRPr lang="en-IN" dirty="0"/>
          </a:p>
        </p:txBody>
      </p:sp>
      <p:sp>
        <p:nvSpPr>
          <p:cNvPr id="3" name="Content Placeholder 2"/>
          <p:cNvSpPr>
            <a:spLocks noGrp="1"/>
          </p:cNvSpPr>
          <p:nvPr>
            <p:ph idx="1"/>
          </p:nvPr>
        </p:nvSpPr>
        <p:spPr>
          <a:xfrm>
            <a:off x="1548714" y="1276865"/>
            <a:ext cx="10087703" cy="4654377"/>
          </a:xfrm>
        </p:spPr>
        <p:txBody>
          <a:bodyPr/>
          <a:lstStyle/>
          <a:p>
            <a:pPr algn="just"/>
            <a:r>
              <a:rPr lang="en-US" sz="2000" dirty="0"/>
              <a:t>Figure below shows a concept hierarchy for the attribute price. More than one concept hierarchy can be deﬁned for the same attribute to accommodate the needs of various users.</a:t>
            </a:r>
          </a:p>
          <a:p>
            <a:endParaRPr lang="en-IN" dirty="0"/>
          </a:p>
        </p:txBody>
      </p:sp>
      <p:sp>
        <p:nvSpPr>
          <p:cNvPr id="4" name="Date Placeholder 3"/>
          <p:cNvSpPr>
            <a:spLocks noGrp="1"/>
          </p:cNvSpPr>
          <p:nvPr>
            <p:ph type="dt" sz="half" idx="10"/>
          </p:nvPr>
        </p:nvSpPr>
        <p:spPr/>
        <p:txBody>
          <a:bodyPr/>
          <a:lstStyle/>
          <a:p>
            <a:fld id="{E4C93EEE-D9EF-405B-B243-0BB37BF794C7}" type="datetime1">
              <a:rPr lang="en-US" smtClean="0"/>
              <a:t>8/5/2025</a:t>
            </a:fld>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96</a:t>
            </a:fld>
            <a:endParaRPr lang="en-US"/>
          </a:p>
        </p:txBody>
      </p:sp>
      <p:pic>
        <p:nvPicPr>
          <p:cNvPr id="6" name="Content Placeholder 5"/>
          <p:cNvPicPr>
            <a:picLocks noChangeAspect="1"/>
          </p:cNvPicPr>
          <p:nvPr/>
        </p:nvPicPr>
        <p:blipFill>
          <a:blip r:embed="rId2"/>
          <a:stretch>
            <a:fillRect/>
          </a:stretch>
        </p:blipFill>
        <p:spPr>
          <a:xfrm>
            <a:off x="2025748" y="2595492"/>
            <a:ext cx="7962313" cy="3335750"/>
          </a:xfrm>
          <a:prstGeom prst="rect">
            <a:avLst/>
          </a:prstGeom>
        </p:spPr>
      </p:pic>
    </p:spTree>
    <p:extLst>
      <p:ext uri="{BB962C8B-B14F-4D97-AF65-F5344CB8AC3E}">
        <p14:creationId xmlns:p14="http://schemas.microsoft.com/office/powerpoint/2010/main" val="124227657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265576"/>
          </a:xfrm>
        </p:spPr>
        <p:txBody>
          <a:bodyPr>
            <a:normAutofit fontScale="90000"/>
          </a:bodyPr>
          <a:lstStyle/>
          <a:p>
            <a:endParaRPr lang="en-IN" dirty="0"/>
          </a:p>
        </p:txBody>
      </p:sp>
      <p:sp>
        <p:nvSpPr>
          <p:cNvPr id="4" name="Date Placeholder 3"/>
          <p:cNvSpPr>
            <a:spLocks noGrp="1"/>
          </p:cNvSpPr>
          <p:nvPr>
            <p:ph type="dt" sz="half" idx="10"/>
          </p:nvPr>
        </p:nvSpPr>
        <p:spPr/>
        <p:txBody>
          <a:bodyPr/>
          <a:lstStyle/>
          <a:p>
            <a:fld id="{E4C93EEE-D9EF-405B-B243-0BB37BF794C7}" type="datetime1">
              <a:rPr lang="en-US" smtClean="0"/>
              <a:t>8/5/2025</a:t>
            </a:fld>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97</a:t>
            </a:fld>
            <a:endParaRPr lang="en-US"/>
          </a:p>
        </p:txBody>
      </p:sp>
      <p:sp>
        <p:nvSpPr>
          <p:cNvPr id="7" name="Content Placeholder 6"/>
          <p:cNvSpPr>
            <a:spLocks noGrp="1"/>
          </p:cNvSpPr>
          <p:nvPr>
            <p:ph idx="1"/>
          </p:nvPr>
        </p:nvSpPr>
        <p:spPr>
          <a:xfrm>
            <a:off x="1311579" y="1252151"/>
            <a:ext cx="10193033" cy="4878286"/>
          </a:xfrm>
        </p:spPr>
        <p:txBody>
          <a:bodyPr>
            <a:noAutofit/>
          </a:bodyPr>
          <a:lstStyle/>
          <a:p>
            <a:pPr algn="just"/>
            <a:r>
              <a:rPr lang="en-US" sz="2000" dirty="0"/>
              <a:t>There is much overlap between the major data preprocessing tasks.</a:t>
            </a:r>
          </a:p>
          <a:p>
            <a:pPr algn="just"/>
            <a:r>
              <a:rPr lang="en-US" sz="2000" dirty="0"/>
              <a:t> The ﬁrst three of these strategies were discussed earlier in this chapter.</a:t>
            </a:r>
          </a:p>
          <a:p>
            <a:pPr algn="just"/>
            <a:r>
              <a:rPr lang="en-US" sz="2000" dirty="0"/>
              <a:t>In this section, we therefore concentrate on the latter three strategies.</a:t>
            </a:r>
          </a:p>
          <a:p>
            <a:pPr algn="just"/>
            <a:r>
              <a:rPr lang="en-US" sz="2000" dirty="0"/>
              <a:t>Discretization techniques can be categorized based on how the discretization is performed, such as whether it uses class information or which direction it proceeds (i.e., top-down vs. bottom-up).</a:t>
            </a:r>
          </a:p>
          <a:p>
            <a:pPr algn="just"/>
            <a:r>
              <a:rPr lang="en-US" sz="2000" dirty="0"/>
              <a:t> If the discretization process uses class information, then we say it is supervised discretization.</a:t>
            </a:r>
          </a:p>
          <a:p>
            <a:pPr algn="just"/>
            <a:r>
              <a:rPr lang="en-US" sz="2000" dirty="0"/>
              <a:t>Otherwise, it is unsupervised.</a:t>
            </a:r>
          </a:p>
          <a:p>
            <a:pPr algn="just"/>
            <a:r>
              <a:rPr lang="en-US" sz="2000" dirty="0"/>
              <a:t>If the process starts by ﬁrst ﬁnding one or a few points (called split points or cut points) to split the entire attribute range, and then repeats this recursively on the resulting intervals, it is called top-down discretization or splitting. </a:t>
            </a:r>
          </a:p>
        </p:txBody>
      </p:sp>
    </p:spTree>
    <p:extLst>
      <p:ext uri="{BB962C8B-B14F-4D97-AF65-F5344CB8AC3E}">
        <p14:creationId xmlns:p14="http://schemas.microsoft.com/office/powerpoint/2010/main" val="379814400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446809"/>
          </a:xfrm>
        </p:spPr>
        <p:txBody>
          <a:bodyPr>
            <a:normAutofit fontScale="90000"/>
          </a:bodyPr>
          <a:lstStyle/>
          <a:p>
            <a:endParaRPr lang="en-IN" dirty="0"/>
          </a:p>
        </p:txBody>
      </p:sp>
      <p:sp>
        <p:nvSpPr>
          <p:cNvPr id="3" name="Content Placeholder 2"/>
          <p:cNvSpPr>
            <a:spLocks noGrp="1"/>
          </p:cNvSpPr>
          <p:nvPr>
            <p:ph idx="1"/>
          </p:nvPr>
        </p:nvSpPr>
        <p:spPr>
          <a:xfrm>
            <a:off x="1383957" y="1416908"/>
            <a:ext cx="10120655" cy="4494314"/>
          </a:xfrm>
        </p:spPr>
        <p:txBody>
          <a:bodyPr>
            <a:normAutofit/>
          </a:bodyPr>
          <a:lstStyle/>
          <a:p>
            <a:pPr algn="just"/>
            <a:r>
              <a:rPr lang="en-US" sz="2000" dirty="0"/>
              <a:t>This contrasts with bottom-up discretization or merging, which starts by considering all of the continuous values as potential split-points, removes some by merging neighborhood values to form intervals, and then recursively applies this process to the resulting intervals. </a:t>
            </a:r>
            <a:endParaRPr lang="en-IN" sz="2000" dirty="0"/>
          </a:p>
          <a:p>
            <a:pPr algn="just"/>
            <a:r>
              <a:rPr lang="en-US" sz="2000" dirty="0"/>
              <a:t>Data discretization and concept hierarchy generation are also forms of data reduction. </a:t>
            </a:r>
          </a:p>
          <a:p>
            <a:pPr algn="just"/>
            <a:r>
              <a:rPr lang="en-US" sz="2000" dirty="0"/>
              <a:t>The raw data are replaced by a smaller number of interval or concept labels. </a:t>
            </a:r>
          </a:p>
          <a:p>
            <a:pPr algn="just"/>
            <a:r>
              <a:rPr lang="en-US" sz="2000" dirty="0"/>
              <a:t>This simpliﬁes the original data and makes the mining more efﬁcient. </a:t>
            </a:r>
          </a:p>
          <a:p>
            <a:pPr algn="just"/>
            <a:r>
              <a:rPr lang="en-US" sz="2000" dirty="0"/>
              <a:t>The resulting patterns mined are typically easier to understand. </a:t>
            </a:r>
          </a:p>
          <a:p>
            <a:pPr algn="just"/>
            <a:r>
              <a:rPr lang="en-US" sz="2000" dirty="0"/>
              <a:t>Concept hierarchies are also useful for mining at multiple abstraction levels. </a:t>
            </a:r>
            <a:endParaRPr lang="en-IN" sz="2000" dirty="0"/>
          </a:p>
        </p:txBody>
      </p:sp>
      <p:sp>
        <p:nvSpPr>
          <p:cNvPr id="4" name="Date Placeholder 3"/>
          <p:cNvSpPr>
            <a:spLocks noGrp="1"/>
          </p:cNvSpPr>
          <p:nvPr>
            <p:ph type="dt" sz="half" idx="10"/>
          </p:nvPr>
        </p:nvSpPr>
        <p:spPr/>
        <p:txBody>
          <a:bodyPr/>
          <a:lstStyle/>
          <a:p>
            <a:fld id="{E4C93EEE-D9EF-405B-B243-0BB37BF794C7}" type="datetime1">
              <a:rPr lang="en-US" smtClean="0"/>
              <a:t>8/5/2025</a:t>
            </a:fld>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98</a:t>
            </a:fld>
            <a:endParaRPr lang="en-US"/>
          </a:p>
        </p:txBody>
      </p:sp>
    </p:spTree>
    <p:extLst>
      <p:ext uri="{BB962C8B-B14F-4D97-AF65-F5344CB8AC3E}">
        <p14:creationId xmlns:p14="http://schemas.microsoft.com/office/powerpoint/2010/main" val="229997021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397382"/>
          </a:xfrm>
        </p:spPr>
        <p:txBody>
          <a:bodyPr>
            <a:normAutofit fontScale="90000"/>
          </a:bodyPr>
          <a:lstStyle/>
          <a:p>
            <a:endParaRPr lang="en-IN" dirty="0"/>
          </a:p>
        </p:txBody>
      </p:sp>
      <p:sp>
        <p:nvSpPr>
          <p:cNvPr id="3" name="Content Placeholder 2"/>
          <p:cNvSpPr>
            <a:spLocks noGrp="1"/>
          </p:cNvSpPr>
          <p:nvPr>
            <p:ph idx="1"/>
          </p:nvPr>
        </p:nvSpPr>
        <p:spPr>
          <a:xfrm>
            <a:off x="1153297" y="1392195"/>
            <a:ext cx="10351315" cy="4519027"/>
          </a:xfrm>
        </p:spPr>
        <p:txBody>
          <a:bodyPr>
            <a:noAutofit/>
          </a:bodyPr>
          <a:lstStyle/>
          <a:p>
            <a:pPr algn="just"/>
            <a:r>
              <a:rPr lang="en-US" sz="2000" b="1" dirty="0"/>
              <a:t>Data Transformation by Normalization</a:t>
            </a:r>
          </a:p>
          <a:p>
            <a:pPr algn="just"/>
            <a:r>
              <a:rPr lang="en-US" sz="2000" dirty="0"/>
              <a:t> The measurement unit used can affect the data analysis. </a:t>
            </a:r>
          </a:p>
          <a:p>
            <a:pPr algn="just"/>
            <a:r>
              <a:rPr lang="en-US" sz="2000" dirty="0"/>
              <a:t>For example, changing measurement units from meters to inches for height, or from kilograms to pounds for weight, may lead to very different results.</a:t>
            </a:r>
          </a:p>
          <a:p>
            <a:pPr algn="just"/>
            <a:r>
              <a:rPr lang="en-US" sz="2000" dirty="0"/>
              <a:t>In general, expressing an attribute in smaller units will lead to a larger range for that attribute, and thus tend to give such an attribute greater effect or “weight.”</a:t>
            </a:r>
          </a:p>
          <a:p>
            <a:pPr algn="just"/>
            <a:r>
              <a:rPr lang="en-US" sz="2000" dirty="0"/>
              <a:t> To help avoid dependence on the choice of measurement units, the data should be normalized or standardized.</a:t>
            </a:r>
          </a:p>
          <a:p>
            <a:pPr algn="just"/>
            <a:r>
              <a:rPr lang="en-US" sz="2000" dirty="0"/>
              <a:t> This involves transforming the data to fall within a smaller or common range such as [−1,1] or [0.0, 1.0]. </a:t>
            </a:r>
          </a:p>
          <a:p>
            <a:pPr algn="just"/>
            <a:r>
              <a:rPr lang="en-US" sz="2000" dirty="0"/>
              <a:t>Normalizing the data attempts to give all attributes an equal weight. </a:t>
            </a:r>
          </a:p>
        </p:txBody>
      </p:sp>
      <p:sp>
        <p:nvSpPr>
          <p:cNvPr id="4" name="Date Placeholder 3"/>
          <p:cNvSpPr>
            <a:spLocks noGrp="1"/>
          </p:cNvSpPr>
          <p:nvPr>
            <p:ph type="dt" sz="half" idx="10"/>
          </p:nvPr>
        </p:nvSpPr>
        <p:spPr/>
        <p:txBody>
          <a:bodyPr/>
          <a:lstStyle/>
          <a:p>
            <a:fld id="{E4C93EEE-D9EF-405B-B243-0BB37BF794C7}" type="datetime1">
              <a:rPr lang="en-US" smtClean="0"/>
              <a:t>8/5/2025</a:t>
            </a:fld>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99</a:t>
            </a:fld>
            <a:endParaRPr lang="en-US"/>
          </a:p>
        </p:txBody>
      </p:sp>
    </p:spTree>
    <p:extLst>
      <p:ext uri="{BB962C8B-B14F-4D97-AF65-F5344CB8AC3E}">
        <p14:creationId xmlns:p14="http://schemas.microsoft.com/office/powerpoint/2010/main" val="110064502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257339"/>
          </a:xfrm>
        </p:spPr>
        <p:txBody>
          <a:bodyPr>
            <a:normAutofit fontScale="90000"/>
          </a:bodyPr>
          <a:lstStyle/>
          <a:p>
            <a:endParaRPr lang="en-IN" dirty="0"/>
          </a:p>
        </p:txBody>
      </p:sp>
      <p:sp>
        <p:nvSpPr>
          <p:cNvPr id="3" name="Content Placeholder 2"/>
          <p:cNvSpPr>
            <a:spLocks noGrp="1"/>
          </p:cNvSpPr>
          <p:nvPr>
            <p:ph idx="1"/>
          </p:nvPr>
        </p:nvSpPr>
        <p:spPr>
          <a:xfrm>
            <a:off x="1169773" y="1243914"/>
            <a:ext cx="10334839" cy="4667308"/>
          </a:xfrm>
        </p:spPr>
        <p:txBody>
          <a:bodyPr>
            <a:noAutofit/>
          </a:bodyPr>
          <a:lstStyle/>
          <a:p>
            <a:pPr algn="just"/>
            <a:r>
              <a:rPr lang="en-US" sz="2000" dirty="0"/>
              <a:t>Normalization is particularly useful for classiﬁcation algorithms involving neural networks or distance measurements such as nearest-neighbor classiﬁcation and clustering. </a:t>
            </a:r>
          </a:p>
          <a:p>
            <a:pPr algn="just"/>
            <a:r>
              <a:rPr lang="en-US" sz="2000" dirty="0"/>
              <a:t>There are many methods for data normalization. </a:t>
            </a:r>
          </a:p>
          <a:p>
            <a:pPr algn="just"/>
            <a:r>
              <a:rPr lang="en-US" sz="2000" dirty="0"/>
              <a:t>We study min-max normalization, z-score normalization, and normalization by decimal scaling. </a:t>
            </a:r>
          </a:p>
          <a:p>
            <a:pPr algn="just"/>
            <a:r>
              <a:rPr lang="en-US" sz="2000" dirty="0"/>
              <a:t>For our discussion, let A be a numeric attribute with n observed values, v1,v2,...,</a:t>
            </a:r>
            <a:r>
              <a:rPr lang="en-US" sz="2000" dirty="0" err="1"/>
              <a:t>vn.</a:t>
            </a:r>
            <a:r>
              <a:rPr lang="en-US" sz="2000" dirty="0"/>
              <a:t> </a:t>
            </a:r>
          </a:p>
          <a:p>
            <a:pPr algn="just"/>
            <a:r>
              <a:rPr lang="en-IN" sz="2000" dirty="0"/>
              <a:t>Min-max normalization performs a linear transformation on the original data.</a:t>
            </a:r>
          </a:p>
          <a:p>
            <a:pPr algn="just"/>
            <a:r>
              <a:rPr lang="en-IN" sz="2000" dirty="0"/>
              <a:t>Suppose that </a:t>
            </a:r>
            <a:r>
              <a:rPr lang="en-IN" sz="2000" dirty="0" err="1"/>
              <a:t>min</a:t>
            </a:r>
            <a:r>
              <a:rPr lang="en-IN" sz="2000" baseline="-25000" dirty="0" err="1"/>
              <a:t>A</a:t>
            </a:r>
            <a:r>
              <a:rPr lang="en-IN" sz="2000" dirty="0"/>
              <a:t> and </a:t>
            </a:r>
            <a:r>
              <a:rPr lang="en-IN" sz="2000" dirty="0" err="1"/>
              <a:t>max</a:t>
            </a:r>
            <a:r>
              <a:rPr lang="en-IN" sz="2000" baseline="-25000" dirty="0" err="1"/>
              <a:t>A</a:t>
            </a:r>
            <a:r>
              <a:rPr lang="en-IN" sz="2000" dirty="0"/>
              <a:t> are the minimum and maximum values of an attribute, A. </a:t>
            </a:r>
          </a:p>
          <a:p>
            <a:pPr algn="just"/>
            <a:endParaRPr lang="en-US" sz="2000" dirty="0"/>
          </a:p>
        </p:txBody>
      </p:sp>
      <p:sp>
        <p:nvSpPr>
          <p:cNvPr id="4" name="Date Placeholder 3"/>
          <p:cNvSpPr>
            <a:spLocks noGrp="1"/>
          </p:cNvSpPr>
          <p:nvPr>
            <p:ph type="dt" sz="half" idx="10"/>
          </p:nvPr>
        </p:nvSpPr>
        <p:spPr/>
        <p:txBody>
          <a:bodyPr/>
          <a:lstStyle/>
          <a:p>
            <a:fld id="{E4C93EEE-D9EF-405B-B243-0BB37BF794C7}" type="datetime1">
              <a:rPr lang="en-US" smtClean="0"/>
              <a:t>8/5/2025</a:t>
            </a:fld>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100</a:t>
            </a:fld>
            <a:endParaRPr lang="en-US"/>
          </a:p>
        </p:txBody>
      </p:sp>
    </p:spTree>
    <p:extLst>
      <p:ext uri="{BB962C8B-B14F-4D97-AF65-F5344CB8AC3E}">
        <p14:creationId xmlns:p14="http://schemas.microsoft.com/office/powerpoint/2010/main" val="57762804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347955"/>
          </a:xfrm>
        </p:spPr>
        <p:txBody>
          <a:bodyPr>
            <a:normAutofit fontScale="90000"/>
          </a:bodyPr>
          <a:lstStyle/>
          <a:p>
            <a:endParaRPr lang="en-IN" dirty="0"/>
          </a:p>
        </p:txBody>
      </p:sp>
      <p:sp>
        <p:nvSpPr>
          <p:cNvPr id="3" name="Content Placeholder 2"/>
          <p:cNvSpPr>
            <a:spLocks noGrp="1"/>
          </p:cNvSpPr>
          <p:nvPr>
            <p:ph idx="1"/>
          </p:nvPr>
        </p:nvSpPr>
        <p:spPr>
          <a:xfrm>
            <a:off x="1029730" y="1342768"/>
            <a:ext cx="10474882" cy="4568454"/>
          </a:xfrm>
        </p:spPr>
        <p:txBody>
          <a:bodyPr/>
          <a:lstStyle/>
          <a:p>
            <a:r>
              <a:rPr lang="en-IN" sz="2000" dirty="0"/>
              <a:t>Min-max normalization maps a value, v</a:t>
            </a:r>
            <a:r>
              <a:rPr lang="en-IN" sz="2000" baseline="-25000" dirty="0"/>
              <a:t>i</a:t>
            </a:r>
            <a:r>
              <a:rPr lang="en-IN" sz="2000" dirty="0"/>
              <a:t>, of A to </a:t>
            </a:r>
            <a:r>
              <a:rPr lang="en-IN" sz="2000" dirty="0" err="1"/>
              <a:t>v′</a:t>
            </a:r>
            <a:r>
              <a:rPr lang="en-IN" sz="2000" baseline="-25000" dirty="0" err="1"/>
              <a:t>i</a:t>
            </a:r>
            <a:r>
              <a:rPr lang="en-IN" sz="2000" dirty="0"/>
              <a:t> in the range [</a:t>
            </a:r>
            <a:r>
              <a:rPr lang="en-IN" sz="2000" dirty="0" err="1"/>
              <a:t>new_min</a:t>
            </a:r>
            <a:r>
              <a:rPr lang="en-IN" sz="2000" baseline="-25000" dirty="0" err="1"/>
              <a:t>A</a:t>
            </a:r>
            <a:r>
              <a:rPr lang="en-IN" sz="2000" dirty="0"/>
              <a:t>, new_ </a:t>
            </a:r>
            <a:r>
              <a:rPr lang="en-IN" sz="2000" dirty="0" err="1"/>
              <a:t>max</a:t>
            </a:r>
            <a:r>
              <a:rPr lang="en-IN" sz="2000" baseline="-25000" dirty="0" err="1"/>
              <a:t>A</a:t>
            </a:r>
            <a:r>
              <a:rPr lang="en-IN" sz="2000" dirty="0"/>
              <a:t>] by computing</a:t>
            </a:r>
          </a:p>
          <a:p>
            <a:endParaRPr lang="en-US" sz="2000" dirty="0"/>
          </a:p>
          <a:p>
            <a:endParaRPr lang="en-US" sz="2000" dirty="0"/>
          </a:p>
          <a:p>
            <a:r>
              <a:rPr lang="en-US" sz="2000" dirty="0"/>
              <a:t>Min-max normalization preserves the relationships among the original data values.</a:t>
            </a:r>
          </a:p>
          <a:p>
            <a:r>
              <a:rPr lang="en-US" sz="2000" dirty="0"/>
              <a:t> It will encounter an “out-of-bounds” error if a future input case for normalization falls outside of the original data range for A.</a:t>
            </a:r>
          </a:p>
          <a:p>
            <a:endParaRPr lang="en-IN" dirty="0"/>
          </a:p>
        </p:txBody>
      </p:sp>
      <p:sp>
        <p:nvSpPr>
          <p:cNvPr id="4" name="Date Placeholder 3"/>
          <p:cNvSpPr>
            <a:spLocks noGrp="1"/>
          </p:cNvSpPr>
          <p:nvPr>
            <p:ph type="dt" sz="half" idx="10"/>
          </p:nvPr>
        </p:nvSpPr>
        <p:spPr/>
        <p:txBody>
          <a:bodyPr/>
          <a:lstStyle/>
          <a:p>
            <a:fld id="{E4C93EEE-D9EF-405B-B243-0BB37BF794C7}" type="datetime1">
              <a:rPr lang="en-US" smtClean="0"/>
              <a:t>8/5/2025</a:t>
            </a:fld>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101</a:t>
            </a:fld>
            <a:endParaRPr lang="en-US"/>
          </a:p>
        </p:txBody>
      </p:sp>
      <p:pic>
        <p:nvPicPr>
          <p:cNvPr id="6" name="Picture 5"/>
          <p:cNvPicPr>
            <a:picLocks noChangeAspect="1"/>
          </p:cNvPicPr>
          <p:nvPr/>
        </p:nvPicPr>
        <p:blipFill>
          <a:blip r:embed="rId2"/>
          <a:stretch>
            <a:fillRect/>
          </a:stretch>
        </p:blipFill>
        <p:spPr>
          <a:xfrm>
            <a:off x="2174790" y="2125618"/>
            <a:ext cx="6219568" cy="840003"/>
          </a:xfrm>
          <a:prstGeom prst="rect">
            <a:avLst/>
          </a:prstGeom>
        </p:spPr>
      </p:pic>
      <p:pic>
        <p:nvPicPr>
          <p:cNvPr id="7" name="Picture 6"/>
          <p:cNvPicPr>
            <a:picLocks noChangeAspect="1"/>
          </p:cNvPicPr>
          <p:nvPr/>
        </p:nvPicPr>
        <p:blipFill>
          <a:blip r:embed="rId3"/>
          <a:stretch>
            <a:fillRect/>
          </a:stretch>
        </p:blipFill>
        <p:spPr>
          <a:xfrm>
            <a:off x="1377482" y="4490405"/>
            <a:ext cx="9156744" cy="1351708"/>
          </a:xfrm>
          <a:prstGeom prst="rect">
            <a:avLst/>
          </a:prstGeom>
        </p:spPr>
      </p:pic>
    </p:spTree>
    <p:extLst>
      <p:ext uri="{BB962C8B-B14F-4D97-AF65-F5344CB8AC3E}">
        <p14:creationId xmlns:p14="http://schemas.microsoft.com/office/powerpoint/2010/main" val="203917963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315004"/>
          </a:xfrm>
        </p:spPr>
        <p:txBody>
          <a:bodyPr>
            <a:normAutofit fontScale="90000"/>
          </a:bodyPr>
          <a:lstStyle/>
          <a:p>
            <a:endParaRPr lang="en-IN" dirty="0"/>
          </a:p>
        </p:txBody>
      </p:sp>
      <p:sp>
        <p:nvSpPr>
          <p:cNvPr id="3" name="Content Placeholder 2"/>
          <p:cNvSpPr>
            <a:spLocks noGrp="1"/>
          </p:cNvSpPr>
          <p:nvPr>
            <p:ph idx="1"/>
          </p:nvPr>
        </p:nvSpPr>
        <p:spPr>
          <a:xfrm>
            <a:off x="1408670" y="1252151"/>
            <a:ext cx="10095942" cy="4659071"/>
          </a:xfrm>
        </p:spPr>
        <p:txBody>
          <a:bodyPr/>
          <a:lstStyle/>
          <a:p>
            <a:r>
              <a:rPr lang="en-US" sz="2000" dirty="0"/>
              <a:t>In z-score normalization (or zero-mean normalization), the values for an attribute, A, are normalized based on the mean (</a:t>
            </a:r>
            <a:r>
              <a:rPr lang="en-US" sz="2000" dirty="0" err="1"/>
              <a:t>i.e.,average</a:t>
            </a:r>
            <a:r>
              <a:rPr lang="en-US" sz="2000" dirty="0"/>
              <a:t>) and standard deviation of A.</a:t>
            </a:r>
          </a:p>
          <a:p>
            <a:r>
              <a:rPr lang="en-US" sz="2000" dirty="0"/>
              <a:t>A value, v</a:t>
            </a:r>
            <a:r>
              <a:rPr lang="en-US" sz="2000" baseline="-25000" dirty="0"/>
              <a:t>i</a:t>
            </a:r>
            <a:r>
              <a:rPr lang="en-US" sz="2000" dirty="0"/>
              <a:t>, of A is normalized to v</a:t>
            </a:r>
            <a:r>
              <a:rPr lang="en-IN" sz="2000" dirty="0"/>
              <a:t>′</a:t>
            </a:r>
            <a:r>
              <a:rPr lang="en-US" sz="2000" baseline="-25000" dirty="0" err="1"/>
              <a:t>i</a:t>
            </a:r>
            <a:r>
              <a:rPr lang="en-US" sz="2000" dirty="0"/>
              <a:t> by computing</a:t>
            </a:r>
          </a:p>
          <a:p>
            <a:endParaRPr lang="en-US" sz="2000" dirty="0"/>
          </a:p>
          <a:p>
            <a:r>
              <a:rPr lang="en-US" sz="2000" dirty="0"/>
              <a:t>where  A¯ and </a:t>
            </a:r>
            <a:r>
              <a:rPr lang="en-US" sz="2000" dirty="0" err="1"/>
              <a:t>σ</a:t>
            </a:r>
            <a:r>
              <a:rPr lang="en-US" sz="2000" baseline="-25000" dirty="0" err="1"/>
              <a:t>A</a:t>
            </a:r>
            <a:r>
              <a:rPr lang="en-US" sz="2000" dirty="0"/>
              <a:t> are the mean and standard deviation, respectively, of attribute A. </a:t>
            </a:r>
          </a:p>
          <a:p>
            <a:r>
              <a:rPr lang="en-US" sz="2000" dirty="0"/>
              <a:t>This method of normalization is useful when the actual minimum and maximum of attribute A are unknown, or when there are outliers that dominate the min-max normalization.</a:t>
            </a:r>
          </a:p>
          <a:p>
            <a:endParaRPr lang="en-US" dirty="0"/>
          </a:p>
          <a:p>
            <a:endParaRPr lang="en-IN" dirty="0"/>
          </a:p>
        </p:txBody>
      </p:sp>
      <p:sp>
        <p:nvSpPr>
          <p:cNvPr id="4" name="Date Placeholder 3"/>
          <p:cNvSpPr>
            <a:spLocks noGrp="1"/>
          </p:cNvSpPr>
          <p:nvPr>
            <p:ph type="dt" sz="half" idx="10"/>
          </p:nvPr>
        </p:nvSpPr>
        <p:spPr/>
        <p:txBody>
          <a:bodyPr/>
          <a:lstStyle/>
          <a:p>
            <a:fld id="{E4C93EEE-D9EF-405B-B243-0BB37BF794C7}" type="datetime1">
              <a:rPr lang="en-US" smtClean="0"/>
              <a:t>8/5/2025</a:t>
            </a:fld>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102</a:t>
            </a:fld>
            <a:endParaRPr lang="en-US"/>
          </a:p>
        </p:txBody>
      </p:sp>
      <p:pic>
        <p:nvPicPr>
          <p:cNvPr id="6" name="Picture 5"/>
          <p:cNvPicPr>
            <a:picLocks noChangeAspect="1"/>
          </p:cNvPicPr>
          <p:nvPr/>
        </p:nvPicPr>
        <p:blipFill>
          <a:blip r:embed="rId2"/>
          <a:stretch>
            <a:fillRect/>
          </a:stretch>
        </p:blipFill>
        <p:spPr>
          <a:xfrm>
            <a:off x="2592925" y="2706130"/>
            <a:ext cx="5504869" cy="457200"/>
          </a:xfrm>
          <a:prstGeom prst="rect">
            <a:avLst/>
          </a:prstGeom>
        </p:spPr>
      </p:pic>
      <p:pic>
        <p:nvPicPr>
          <p:cNvPr id="7" name="Picture 6"/>
          <p:cNvPicPr>
            <a:picLocks noChangeAspect="1"/>
          </p:cNvPicPr>
          <p:nvPr/>
        </p:nvPicPr>
        <p:blipFill>
          <a:blip r:embed="rId3"/>
          <a:stretch>
            <a:fillRect/>
          </a:stretch>
        </p:blipFill>
        <p:spPr>
          <a:xfrm>
            <a:off x="1723961" y="4911237"/>
            <a:ext cx="8982461" cy="1219200"/>
          </a:xfrm>
          <a:prstGeom prst="rect">
            <a:avLst/>
          </a:prstGeom>
        </p:spPr>
      </p:pic>
    </p:spTree>
    <p:extLst>
      <p:ext uri="{BB962C8B-B14F-4D97-AF65-F5344CB8AC3E}">
        <p14:creationId xmlns:p14="http://schemas.microsoft.com/office/powerpoint/2010/main" val="165337645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372668"/>
          </a:xfrm>
        </p:spPr>
        <p:txBody>
          <a:bodyPr>
            <a:normAutofit fontScale="90000"/>
          </a:bodyPr>
          <a:lstStyle/>
          <a:p>
            <a:endParaRPr lang="en-IN" dirty="0"/>
          </a:p>
        </p:txBody>
      </p:sp>
      <p:sp>
        <p:nvSpPr>
          <p:cNvPr id="3" name="Content Placeholder 2"/>
          <p:cNvSpPr>
            <a:spLocks noGrp="1"/>
          </p:cNvSpPr>
          <p:nvPr>
            <p:ph idx="1"/>
          </p:nvPr>
        </p:nvSpPr>
        <p:spPr>
          <a:xfrm>
            <a:off x="1491049" y="1285103"/>
            <a:ext cx="10013563" cy="4626119"/>
          </a:xfrm>
        </p:spPr>
        <p:txBody>
          <a:bodyPr/>
          <a:lstStyle/>
          <a:p>
            <a:r>
              <a:rPr lang="en-IN" sz="2000" dirty="0"/>
              <a:t>Normalization by decimal scaling normalizes by moving the decimal point of values of attribute A.</a:t>
            </a:r>
          </a:p>
          <a:p>
            <a:r>
              <a:rPr lang="en-IN" sz="2000" dirty="0"/>
              <a:t>The number of decimal points moved depends on the maximum absolute value of A. </a:t>
            </a:r>
          </a:p>
          <a:p>
            <a:r>
              <a:rPr lang="en-IN" sz="2000" dirty="0"/>
              <a:t>A value, vi, of A is normalized to </a:t>
            </a:r>
            <a:r>
              <a:rPr lang="en-IN" sz="2000" dirty="0" err="1"/>
              <a:t>v′</a:t>
            </a:r>
            <a:r>
              <a:rPr lang="en-IN" sz="2000" baseline="-25000" dirty="0" err="1"/>
              <a:t>i</a:t>
            </a:r>
            <a:r>
              <a:rPr lang="en-IN" sz="2000" dirty="0"/>
              <a:t> by computing </a:t>
            </a:r>
          </a:p>
          <a:p>
            <a:endParaRPr lang="en-US" dirty="0"/>
          </a:p>
          <a:p>
            <a:endParaRPr lang="en-US" dirty="0"/>
          </a:p>
          <a:p>
            <a:endParaRPr lang="en-US" dirty="0"/>
          </a:p>
          <a:p>
            <a:endParaRPr lang="en-IN" dirty="0"/>
          </a:p>
          <a:p>
            <a:endParaRPr lang="en-IN" dirty="0"/>
          </a:p>
        </p:txBody>
      </p:sp>
      <p:sp>
        <p:nvSpPr>
          <p:cNvPr id="4" name="Date Placeholder 3"/>
          <p:cNvSpPr>
            <a:spLocks noGrp="1"/>
          </p:cNvSpPr>
          <p:nvPr>
            <p:ph type="dt" sz="half" idx="10"/>
          </p:nvPr>
        </p:nvSpPr>
        <p:spPr/>
        <p:txBody>
          <a:bodyPr/>
          <a:lstStyle/>
          <a:p>
            <a:fld id="{E4C93EEE-D9EF-405B-B243-0BB37BF794C7}" type="datetime1">
              <a:rPr lang="en-US" smtClean="0"/>
              <a:t>8/5/2025</a:t>
            </a:fld>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103</a:t>
            </a:fld>
            <a:endParaRPr lang="en-US"/>
          </a:p>
        </p:txBody>
      </p:sp>
      <p:pic>
        <p:nvPicPr>
          <p:cNvPr id="6" name="Picture 5"/>
          <p:cNvPicPr>
            <a:picLocks noChangeAspect="1"/>
          </p:cNvPicPr>
          <p:nvPr/>
        </p:nvPicPr>
        <p:blipFill>
          <a:blip r:embed="rId2"/>
          <a:stretch>
            <a:fillRect/>
          </a:stretch>
        </p:blipFill>
        <p:spPr>
          <a:xfrm>
            <a:off x="2133600" y="3297194"/>
            <a:ext cx="6870357" cy="895221"/>
          </a:xfrm>
          <a:prstGeom prst="rect">
            <a:avLst/>
          </a:prstGeom>
        </p:spPr>
      </p:pic>
      <p:pic>
        <p:nvPicPr>
          <p:cNvPr id="7" name="Picture 6"/>
          <p:cNvPicPr>
            <a:picLocks noChangeAspect="1"/>
          </p:cNvPicPr>
          <p:nvPr/>
        </p:nvPicPr>
        <p:blipFill>
          <a:blip r:embed="rId3"/>
          <a:stretch>
            <a:fillRect/>
          </a:stretch>
        </p:blipFill>
        <p:spPr>
          <a:xfrm>
            <a:off x="1634910" y="4580815"/>
            <a:ext cx="9049565" cy="1435057"/>
          </a:xfrm>
          <a:prstGeom prst="rect">
            <a:avLst/>
          </a:prstGeom>
        </p:spPr>
      </p:pic>
    </p:spTree>
    <p:extLst>
      <p:ext uri="{BB962C8B-B14F-4D97-AF65-F5344CB8AC3E}">
        <p14:creationId xmlns:p14="http://schemas.microsoft.com/office/powerpoint/2010/main" val="389563530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528797"/>
          </a:xfrm>
        </p:spPr>
        <p:txBody>
          <a:bodyPr>
            <a:normAutofit fontScale="90000"/>
          </a:bodyPr>
          <a:lstStyle/>
          <a:p>
            <a:endParaRPr lang="en-IN" dirty="0"/>
          </a:p>
        </p:txBody>
      </p:sp>
      <p:sp>
        <p:nvSpPr>
          <p:cNvPr id="3" name="Content Placeholder 2"/>
          <p:cNvSpPr>
            <a:spLocks noGrp="1"/>
          </p:cNvSpPr>
          <p:nvPr>
            <p:ph idx="1"/>
          </p:nvPr>
        </p:nvSpPr>
        <p:spPr>
          <a:xfrm>
            <a:off x="1311579" y="1565189"/>
            <a:ext cx="10193033" cy="4346033"/>
          </a:xfrm>
        </p:spPr>
        <p:txBody>
          <a:bodyPr/>
          <a:lstStyle/>
          <a:p>
            <a:r>
              <a:rPr lang="en-US" sz="2000" dirty="0"/>
              <a:t>Normalization can change the original data quite a bit, especially when using z-score normalization or decimal scaling.</a:t>
            </a:r>
          </a:p>
          <a:p>
            <a:r>
              <a:rPr lang="en-US" sz="2000" dirty="0"/>
              <a:t>It is also necessary to save the normalization parameters (e.g., the mean and standard deviation if using z-score normalization) so that future data can be normalized in a uniform manner.</a:t>
            </a:r>
          </a:p>
          <a:p>
            <a:endParaRPr lang="en-US" sz="2000" dirty="0"/>
          </a:p>
          <a:p>
            <a:r>
              <a:rPr lang="en-US" sz="2000" dirty="0"/>
              <a:t>Example</a:t>
            </a:r>
          </a:p>
          <a:p>
            <a:pPr marL="400050" lvl="1" indent="0" algn="just">
              <a:spcBef>
                <a:spcPts val="0"/>
              </a:spcBef>
              <a:buNone/>
            </a:pPr>
            <a:r>
              <a:rPr lang="en-US" sz="2000" dirty="0">
                <a:effectLst/>
                <a:latin typeface="Verdana" panose="020B0604030504040204" pitchFamily="34" charset="0"/>
                <a:ea typeface="Times New Roman" panose="02020603050405020304" pitchFamily="18" charset="0"/>
              </a:rPr>
              <a:t>Using min-max and Z-score and decimal scaling(j=3) normalization method, normalize the following set of data</a:t>
            </a:r>
            <a:endParaRPr lang="en-US" sz="2000" dirty="0">
              <a:effectLst/>
              <a:latin typeface="Times New Roman" panose="02020603050405020304" pitchFamily="18" charset="0"/>
              <a:ea typeface="Times New Roman" panose="02020603050405020304" pitchFamily="18" charset="0"/>
            </a:endParaRPr>
          </a:p>
          <a:p>
            <a:pPr marL="0" indent="0">
              <a:buNone/>
            </a:pPr>
            <a:r>
              <a:rPr lang="en-US" sz="1800" dirty="0">
                <a:effectLst/>
                <a:latin typeface="Verdana" panose="020B0604030504040204" pitchFamily="34" charset="0"/>
                <a:ea typeface="Times New Roman" panose="02020603050405020304" pitchFamily="18" charset="0"/>
                <a:cs typeface="Times New Roman" panose="02020603050405020304" pitchFamily="18" charset="0"/>
              </a:rPr>
              <a:t>              (90, 95, 92, 93, 98, 95, 98, 90)</a:t>
            </a:r>
            <a:endParaRPr lang="en-US" sz="2000" dirty="0"/>
          </a:p>
          <a:p>
            <a:endParaRPr lang="en-IN" dirty="0"/>
          </a:p>
        </p:txBody>
      </p:sp>
      <p:sp>
        <p:nvSpPr>
          <p:cNvPr id="4" name="Date Placeholder 3"/>
          <p:cNvSpPr>
            <a:spLocks noGrp="1"/>
          </p:cNvSpPr>
          <p:nvPr>
            <p:ph type="dt" sz="half" idx="10"/>
          </p:nvPr>
        </p:nvSpPr>
        <p:spPr/>
        <p:txBody>
          <a:bodyPr/>
          <a:lstStyle/>
          <a:p>
            <a:fld id="{E4C93EEE-D9EF-405B-B243-0BB37BF794C7}" type="datetime1">
              <a:rPr lang="en-US" smtClean="0"/>
              <a:t>8/5/2025</a:t>
            </a:fld>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104</a:t>
            </a:fld>
            <a:endParaRPr lang="en-US"/>
          </a:p>
        </p:txBody>
      </p:sp>
    </p:spTree>
    <p:extLst>
      <p:ext uri="{BB962C8B-B14F-4D97-AF65-F5344CB8AC3E}">
        <p14:creationId xmlns:p14="http://schemas.microsoft.com/office/powerpoint/2010/main" val="290744864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224387"/>
          </a:xfrm>
        </p:spPr>
        <p:txBody>
          <a:bodyPr>
            <a:normAutofit fontScale="90000"/>
          </a:bodyPr>
          <a:lstStyle/>
          <a:p>
            <a:endParaRPr lang="en-IN" dirty="0"/>
          </a:p>
        </p:txBody>
      </p:sp>
      <p:sp>
        <p:nvSpPr>
          <p:cNvPr id="3" name="Content Placeholder 2"/>
          <p:cNvSpPr>
            <a:spLocks noGrp="1"/>
          </p:cNvSpPr>
          <p:nvPr>
            <p:ph idx="1"/>
          </p:nvPr>
        </p:nvSpPr>
        <p:spPr>
          <a:xfrm>
            <a:off x="1311579" y="1322363"/>
            <a:ext cx="10193033" cy="4588859"/>
          </a:xfrm>
        </p:spPr>
        <p:txBody>
          <a:bodyPr>
            <a:noAutofit/>
          </a:bodyPr>
          <a:lstStyle/>
          <a:p>
            <a:pPr algn="just"/>
            <a:r>
              <a:rPr lang="en-US" sz="2000" b="1" dirty="0"/>
              <a:t>Discretization by Binning </a:t>
            </a:r>
          </a:p>
          <a:p>
            <a:pPr algn="just"/>
            <a:r>
              <a:rPr lang="en-US" sz="2000" dirty="0"/>
              <a:t>Binning is a top-down splitting technique based on a speciﬁed number of bins. </a:t>
            </a:r>
          </a:p>
          <a:p>
            <a:pPr algn="just"/>
            <a:r>
              <a:rPr lang="en-US" sz="2000" dirty="0"/>
              <a:t>These methods are also used as discretization methods for data reduction and concept hierarchy generation.</a:t>
            </a:r>
          </a:p>
          <a:p>
            <a:pPr algn="just"/>
            <a:r>
              <a:rPr lang="en-US" sz="2000" dirty="0"/>
              <a:t>For example, attribute values can be discretized by applying equal-width or equal-frequency binning, and then replacing each bin value by the bin mean or median.</a:t>
            </a:r>
          </a:p>
          <a:p>
            <a:pPr algn="just"/>
            <a:r>
              <a:rPr lang="en-US" sz="2000" dirty="0"/>
              <a:t>These techniques can be applied recursively to the resulting partitions to generate concept hierarchies. </a:t>
            </a:r>
          </a:p>
        </p:txBody>
      </p:sp>
      <p:sp>
        <p:nvSpPr>
          <p:cNvPr id="4" name="Date Placeholder 3"/>
          <p:cNvSpPr>
            <a:spLocks noGrp="1"/>
          </p:cNvSpPr>
          <p:nvPr>
            <p:ph type="dt" sz="half" idx="10"/>
          </p:nvPr>
        </p:nvSpPr>
        <p:spPr/>
        <p:txBody>
          <a:bodyPr/>
          <a:lstStyle/>
          <a:p>
            <a:fld id="{E4C93EEE-D9EF-405B-B243-0BB37BF794C7}" type="datetime1">
              <a:rPr lang="en-US" smtClean="0"/>
              <a:t>8/5/2025</a:t>
            </a:fld>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105</a:t>
            </a:fld>
            <a:endParaRPr lang="en-US"/>
          </a:p>
        </p:txBody>
      </p:sp>
    </p:spTree>
    <p:extLst>
      <p:ext uri="{BB962C8B-B14F-4D97-AF65-F5344CB8AC3E}">
        <p14:creationId xmlns:p14="http://schemas.microsoft.com/office/powerpoint/2010/main" val="427827108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430333"/>
          </a:xfrm>
        </p:spPr>
        <p:txBody>
          <a:bodyPr>
            <a:normAutofit fontScale="90000"/>
          </a:bodyPr>
          <a:lstStyle/>
          <a:p>
            <a:endParaRPr lang="en-IN" dirty="0"/>
          </a:p>
        </p:txBody>
      </p:sp>
      <p:sp>
        <p:nvSpPr>
          <p:cNvPr id="3" name="Content Placeholder 2"/>
          <p:cNvSpPr>
            <a:spLocks noGrp="1"/>
          </p:cNvSpPr>
          <p:nvPr>
            <p:ph idx="1"/>
          </p:nvPr>
        </p:nvSpPr>
        <p:spPr>
          <a:xfrm>
            <a:off x="815547" y="1491174"/>
            <a:ext cx="10689066" cy="4580111"/>
          </a:xfrm>
        </p:spPr>
        <p:txBody>
          <a:bodyPr>
            <a:noAutofit/>
          </a:bodyPr>
          <a:lstStyle/>
          <a:p>
            <a:pPr algn="just"/>
            <a:r>
              <a:rPr lang="en-US" sz="2000" b="1" dirty="0"/>
              <a:t>Discretization by Histogram Analysis</a:t>
            </a:r>
          </a:p>
          <a:p>
            <a:pPr algn="just"/>
            <a:r>
              <a:rPr lang="en-US" sz="2000" dirty="0"/>
              <a:t>A histogram partitions the values of an attribute, A, into disjoint ranges called buckets or bins.</a:t>
            </a:r>
          </a:p>
          <a:p>
            <a:pPr algn="just"/>
            <a:r>
              <a:rPr lang="en-US" sz="2000" dirty="0"/>
              <a:t>Various partitioning rules can be used to deﬁne histograms.</a:t>
            </a:r>
          </a:p>
          <a:p>
            <a:pPr algn="just"/>
            <a:r>
              <a:rPr lang="en-US" sz="2000" dirty="0"/>
              <a:t> In an equal-width histogram, for example, the values are partitioned into equal-size partitions or ranges</a:t>
            </a:r>
          </a:p>
          <a:p>
            <a:pPr algn="just"/>
            <a:r>
              <a:rPr lang="en-US" sz="2000" dirty="0"/>
              <a:t>With an equal-frequency histogram, the values are partitioned so that, ideally, each partition contains the same number of data tuples.</a:t>
            </a:r>
          </a:p>
        </p:txBody>
      </p:sp>
      <p:sp>
        <p:nvSpPr>
          <p:cNvPr id="4" name="Date Placeholder 3"/>
          <p:cNvSpPr>
            <a:spLocks noGrp="1"/>
          </p:cNvSpPr>
          <p:nvPr>
            <p:ph type="dt" sz="half" idx="10"/>
          </p:nvPr>
        </p:nvSpPr>
        <p:spPr/>
        <p:txBody>
          <a:bodyPr/>
          <a:lstStyle/>
          <a:p>
            <a:fld id="{E4C93EEE-D9EF-405B-B243-0BB37BF794C7}" type="datetime1">
              <a:rPr lang="en-US" smtClean="0"/>
              <a:t>8/5/2025</a:t>
            </a:fld>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106</a:t>
            </a:fld>
            <a:endParaRPr lang="en-US"/>
          </a:p>
        </p:txBody>
      </p:sp>
    </p:spTree>
    <p:extLst>
      <p:ext uri="{BB962C8B-B14F-4D97-AF65-F5344CB8AC3E}">
        <p14:creationId xmlns:p14="http://schemas.microsoft.com/office/powerpoint/2010/main" val="320075017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339717"/>
          </a:xfrm>
        </p:spPr>
        <p:txBody>
          <a:bodyPr>
            <a:normAutofit fontScale="90000"/>
          </a:bodyPr>
          <a:lstStyle/>
          <a:p>
            <a:endParaRPr lang="en-IN" dirty="0"/>
          </a:p>
        </p:txBody>
      </p:sp>
      <p:sp>
        <p:nvSpPr>
          <p:cNvPr id="3" name="Content Placeholder 2"/>
          <p:cNvSpPr>
            <a:spLocks noGrp="1"/>
          </p:cNvSpPr>
          <p:nvPr>
            <p:ph idx="1"/>
          </p:nvPr>
        </p:nvSpPr>
        <p:spPr>
          <a:xfrm>
            <a:off x="1005017" y="1392195"/>
            <a:ext cx="10499596" cy="4519027"/>
          </a:xfrm>
        </p:spPr>
        <p:txBody>
          <a:bodyPr>
            <a:normAutofit/>
          </a:bodyPr>
          <a:lstStyle/>
          <a:p>
            <a:pPr algn="just"/>
            <a:r>
              <a:rPr lang="en-US" sz="2000" dirty="0"/>
              <a:t>The histogram analysis algorithm can be applied recursively to each partition in order to automatically generate a multilevel concept hierarchy, with the procedure terminating once a pre-speciﬁed number of concept levels has been reached.</a:t>
            </a:r>
          </a:p>
          <a:p>
            <a:pPr algn="just"/>
            <a:r>
              <a:rPr lang="en-US" sz="2000" dirty="0"/>
              <a:t>A minimum interval size can also be used per level to control the recursive procedure. </a:t>
            </a:r>
          </a:p>
          <a:p>
            <a:pPr algn="just"/>
            <a:r>
              <a:rPr lang="en-US" sz="2000" dirty="0"/>
              <a:t>This speciﬁes the minimum width of a partition, or the minimum number of values for each partition at each level. </a:t>
            </a:r>
          </a:p>
          <a:p>
            <a:pPr algn="just"/>
            <a:r>
              <a:rPr lang="en-US" sz="2000" dirty="0"/>
              <a:t>Histograms can also be partitioned based on cluster analysis of the data distribution.</a:t>
            </a:r>
            <a:endParaRPr lang="en-IN" sz="2000" dirty="0"/>
          </a:p>
          <a:p>
            <a:endParaRPr lang="en-IN" sz="2000" dirty="0"/>
          </a:p>
        </p:txBody>
      </p:sp>
      <p:sp>
        <p:nvSpPr>
          <p:cNvPr id="4" name="Date Placeholder 3"/>
          <p:cNvSpPr>
            <a:spLocks noGrp="1"/>
          </p:cNvSpPr>
          <p:nvPr>
            <p:ph type="dt" sz="half" idx="10"/>
          </p:nvPr>
        </p:nvSpPr>
        <p:spPr/>
        <p:txBody>
          <a:bodyPr/>
          <a:lstStyle/>
          <a:p>
            <a:fld id="{E4C93EEE-D9EF-405B-B243-0BB37BF794C7}" type="datetime1">
              <a:rPr lang="en-US" smtClean="0"/>
              <a:t>8/5/2025</a:t>
            </a:fld>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107</a:t>
            </a:fld>
            <a:endParaRPr lang="en-US"/>
          </a:p>
        </p:txBody>
      </p:sp>
    </p:spTree>
    <p:extLst>
      <p:ext uri="{BB962C8B-B14F-4D97-AF65-F5344CB8AC3E}">
        <p14:creationId xmlns:p14="http://schemas.microsoft.com/office/powerpoint/2010/main" val="54430115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E60A8-44EB-42D6-AD2A-E0FA22AD42C9}"/>
              </a:ext>
            </a:extLst>
          </p:cNvPr>
          <p:cNvSpPr>
            <a:spLocks noGrp="1"/>
          </p:cNvSpPr>
          <p:nvPr>
            <p:ph type="title"/>
          </p:nvPr>
        </p:nvSpPr>
        <p:spPr>
          <a:xfrm>
            <a:off x="2592925" y="624110"/>
            <a:ext cx="8911687" cy="322668"/>
          </a:xfrm>
        </p:spPr>
        <p:txBody>
          <a:bodyPr>
            <a:normAutofit fontScale="90000"/>
          </a:bodyPr>
          <a:lstStyle/>
          <a:p>
            <a:endParaRPr lang="en-US" dirty="0"/>
          </a:p>
        </p:txBody>
      </p:sp>
      <p:sp>
        <p:nvSpPr>
          <p:cNvPr id="4" name="Date Placeholder 3">
            <a:extLst>
              <a:ext uri="{FF2B5EF4-FFF2-40B4-BE49-F238E27FC236}">
                <a16:creationId xmlns:a16="http://schemas.microsoft.com/office/drawing/2014/main" id="{320E5FB6-D0D4-4B4F-B168-091227086035}"/>
              </a:ext>
            </a:extLst>
          </p:cNvPr>
          <p:cNvSpPr>
            <a:spLocks noGrp="1"/>
          </p:cNvSpPr>
          <p:nvPr>
            <p:ph type="dt" sz="half" idx="10"/>
          </p:nvPr>
        </p:nvSpPr>
        <p:spPr/>
        <p:txBody>
          <a:bodyPr/>
          <a:lstStyle/>
          <a:p>
            <a:fld id="{E4C93EEE-D9EF-405B-B243-0BB37BF794C7}" type="datetime1">
              <a:rPr lang="en-US" smtClean="0"/>
              <a:t>8/5/2025</a:t>
            </a:fld>
            <a:endParaRPr lang="en-US"/>
          </a:p>
        </p:txBody>
      </p:sp>
      <p:sp>
        <p:nvSpPr>
          <p:cNvPr id="5" name="Slide Number Placeholder 4">
            <a:extLst>
              <a:ext uri="{FF2B5EF4-FFF2-40B4-BE49-F238E27FC236}">
                <a16:creationId xmlns:a16="http://schemas.microsoft.com/office/drawing/2014/main" id="{BCB19DEA-067A-48E7-8663-75ADFB420D58}"/>
              </a:ext>
            </a:extLst>
          </p:cNvPr>
          <p:cNvSpPr>
            <a:spLocks noGrp="1"/>
          </p:cNvSpPr>
          <p:nvPr>
            <p:ph type="sldNum" sz="quarter" idx="12"/>
          </p:nvPr>
        </p:nvSpPr>
        <p:spPr/>
        <p:txBody>
          <a:bodyPr/>
          <a:lstStyle/>
          <a:p>
            <a:fld id="{330EA680-D336-4FF7-8B7A-9848BB0A1C32}" type="slidenum">
              <a:rPr lang="en-US" smtClean="0"/>
              <a:t>108</a:t>
            </a:fld>
            <a:endParaRPr lang="en-US"/>
          </a:p>
        </p:txBody>
      </p:sp>
      <p:sp>
        <p:nvSpPr>
          <p:cNvPr id="7" name="Content Placeholder 6">
            <a:extLst>
              <a:ext uri="{FF2B5EF4-FFF2-40B4-BE49-F238E27FC236}">
                <a16:creationId xmlns:a16="http://schemas.microsoft.com/office/drawing/2014/main" id="{CA3E7D67-09D4-4AE8-BBE6-0910E638930F}"/>
              </a:ext>
            </a:extLst>
          </p:cNvPr>
          <p:cNvSpPr>
            <a:spLocks noGrp="1"/>
          </p:cNvSpPr>
          <p:nvPr>
            <p:ph idx="1"/>
          </p:nvPr>
        </p:nvSpPr>
        <p:spPr>
          <a:xfrm>
            <a:off x="1154243" y="1152907"/>
            <a:ext cx="10350369" cy="4758315"/>
          </a:xfrm>
        </p:spPr>
        <p:txBody>
          <a:bodyPr/>
          <a:lstStyle/>
          <a:p>
            <a:r>
              <a:rPr lang="en-US" sz="2000" dirty="0"/>
              <a:t>Example</a:t>
            </a:r>
          </a:p>
          <a:p>
            <a:endParaRPr lang="en-US" dirty="0"/>
          </a:p>
        </p:txBody>
      </p:sp>
      <p:pic>
        <p:nvPicPr>
          <p:cNvPr id="10" name="Picture 9">
            <a:extLst>
              <a:ext uri="{FF2B5EF4-FFF2-40B4-BE49-F238E27FC236}">
                <a16:creationId xmlns:a16="http://schemas.microsoft.com/office/drawing/2014/main" id="{BEBEBF7E-08A4-4585-BB6B-F01B3615DE5E}"/>
              </a:ext>
            </a:extLst>
          </p:cNvPr>
          <p:cNvPicPr>
            <a:picLocks noChangeAspect="1"/>
          </p:cNvPicPr>
          <p:nvPr/>
        </p:nvPicPr>
        <p:blipFill>
          <a:blip r:embed="rId2"/>
          <a:stretch>
            <a:fillRect/>
          </a:stretch>
        </p:blipFill>
        <p:spPr>
          <a:xfrm>
            <a:off x="1754551" y="1543987"/>
            <a:ext cx="4001672" cy="2418740"/>
          </a:xfrm>
          <a:prstGeom prst="rect">
            <a:avLst/>
          </a:prstGeom>
        </p:spPr>
      </p:pic>
      <p:graphicFrame>
        <p:nvGraphicFramePr>
          <p:cNvPr id="11" name="Table 10">
            <a:extLst>
              <a:ext uri="{FF2B5EF4-FFF2-40B4-BE49-F238E27FC236}">
                <a16:creationId xmlns:a16="http://schemas.microsoft.com/office/drawing/2014/main" id="{A6006EDC-09A7-4254-8D5A-B9953A01D934}"/>
              </a:ext>
            </a:extLst>
          </p:cNvPr>
          <p:cNvGraphicFramePr>
            <a:graphicFrameLocks noGrp="1"/>
          </p:cNvGraphicFramePr>
          <p:nvPr/>
        </p:nvGraphicFramePr>
        <p:xfrm>
          <a:off x="2641600" y="3893820"/>
          <a:ext cx="8810625" cy="365760"/>
        </p:xfrm>
        <a:graphic>
          <a:graphicData uri="http://schemas.openxmlformats.org/drawingml/2006/table">
            <a:tbl>
              <a:tblPr/>
              <a:tblGrid>
                <a:gridCol w="8810625">
                  <a:extLst>
                    <a:ext uri="{9D8B030D-6E8A-4147-A177-3AD203B41FA5}">
                      <a16:colId xmlns:a16="http://schemas.microsoft.com/office/drawing/2014/main" val="477281942"/>
                    </a:ext>
                  </a:extLst>
                </a:gridCol>
              </a:tblGrid>
              <a:tr h="0">
                <a:tc>
                  <a:txBody>
                    <a:bodyPr/>
                    <a:lstStyle/>
                    <a:p>
                      <a:pPr algn="ctr"/>
                      <a:endParaRPr lang="en-US" dirty="0"/>
                    </a:p>
                  </a:txBody>
                  <a:tcPr anchor="ctr">
                    <a:lnL>
                      <a:noFill/>
                    </a:lnL>
                    <a:lnR>
                      <a:noFill/>
                    </a:lnR>
                    <a:lnT>
                      <a:noFill/>
                    </a:lnT>
                    <a:lnB>
                      <a:noFill/>
                    </a:lnB>
                  </a:tcPr>
                </a:tc>
                <a:extLst>
                  <a:ext uri="{0D108BD9-81ED-4DB2-BD59-A6C34878D82A}">
                    <a16:rowId xmlns:a16="http://schemas.microsoft.com/office/drawing/2014/main" val="840850640"/>
                  </a:ext>
                </a:extLst>
              </a:tr>
            </a:tbl>
          </a:graphicData>
        </a:graphic>
      </p:graphicFrame>
      <p:pic>
        <p:nvPicPr>
          <p:cNvPr id="2050" name="Picture 2">
            <a:extLst>
              <a:ext uri="{FF2B5EF4-FFF2-40B4-BE49-F238E27FC236}">
                <a16:creationId xmlns:a16="http://schemas.microsoft.com/office/drawing/2014/main" id="{8DECD2F0-FB27-465A-AFEE-925C91ED8C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4551" y="4006059"/>
            <a:ext cx="8933435" cy="2524125"/>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3">
            <a:extLst>
              <a:ext uri="{FF2B5EF4-FFF2-40B4-BE49-F238E27FC236}">
                <a16:creationId xmlns:a16="http://schemas.microsoft.com/office/drawing/2014/main" id="{D0712997-FE54-4F0E-AD4A-3FA0577105C2}"/>
              </a:ext>
            </a:extLst>
          </p:cNvPr>
          <p:cNvSpPr>
            <a:spLocks noChangeArrowheads="1"/>
          </p:cNvSpPr>
          <p:nvPr/>
        </p:nvSpPr>
        <p:spPr bwMode="auto">
          <a:xfrm>
            <a:off x="2641600" y="389413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6151700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356193"/>
          </a:xfrm>
        </p:spPr>
        <p:txBody>
          <a:bodyPr>
            <a:normAutofit fontScale="90000"/>
          </a:bodyPr>
          <a:lstStyle/>
          <a:p>
            <a:endParaRPr lang="en-IN" dirty="0"/>
          </a:p>
        </p:txBody>
      </p:sp>
      <p:sp>
        <p:nvSpPr>
          <p:cNvPr id="3" name="Content Placeholder 2"/>
          <p:cNvSpPr>
            <a:spLocks noGrp="1"/>
          </p:cNvSpPr>
          <p:nvPr>
            <p:ph idx="1"/>
          </p:nvPr>
        </p:nvSpPr>
        <p:spPr>
          <a:xfrm>
            <a:off x="1194486" y="1378634"/>
            <a:ext cx="10310126" cy="4532588"/>
          </a:xfrm>
        </p:spPr>
        <p:txBody>
          <a:bodyPr>
            <a:normAutofit/>
          </a:bodyPr>
          <a:lstStyle/>
          <a:p>
            <a:pPr algn="just"/>
            <a:r>
              <a:rPr lang="en-US" sz="2000" b="1" dirty="0"/>
              <a:t>Discretization by Cluster, Decision Tree, and Correlation Analyses </a:t>
            </a:r>
          </a:p>
          <a:p>
            <a:pPr algn="just"/>
            <a:r>
              <a:rPr lang="en-US" sz="2000" dirty="0"/>
              <a:t>Clustering, decision tree analysis, and correlation analysis can be used for data discretization. </a:t>
            </a:r>
          </a:p>
          <a:p>
            <a:pPr algn="just"/>
            <a:r>
              <a:rPr lang="en-US" sz="2000" dirty="0"/>
              <a:t>Cluster analysis is a popular data discretization method. </a:t>
            </a:r>
          </a:p>
          <a:p>
            <a:pPr algn="just"/>
            <a:r>
              <a:rPr lang="en-US" sz="2000" dirty="0"/>
              <a:t>A clustering algorithm can be applied to discretize a numeric attribute, A, by partitioning the values of A into clusters or groups. </a:t>
            </a:r>
          </a:p>
          <a:p>
            <a:pPr algn="just"/>
            <a:r>
              <a:rPr lang="en-US" sz="2000" dirty="0"/>
              <a:t>Clustering takes the distribution of A into consideration, as well as the closeness of data points, and therefore is able to produce high-quality discretization results.</a:t>
            </a:r>
          </a:p>
        </p:txBody>
      </p:sp>
      <p:sp>
        <p:nvSpPr>
          <p:cNvPr id="4" name="Date Placeholder 3"/>
          <p:cNvSpPr>
            <a:spLocks noGrp="1"/>
          </p:cNvSpPr>
          <p:nvPr>
            <p:ph type="dt" sz="half" idx="10"/>
          </p:nvPr>
        </p:nvSpPr>
        <p:spPr/>
        <p:txBody>
          <a:bodyPr/>
          <a:lstStyle/>
          <a:p>
            <a:fld id="{E4C93EEE-D9EF-405B-B243-0BB37BF794C7}" type="datetime1">
              <a:rPr lang="en-US" smtClean="0"/>
              <a:t>8/5/2025</a:t>
            </a:fld>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109</a:t>
            </a:fld>
            <a:endParaRPr lang="en-US"/>
          </a:p>
        </p:txBody>
      </p:sp>
    </p:spTree>
    <p:extLst>
      <p:ext uri="{BB962C8B-B14F-4D97-AF65-F5344CB8AC3E}">
        <p14:creationId xmlns:p14="http://schemas.microsoft.com/office/powerpoint/2010/main" val="279363848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380906"/>
          </a:xfrm>
        </p:spPr>
        <p:txBody>
          <a:bodyPr>
            <a:normAutofit fontScale="90000"/>
          </a:bodyPr>
          <a:lstStyle/>
          <a:p>
            <a:endParaRPr lang="en-IN" dirty="0"/>
          </a:p>
        </p:txBody>
      </p:sp>
      <p:sp>
        <p:nvSpPr>
          <p:cNvPr id="3" name="Content Placeholder 2"/>
          <p:cNvSpPr>
            <a:spLocks noGrp="1"/>
          </p:cNvSpPr>
          <p:nvPr>
            <p:ph idx="1"/>
          </p:nvPr>
        </p:nvSpPr>
        <p:spPr>
          <a:xfrm>
            <a:off x="996778" y="1458097"/>
            <a:ext cx="10507834" cy="4453125"/>
          </a:xfrm>
        </p:spPr>
        <p:txBody>
          <a:bodyPr>
            <a:normAutofit/>
          </a:bodyPr>
          <a:lstStyle/>
          <a:p>
            <a:pPr algn="just"/>
            <a:r>
              <a:rPr lang="en-US" sz="2000" dirty="0"/>
              <a:t>Techniques to generate decision trees for classiﬁcation  can be applied to discretization.</a:t>
            </a:r>
          </a:p>
          <a:p>
            <a:pPr algn="just"/>
            <a:r>
              <a:rPr lang="en-US" sz="2000" dirty="0"/>
              <a:t> Such techniques employ a top-down splitting approach. </a:t>
            </a:r>
          </a:p>
          <a:p>
            <a:pPr algn="just"/>
            <a:r>
              <a:rPr lang="en-US" sz="2000" dirty="0"/>
              <a:t>Decision tree approaches to discretization are supervised, that is, they make use of class label information. </a:t>
            </a:r>
          </a:p>
          <a:p>
            <a:pPr algn="just"/>
            <a:r>
              <a:rPr lang="en-US" sz="2000" dirty="0"/>
              <a:t>For example, we may have a data set of patient symptoms (the attributes) where each patient has an associated diagnosis class label. </a:t>
            </a:r>
          </a:p>
          <a:p>
            <a:pPr algn="just"/>
            <a:r>
              <a:rPr lang="en-US" sz="2000" dirty="0"/>
              <a:t>Class distribution information is used in the calculation and determination of split-points (data values for partitioning an attribute range). </a:t>
            </a:r>
          </a:p>
          <a:p>
            <a:pPr algn="just"/>
            <a:r>
              <a:rPr lang="en-US" sz="2000" dirty="0"/>
              <a:t>Because decision tree–based discretization uses class information, it is more likely that the interval boundaries (split-points) are deﬁned to occur in places that may help improve classiﬁcation accuracy.</a:t>
            </a:r>
          </a:p>
          <a:p>
            <a:pPr algn="just"/>
            <a:endParaRPr lang="en-US" sz="2000" dirty="0"/>
          </a:p>
        </p:txBody>
      </p:sp>
      <p:sp>
        <p:nvSpPr>
          <p:cNvPr id="4" name="Date Placeholder 3"/>
          <p:cNvSpPr>
            <a:spLocks noGrp="1"/>
          </p:cNvSpPr>
          <p:nvPr>
            <p:ph type="dt" sz="half" idx="10"/>
          </p:nvPr>
        </p:nvSpPr>
        <p:spPr/>
        <p:txBody>
          <a:bodyPr/>
          <a:lstStyle/>
          <a:p>
            <a:fld id="{E4C93EEE-D9EF-405B-B243-0BB37BF794C7}" type="datetime1">
              <a:rPr lang="en-US" smtClean="0"/>
              <a:t>8/5/2025</a:t>
            </a:fld>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110</a:t>
            </a:fld>
            <a:endParaRPr lang="en-US"/>
          </a:p>
        </p:txBody>
      </p:sp>
    </p:spTree>
    <p:extLst>
      <p:ext uri="{BB962C8B-B14F-4D97-AF65-F5344CB8AC3E}">
        <p14:creationId xmlns:p14="http://schemas.microsoft.com/office/powerpoint/2010/main" val="356256625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364431"/>
          </a:xfrm>
        </p:spPr>
        <p:txBody>
          <a:bodyPr>
            <a:normAutofit fontScale="90000"/>
          </a:bodyPr>
          <a:lstStyle/>
          <a:p>
            <a:endParaRPr lang="en-IN" dirty="0"/>
          </a:p>
        </p:txBody>
      </p:sp>
      <p:sp>
        <p:nvSpPr>
          <p:cNvPr id="3" name="Content Placeholder 2"/>
          <p:cNvSpPr>
            <a:spLocks noGrp="1"/>
          </p:cNvSpPr>
          <p:nvPr>
            <p:ph idx="1"/>
          </p:nvPr>
        </p:nvSpPr>
        <p:spPr>
          <a:xfrm>
            <a:off x="1103870" y="1433384"/>
            <a:ext cx="10400742" cy="4477838"/>
          </a:xfrm>
        </p:spPr>
        <p:txBody>
          <a:bodyPr>
            <a:normAutofit/>
          </a:bodyPr>
          <a:lstStyle/>
          <a:p>
            <a:pPr algn="just"/>
            <a:r>
              <a:rPr lang="en-US" sz="2000" dirty="0"/>
              <a:t>Measures of correlation can be used for discretization. </a:t>
            </a:r>
          </a:p>
          <a:p>
            <a:pPr algn="just"/>
            <a:r>
              <a:rPr lang="en-US" sz="2000" dirty="0" err="1"/>
              <a:t>ChiMerge</a:t>
            </a:r>
            <a:r>
              <a:rPr lang="en-US" sz="2000" dirty="0"/>
              <a:t> is a χ2-based discretization method. </a:t>
            </a:r>
          </a:p>
          <a:p>
            <a:pPr algn="just"/>
            <a:r>
              <a:rPr lang="en-US" sz="2000" dirty="0" err="1"/>
              <a:t>ChiMerge</a:t>
            </a:r>
            <a:r>
              <a:rPr lang="en-US" sz="2000" dirty="0"/>
              <a:t>, employs a bottom-up approach by ﬁnding the best neighboring intervals and then merging them to form larger intervals, recursively. </a:t>
            </a:r>
          </a:p>
          <a:p>
            <a:endParaRPr lang="en-IN" dirty="0"/>
          </a:p>
        </p:txBody>
      </p:sp>
      <p:sp>
        <p:nvSpPr>
          <p:cNvPr id="4" name="Date Placeholder 3"/>
          <p:cNvSpPr>
            <a:spLocks noGrp="1"/>
          </p:cNvSpPr>
          <p:nvPr>
            <p:ph type="dt" sz="half" idx="10"/>
          </p:nvPr>
        </p:nvSpPr>
        <p:spPr/>
        <p:txBody>
          <a:bodyPr/>
          <a:lstStyle/>
          <a:p>
            <a:fld id="{E4C93EEE-D9EF-405B-B243-0BB37BF794C7}" type="datetime1">
              <a:rPr lang="en-US" smtClean="0"/>
              <a:t>8/5/2025</a:t>
            </a:fld>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111</a:t>
            </a:fld>
            <a:endParaRPr lang="en-US"/>
          </a:p>
        </p:txBody>
      </p:sp>
    </p:spTree>
    <p:extLst>
      <p:ext uri="{BB962C8B-B14F-4D97-AF65-F5344CB8AC3E}">
        <p14:creationId xmlns:p14="http://schemas.microsoft.com/office/powerpoint/2010/main" val="125461943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298528"/>
          </a:xfrm>
        </p:spPr>
        <p:txBody>
          <a:bodyPr>
            <a:normAutofit fontScale="90000"/>
          </a:bodyPr>
          <a:lstStyle/>
          <a:p>
            <a:endParaRPr lang="en-IN" dirty="0"/>
          </a:p>
        </p:txBody>
      </p:sp>
      <p:sp>
        <p:nvSpPr>
          <p:cNvPr id="3" name="Content Placeholder 2"/>
          <p:cNvSpPr>
            <a:spLocks noGrp="1"/>
          </p:cNvSpPr>
          <p:nvPr>
            <p:ph idx="1"/>
          </p:nvPr>
        </p:nvSpPr>
        <p:spPr>
          <a:xfrm>
            <a:off x="1311579" y="1308295"/>
            <a:ext cx="10193033" cy="4822142"/>
          </a:xfrm>
        </p:spPr>
        <p:txBody>
          <a:bodyPr>
            <a:normAutofit/>
          </a:bodyPr>
          <a:lstStyle/>
          <a:p>
            <a:pPr algn="just"/>
            <a:r>
              <a:rPr lang="en-US" sz="2000" b="1" dirty="0"/>
              <a:t>Concept Hierarchy Generation for Nominal Data </a:t>
            </a:r>
          </a:p>
          <a:p>
            <a:pPr algn="just"/>
            <a:r>
              <a:rPr lang="en-US" sz="2000" dirty="0"/>
              <a:t>Nominal attributes have a ﬁnite (but possibly large) number of distinct values, with no ordering among the values.</a:t>
            </a:r>
          </a:p>
          <a:p>
            <a:pPr algn="just"/>
            <a:r>
              <a:rPr lang="en-US" sz="2000" dirty="0"/>
              <a:t> Examples include geographic location, job category, and item type. </a:t>
            </a:r>
          </a:p>
          <a:p>
            <a:pPr algn="just"/>
            <a:r>
              <a:rPr lang="en-US" sz="2000" dirty="0"/>
              <a:t>Manual deﬁnition of concept hierarchies can be a tedious and time-consuming task for a user or a domain expert. </a:t>
            </a:r>
          </a:p>
          <a:p>
            <a:pPr algn="just"/>
            <a:r>
              <a:rPr lang="en-US" sz="2000" dirty="0"/>
              <a:t>Fortunately, many hierarchies are implicit within the database schema and can be automatically deﬁned at the schema deﬁnition level. </a:t>
            </a:r>
          </a:p>
          <a:p>
            <a:pPr algn="just"/>
            <a:r>
              <a:rPr lang="en-US" sz="2000" dirty="0"/>
              <a:t>The concept hierarchies can be used to transform the data into multiple levels of granularity. </a:t>
            </a:r>
          </a:p>
        </p:txBody>
      </p:sp>
      <p:sp>
        <p:nvSpPr>
          <p:cNvPr id="4" name="Date Placeholder 3"/>
          <p:cNvSpPr>
            <a:spLocks noGrp="1"/>
          </p:cNvSpPr>
          <p:nvPr>
            <p:ph type="dt" sz="half" idx="10"/>
          </p:nvPr>
        </p:nvSpPr>
        <p:spPr/>
        <p:txBody>
          <a:bodyPr/>
          <a:lstStyle/>
          <a:p>
            <a:fld id="{E4C93EEE-D9EF-405B-B243-0BB37BF794C7}" type="datetime1">
              <a:rPr lang="en-US" smtClean="0"/>
              <a:t>8/5/2025</a:t>
            </a:fld>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112</a:t>
            </a:fld>
            <a:endParaRPr lang="en-US"/>
          </a:p>
        </p:txBody>
      </p:sp>
    </p:spTree>
    <p:extLst>
      <p:ext uri="{BB962C8B-B14F-4D97-AF65-F5344CB8AC3E}">
        <p14:creationId xmlns:p14="http://schemas.microsoft.com/office/powerpoint/2010/main" val="159171116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298528"/>
          </a:xfrm>
        </p:spPr>
        <p:txBody>
          <a:bodyPr>
            <a:normAutofit fontScale="90000"/>
          </a:bodyPr>
          <a:lstStyle/>
          <a:p>
            <a:endParaRPr lang="en-IN" dirty="0"/>
          </a:p>
        </p:txBody>
      </p:sp>
      <p:sp>
        <p:nvSpPr>
          <p:cNvPr id="3" name="Content Placeholder 2"/>
          <p:cNvSpPr>
            <a:spLocks noGrp="1"/>
          </p:cNvSpPr>
          <p:nvPr>
            <p:ph idx="1"/>
          </p:nvPr>
        </p:nvSpPr>
        <p:spPr>
          <a:xfrm>
            <a:off x="1441622" y="1359243"/>
            <a:ext cx="10062990" cy="4551979"/>
          </a:xfrm>
        </p:spPr>
        <p:txBody>
          <a:bodyPr>
            <a:noAutofit/>
          </a:bodyPr>
          <a:lstStyle/>
          <a:p>
            <a:pPr algn="just"/>
            <a:r>
              <a:rPr lang="en-US" sz="2000" dirty="0"/>
              <a:t>For example, data mining patterns regarding sales may be found relating to speciﬁc regions or countries, in addition to individual branch locations.</a:t>
            </a:r>
            <a:endParaRPr lang="en-IN" sz="2000" dirty="0"/>
          </a:p>
          <a:p>
            <a:pPr algn="just"/>
            <a:r>
              <a:rPr lang="en-US" sz="2000" dirty="0"/>
              <a:t>We study four methods for the generation of concept hierarchies for nominal data, as follows.</a:t>
            </a:r>
          </a:p>
          <a:p>
            <a:pPr algn="just">
              <a:buFont typeface="+mj-lt"/>
              <a:buAutoNum type="arabicPeriod"/>
            </a:pPr>
            <a:r>
              <a:rPr lang="en-US" sz="2000" b="1" dirty="0"/>
              <a:t>Speciﬁcation of a partial ordering of attributes explicitly at the schema level by users or experts: </a:t>
            </a:r>
            <a:r>
              <a:rPr lang="en-US" sz="2000" dirty="0"/>
              <a:t>Concept hierarchies for nominal attributes or dimensions typically involve a group of attributes. A user or expert can easily deﬁne a concept hierarchy by specifying a partial or total ordering of the attributes at the schema level. For example, suppose that a relational database contains the following group of attributes: street, city, province or state, and country. Similarly, a data warehouse location dimension may contain the same attributes. A hierarchy can be deﬁned by specifying the total ordering among these attributes at the schema level such as street &lt; city &lt; province or state &lt; country.</a:t>
            </a:r>
            <a:endParaRPr lang="en-IN" sz="2000" dirty="0"/>
          </a:p>
        </p:txBody>
      </p:sp>
      <p:sp>
        <p:nvSpPr>
          <p:cNvPr id="4" name="Date Placeholder 3"/>
          <p:cNvSpPr>
            <a:spLocks noGrp="1"/>
          </p:cNvSpPr>
          <p:nvPr>
            <p:ph type="dt" sz="half" idx="10"/>
          </p:nvPr>
        </p:nvSpPr>
        <p:spPr/>
        <p:txBody>
          <a:bodyPr/>
          <a:lstStyle/>
          <a:p>
            <a:fld id="{E4C93EEE-D9EF-405B-B243-0BB37BF794C7}" type="datetime1">
              <a:rPr lang="en-US" smtClean="0"/>
              <a:t>8/5/2025</a:t>
            </a:fld>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113</a:t>
            </a:fld>
            <a:endParaRPr lang="en-US"/>
          </a:p>
        </p:txBody>
      </p:sp>
    </p:spTree>
    <p:extLst>
      <p:ext uri="{BB962C8B-B14F-4D97-AF65-F5344CB8AC3E}">
        <p14:creationId xmlns:p14="http://schemas.microsoft.com/office/powerpoint/2010/main" val="780555480"/>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356193"/>
          </a:xfrm>
        </p:spPr>
        <p:txBody>
          <a:bodyPr>
            <a:normAutofit fontScale="90000"/>
          </a:bodyPr>
          <a:lstStyle/>
          <a:p>
            <a:endParaRPr lang="en-IN" dirty="0"/>
          </a:p>
        </p:txBody>
      </p:sp>
      <p:sp>
        <p:nvSpPr>
          <p:cNvPr id="3" name="Content Placeholder 2"/>
          <p:cNvSpPr>
            <a:spLocks noGrp="1"/>
          </p:cNvSpPr>
          <p:nvPr>
            <p:ph idx="1"/>
          </p:nvPr>
        </p:nvSpPr>
        <p:spPr>
          <a:xfrm>
            <a:off x="914400" y="1433384"/>
            <a:ext cx="10590212" cy="4477838"/>
          </a:xfrm>
        </p:spPr>
        <p:txBody>
          <a:bodyPr>
            <a:normAutofit/>
          </a:bodyPr>
          <a:lstStyle/>
          <a:p>
            <a:pPr algn="just">
              <a:buFont typeface="+mj-lt"/>
              <a:buAutoNum type="arabicPeriod" startAt="2"/>
            </a:pPr>
            <a:r>
              <a:rPr lang="en-US" sz="2000" b="1" dirty="0"/>
              <a:t>Speciﬁcation of a portion of a hierarchy by explicit data grouping: </a:t>
            </a:r>
            <a:r>
              <a:rPr lang="en-US" sz="2000" dirty="0"/>
              <a:t>This is essentially the manual deﬁnition of a portion of a concept hierarchy. In a large database, it is unrealistic to deﬁne an entire concept hierarchy by explicit value enumeration. On the contrary, we can easily specify explicit groupings for a small portion of intermediate-level data. For example, after specifying that province and country form a hierarchy at the schema level, a user could deﬁne some intermediate levels manually, such as “{Alberta, Saskatchewan, Manitoba} ⊂ prairies Canada” and “{British Columbia, prairies Canada}⊂Western Canada.” </a:t>
            </a:r>
          </a:p>
          <a:p>
            <a:pPr algn="just">
              <a:buFont typeface="+mj-lt"/>
              <a:buAutoNum type="arabicPeriod" startAt="2"/>
            </a:pPr>
            <a:r>
              <a:rPr lang="en-US" sz="2000" b="1" dirty="0"/>
              <a:t>Speciﬁcation of a set of attributes, but not of their partial ordering:</a:t>
            </a:r>
            <a:r>
              <a:rPr lang="en-US" sz="2000" dirty="0"/>
              <a:t> A user may specify a set of attributes forming a concept hierarchy, but omit to explicitly state their partial ordering. The system can then try to automatically generate the attribute ordering so as to construct a meaningful concept hierarchy. </a:t>
            </a:r>
            <a:endParaRPr lang="en-IN" sz="2000" dirty="0"/>
          </a:p>
        </p:txBody>
      </p:sp>
      <p:sp>
        <p:nvSpPr>
          <p:cNvPr id="4" name="Date Placeholder 3"/>
          <p:cNvSpPr>
            <a:spLocks noGrp="1"/>
          </p:cNvSpPr>
          <p:nvPr>
            <p:ph type="dt" sz="half" idx="10"/>
          </p:nvPr>
        </p:nvSpPr>
        <p:spPr/>
        <p:txBody>
          <a:bodyPr/>
          <a:lstStyle/>
          <a:p>
            <a:fld id="{E4C93EEE-D9EF-405B-B243-0BB37BF794C7}" type="datetime1">
              <a:rPr lang="en-US" smtClean="0"/>
              <a:t>8/5/2025</a:t>
            </a:fld>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114</a:t>
            </a:fld>
            <a:endParaRPr lang="en-US"/>
          </a:p>
        </p:txBody>
      </p:sp>
    </p:spTree>
    <p:extLst>
      <p:ext uri="{BB962C8B-B14F-4D97-AF65-F5344CB8AC3E}">
        <p14:creationId xmlns:p14="http://schemas.microsoft.com/office/powerpoint/2010/main" val="356385482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265576"/>
          </a:xfrm>
        </p:spPr>
        <p:txBody>
          <a:bodyPr>
            <a:normAutofit fontScale="90000"/>
          </a:bodyPr>
          <a:lstStyle/>
          <a:p>
            <a:endParaRPr lang="en-IN" dirty="0"/>
          </a:p>
        </p:txBody>
      </p:sp>
      <p:sp>
        <p:nvSpPr>
          <p:cNvPr id="3" name="Content Placeholder 2"/>
          <p:cNvSpPr>
            <a:spLocks noGrp="1"/>
          </p:cNvSpPr>
          <p:nvPr>
            <p:ph idx="1"/>
          </p:nvPr>
        </p:nvSpPr>
        <p:spPr>
          <a:xfrm>
            <a:off x="1062681" y="1301578"/>
            <a:ext cx="10441931" cy="4609644"/>
          </a:xfrm>
        </p:spPr>
        <p:txBody>
          <a:bodyPr>
            <a:normAutofit/>
          </a:bodyPr>
          <a:lstStyle/>
          <a:p>
            <a:pPr algn="just">
              <a:buFont typeface="+mj-lt"/>
              <a:buAutoNum type="arabicPeriod" startAt="4"/>
            </a:pPr>
            <a:r>
              <a:rPr lang="en-US" sz="2000" b="1" dirty="0"/>
              <a:t>Speciﬁcation of only a partial set of attributes</a:t>
            </a:r>
            <a:r>
              <a:rPr lang="en-US" sz="2000" dirty="0"/>
              <a:t>: Sometimes a user can be careless when deﬁning a hierarchy, or have only a vague idea about what should be included in a hierarchy. Consequently, the user may have included only a small subset of the relevant attributes in the hierarchy speciﬁcation. For example, instead of including all of the hierarchically relevant attributes for location, the user may have speciﬁed only street and city. To handle such partially speciﬁed hierarchies, it is important to embed data semantics in the database schema so that attributes with tight semantic connections can be pinned together. In this way, the speciﬁcation of one attribute may trigger a whole group of semantically tightly linked attributes to be “dragged in” to form a complete hierarchy. Users, however, should have the option to override this feature, as necessary. </a:t>
            </a:r>
            <a:endParaRPr lang="en-IN" sz="2000" dirty="0"/>
          </a:p>
        </p:txBody>
      </p:sp>
      <p:sp>
        <p:nvSpPr>
          <p:cNvPr id="4" name="Date Placeholder 3"/>
          <p:cNvSpPr>
            <a:spLocks noGrp="1"/>
          </p:cNvSpPr>
          <p:nvPr>
            <p:ph type="dt" sz="half" idx="10"/>
          </p:nvPr>
        </p:nvSpPr>
        <p:spPr/>
        <p:txBody>
          <a:bodyPr/>
          <a:lstStyle/>
          <a:p>
            <a:fld id="{E4C93EEE-D9EF-405B-B243-0BB37BF794C7}" type="datetime1">
              <a:rPr lang="en-US" smtClean="0"/>
              <a:t>8/5/2025</a:t>
            </a:fld>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115</a:t>
            </a:fld>
            <a:endParaRPr lang="en-US"/>
          </a:p>
        </p:txBody>
      </p:sp>
    </p:spTree>
    <p:extLst>
      <p:ext uri="{BB962C8B-B14F-4D97-AF65-F5344CB8AC3E}">
        <p14:creationId xmlns:p14="http://schemas.microsoft.com/office/powerpoint/2010/main" val="358610665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405620"/>
          </a:xfrm>
        </p:spPr>
        <p:txBody>
          <a:bodyPr>
            <a:normAutofit fontScale="90000"/>
          </a:bodyPr>
          <a:lstStyle/>
          <a:p>
            <a:endParaRPr lang="en-IN" dirty="0"/>
          </a:p>
        </p:txBody>
      </p:sp>
      <p:sp>
        <p:nvSpPr>
          <p:cNvPr id="3" name="Content Placeholder 2"/>
          <p:cNvSpPr>
            <a:spLocks noGrp="1"/>
          </p:cNvSpPr>
          <p:nvPr>
            <p:ph idx="1"/>
          </p:nvPr>
        </p:nvSpPr>
        <p:spPr>
          <a:xfrm>
            <a:off x="1311579" y="1029731"/>
            <a:ext cx="10193033" cy="4881492"/>
          </a:xfrm>
        </p:spPr>
        <p:txBody>
          <a:bodyPr>
            <a:noAutofit/>
          </a:bodyPr>
          <a:lstStyle/>
          <a:p>
            <a:pPr algn="just"/>
            <a:endParaRPr lang="en-US" sz="2000" dirty="0"/>
          </a:p>
          <a:p>
            <a:pPr algn="just"/>
            <a:r>
              <a:rPr lang="en-US" sz="2000" dirty="0"/>
              <a:t>Example- Concept hierarchy generation using pre-speciﬁed semantic connections. </a:t>
            </a:r>
          </a:p>
          <a:p>
            <a:pPr algn="just"/>
            <a:r>
              <a:rPr lang="en-US" sz="2000" dirty="0"/>
              <a:t>Suppose that a data mining expert has pinned together the ﬁve attributes number, street, city, province or state, and country, because they are closely linked semantically regarding the notion of location. </a:t>
            </a:r>
          </a:p>
          <a:p>
            <a:pPr algn="just"/>
            <a:r>
              <a:rPr lang="en-US" sz="2000" dirty="0"/>
              <a:t>If a user were to specify only the attribute city for a hierarchy deﬁning location, the system can automatically drag in all ﬁve semantically related attributes to form a hierarchy. </a:t>
            </a:r>
          </a:p>
          <a:p>
            <a:pPr algn="just"/>
            <a:r>
              <a:rPr lang="en-US" sz="2000" dirty="0"/>
              <a:t>The user may choose to drop any of these attributes (e.g., number and street) from the hierarchy, keeping city as the lowest conceptual level.</a:t>
            </a:r>
          </a:p>
        </p:txBody>
      </p:sp>
      <p:sp>
        <p:nvSpPr>
          <p:cNvPr id="4" name="Date Placeholder 3"/>
          <p:cNvSpPr>
            <a:spLocks noGrp="1"/>
          </p:cNvSpPr>
          <p:nvPr>
            <p:ph type="dt" sz="half" idx="10"/>
          </p:nvPr>
        </p:nvSpPr>
        <p:spPr/>
        <p:txBody>
          <a:bodyPr/>
          <a:lstStyle/>
          <a:p>
            <a:fld id="{E4C93EEE-D9EF-405B-B243-0BB37BF794C7}" type="datetime1">
              <a:rPr lang="en-US" smtClean="0"/>
              <a:t>8/5/2025</a:t>
            </a:fld>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116</a:t>
            </a:fld>
            <a:endParaRPr lang="en-US"/>
          </a:p>
        </p:txBody>
      </p:sp>
    </p:spTree>
    <p:extLst>
      <p:ext uri="{BB962C8B-B14F-4D97-AF65-F5344CB8AC3E}">
        <p14:creationId xmlns:p14="http://schemas.microsoft.com/office/powerpoint/2010/main" val="114613115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273814"/>
          </a:xfrm>
        </p:spPr>
        <p:txBody>
          <a:bodyPr>
            <a:normAutofit fontScale="90000"/>
          </a:bodyPr>
          <a:lstStyle/>
          <a:p>
            <a:endParaRPr lang="en-IN" dirty="0"/>
          </a:p>
        </p:txBody>
      </p:sp>
      <p:sp>
        <p:nvSpPr>
          <p:cNvPr id="3" name="Content Placeholder 2"/>
          <p:cNvSpPr>
            <a:spLocks noGrp="1"/>
          </p:cNvSpPr>
          <p:nvPr>
            <p:ph idx="1"/>
          </p:nvPr>
        </p:nvSpPr>
        <p:spPr>
          <a:xfrm>
            <a:off x="1556951" y="1392195"/>
            <a:ext cx="9947661" cy="4519027"/>
          </a:xfrm>
        </p:spPr>
        <p:txBody>
          <a:bodyPr/>
          <a:lstStyle/>
          <a:p>
            <a:pPr algn="just"/>
            <a:endParaRPr lang="en-US" dirty="0"/>
          </a:p>
          <a:p>
            <a:pPr algn="just"/>
            <a:r>
              <a:rPr lang="en-US" sz="2000" dirty="0"/>
              <a:t>In summary, information at the schema level and on attribute–value counts can be used to generate concept hierarchies for nominal data. </a:t>
            </a:r>
          </a:p>
          <a:p>
            <a:pPr algn="just"/>
            <a:r>
              <a:rPr lang="en-US" sz="2000" dirty="0"/>
              <a:t>Transforming nominal data with the use of concept hierarchies allows higher-level knowledge patterns to be found. </a:t>
            </a:r>
          </a:p>
          <a:p>
            <a:pPr algn="just"/>
            <a:r>
              <a:rPr lang="en-US" sz="2000" dirty="0"/>
              <a:t>It allows mining at multiple levels of abstraction, which is a common requirement for data mining applications.</a:t>
            </a:r>
            <a:endParaRPr lang="en-IN" sz="2000" dirty="0"/>
          </a:p>
          <a:p>
            <a:endParaRPr lang="en-IN" dirty="0"/>
          </a:p>
        </p:txBody>
      </p:sp>
      <p:sp>
        <p:nvSpPr>
          <p:cNvPr id="4" name="Date Placeholder 3"/>
          <p:cNvSpPr>
            <a:spLocks noGrp="1"/>
          </p:cNvSpPr>
          <p:nvPr>
            <p:ph type="dt" sz="half" idx="10"/>
          </p:nvPr>
        </p:nvSpPr>
        <p:spPr/>
        <p:txBody>
          <a:bodyPr/>
          <a:lstStyle/>
          <a:p>
            <a:fld id="{E4C93EEE-D9EF-405B-B243-0BB37BF794C7}" type="datetime1">
              <a:rPr lang="en-US" smtClean="0"/>
              <a:t>8/5/2025</a:t>
            </a:fld>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117</a:t>
            </a:fld>
            <a:endParaRPr lang="en-US"/>
          </a:p>
        </p:txBody>
      </p:sp>
    </p:spTree>
    <p:extLst>
      <p:ext uri="{BB962C8B-B14F-4D97-AF65-F5344CB8AC3E}">
        <p14:creationId xmlns:p14="http://schemas.microsoft.com/office/powerpoint/2010/main" val="3882347608"/>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2431</TotalTime>
  <Words>11954</Words>
  <Application>Microsoft Office PowerPoint</Application>
  <PresentationFormat>Widescreen</PresentationFormat>
  <Paragraphs>856</Paragraphs>
  <Slides>117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117</vt:i4>
      </vt:variant>
    </vt:vector>
  </HeadingPairs>
  <TitlesOfParts>
    <vt:vector size="125" baseType="lpstr">
      <vt:lpstr>Arial</vt:lpstr>
      <vt:lpstr>Calibri</vt:lpstr>
      <vt:lpstr>Century Gothic</vt:lpstr>
      <vt:lpstr>Times New Roman</vt:lpstr>
      <vt:lpstr>Verdana</vt:lpstr>
      <vt:lpstr>Wingdings</vt:lpstr>
      <vt:lpstr>Wingdings 3</vt:lpstr>
      <vt:lpstr>Wisp</vt:lpstr>
      <vt:lpstr>Data Preprocessing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Umashankar Sharma</dc:creator>
  <cp:lastModifiedBy>U.M.Ramya</cp:lastModifiedBy>
  <cp:revision>553</cp:revision>
  <dcterms:created xsi:type="dcterms:W3CDTF">2020-09-30T13:34:40Z</dcterms:created>
  <dcterms:modified xsi:type="dcterms:W3CDTF">2025-08-05T00:48:00Z</dcterms:modified>
</cp:coreProperties>
</file>